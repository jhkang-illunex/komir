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8"/>
  </p:notesMasterIdLst>
  <p:sldIdLst>
    <p:sldId id="353" r:id="rId2"/>
    <p:sldId id="929" r:id="rId3"/>
    <p:sldId id="901" r:id="rId4"/>
    <p:sldId id="927" r:id="rId5"/>
    <p:sldId id="913" r:id="rId6"/>
    <p:sldId id="930" r:id="rId7"/>
    <p:sldId id="932" r:id="rId8"/>
    <p:sldId id="922" r:id="rId9"/>
    <p:sldId id="933" r:id="rId10"/>
    <p:sldId id="924" r:id="rId11"/>
    <p:sldId id="934" r:id="rId12"/>
    <p:sldId id="931" r:id="rId13"/>
    <p:sldId id="926" r:id="rId14"/>
    <p:sldId id="914" r:id="rId15"/>
    <p:sldId id="915" r:id="rId16"/>
    <p:sldId id="916" r:id="rId17"/>
    <p:sldId id="917" r:id="rId18"/>
    <p:sldId id="918" r:id="rId19"/>
    <p:sldId id="919" r:id="rId20"/>
    <p:sldId id="920" r:id="rId21"/>
    <p:sldId id="921" r:id="rId22"/>
    <p:sldId id="923" r:id="rId23"/>
    <p:sldId id="936" r:id="rId24"/>
    <p:sldId id="935" r:id="rId25"/>
    <p:sldId id="937" r:id="rId26"/>
    <p:sldId id="329" r:id="rId27"/>
    <p:sldId id="331" r:id="rId28"/>
    <p:sldId id="351" r:id="rId29"/>
    <p:sldId id="332" r:id="rId30"/>
    <p:sldId id="342" r:id="rId31"/>
    <p:sldId id="343" r:id="rId32"/>
    <p:sldId id="344" r:id="rId33"/>
    <p:sldId id="341" r:id="rId34"/>
    <p:sldId id="345" r:id="rId35"/>
    <p:sldId id="346" r:id="rId36"/>
    <p:sldId id="333" r:id="rId37"/>
    <p:sldId id="347" r:id="rId38"/>
    <p:sldId id="348" r:id="rId39"/>
    <p:sldId id="334" r:id="rId40"/>
    <p:sldId id="349" r:id="rId41"/>
    <p:sldId id="352" r:id="rId42"/>
    <p:sldId id="335" r:id="rId43"/>
    <p:sldId id="350" r:id="rId44"/>
    <p:sldId id="337" r:id="rId45"/>
    <p:sldId id="338" r:id="rId46"/>
    <p:sldId id="340" r:id="rId4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11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5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23A4B7-2C20-4335-AF57-0BF8E1CD95A0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1F63B4-E9DB-4E76-AE18-BD3269B22E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36202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5995D6D-E2AB-4096-9D93-AC3AFBF2A06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CJK KR Regular" panose="020B0500000000000000" pitchFamily="34" charset="-128"/>
                <a:ea typeface="Noto Sans CJK KR Regular" panose="020B0500000000000000" pitchFamily="34" charset="-128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CJK KR Regular" panose="020B0500000000000000" pitchFamily="34" charset="-128"/>
              <a:ea typeface="Noto Sans CJK KR Regular" panose="020B05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82518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7F67C-8192-2ABC-88BD-8CD799F81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C10F30E-713C-3267-BB5E-DD61C016BF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9D5AEA3-D286-EA3B-E79D-8A5AD2A482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4D4011-BBA5-712A-2E02-A3FB105D7C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5995D6D-E2AB-4096-9D93-AC3AFBF2A06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CJK KR Regular" panose="020B0500000000000000" pitchFamily="34" charset="-128"/>
                <a:ea typeface="Noto Sans CJK KR Regular" panose="020B0500000000000000" pitchFamily="34" charset="-128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CJK KR Regular" panose="020B0500000000000000" pitchFamily="34" charset="-128"/>
              <a:ea typeface="Noto Sans CJK KR Regular" panose="020B05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22276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7F67C-8192-2ABC-88BD-8CD799F81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C10F30E-713C-3267-BB5E-DD61C016BF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9D5AEA3-D286-EA3B-E79D-8A5AD2A482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4D4011-BBA5-712A-2E02-A3FB105D7C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5995D6D-E2AB-4096-9D93-AC3AFBF2A06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CJK KR Regular" panose="020B0500000000000000" pitchFamily="34" charset="-128"/>
                <a:ea typeface="Noto Sans CJK KR Regular" panose="020B0500000000000000" pitchFamily="34" charset="-128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CJK KR Regular" panose="020B0500000000000000" pitchFamily="34" charset="-128"/>
              <a:ea typeface="Noto Sans CJK KR Regular" panose="020B05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33182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7F67C-8192-2ABC-88BD-8CD799F81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C10F30E-713C-3267-BB5E-DD61C016BF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9D5AEA3-D286-EA3B-E79D-8A5AD2A482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4D4011-BBA5-712A-2E02-A3FB105D7C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5995D6D-E2AB-4096-9D93-AC3AFBF2A06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CJK KR Regular" panose="020B0500000000000000" pitchFamily="34" charset="-128"/>
                <a:ea typeface="Noto Sans CJK KR Regular" panose="020B0500000000000000" pitchFamily="34" charset="-128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CJK KR Regular" panose="020B0500000000000000" pitchFamily="34" charset="-128"/>
              <a:ea typeface="Noto Sans CJK KR Regular" panose="020B05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33889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7F67C-8192-2ABC-88BD-8CD799F81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C10F30E-713C-3267-BB5E-DD61C016BF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9D5AEA3-D286-EA3B-E79D-8A5AD2A482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4D4011-BBA5-712A-2E02-A3FB105D7C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5995D6D-E2AB-4096-9D93-AC3AFBF2A06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CJK KR Regular" panose="020B0500000000000000" pitchFamily="34" charset="-128"/>
                <a:ea typeface="Noto Sans CJK KR Regular" panose="020B0500000000000000" pitchFamily="34" charset="-128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CJK KR Regular" panose="020B0500000000000000" pitchFamily="34" charset="-128"/>
              <a:ea typeface="Noto Sans CJK KR Regular" panose="020B05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68902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7F67C-8192-2ABC-88BD-8CD799F81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C10F30E-713C-3267-BB5E-DD61C016BF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9D5AEA3-D286-EA3B-E79D-8A5AD2A482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4D4011-BBA5-712A-2E02-A3FB105D7C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5995D6D-E2AB-4096-9D93-AC3AFBF2A06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CJK KR Regular" panose="020B0500000000000000" pitchFamily="34" charset="-128"/>
                <a:ea typeface="Noto Sans CJK KR Regular" panose="020B0500000000000000" pitchFamily="34" charset="-128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CJK KR Regular" panose="020B0500000000000000" pitchFamily="34" charset="-128"/>
              <a:ea typeface="Noto Sans CJK KR Regular" panose="020B05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326081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7F67C-8192-2ABC-88BD-8CD799F81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C10F30E-713C-3267-BB5E-DD61C016BF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9D5AEA3-D286-EA3B-E79D-8A5AD2A482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4D4011-BBA5-712A-2E02-A3FB105D7C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5995D6D-E2AB-4096-9D93-AC3AFBF2A06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CJK KR Regular" panose="020B0500000000000000" pitchFamily="34" charset="-128"/>
                <a:ea typeface="Noto Sans CJK KR Regular" panose="020B0500000000000000" pitchFamily="34" charset="-128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CJK KR Regular" panose="020B0500000000000000" pitchFamily="34" charset="-128"/>
              <a:ea typeface="Noto Sans CJK KR Regular" panose="020B05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75437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7F67C-8192-2ABC-88BD-8CD799F81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C10F30E-713C-3267-BB5E-DD61C016BF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9D5AEA3-D286-EA3B-E79D-8A5AD2A482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4D4011-BBA5-712A-2E02-A3FB105D7C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5995D6D-E2AB-4096-9D93-AC3AFBF2A06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CJK KR Regular" panose="020B0500000000000000" pitchFamily="34" charset="-128"/>
                <a:ea typeface="Noto Sans CJK KR Regular" panose="020B0500000000000000" pitchFamily="34" charset="-128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CJK KR Regular" panose="020B0500000000000000" pitchFamily="34" charset="-128"/>
              <a:ea typeface="Noto Sans CJK KR Regular" panose="020B05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69833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7F67C-8192-2ABC-88BD-8CD799F81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C10F30E-713C-3267-BB5E-DD61C016BF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9D5AEA3-D286-EA3B-E79D-8A5AD2A482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4D4011-BBA5-712A-2E02-A3FB105D7C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5995D6D-E2AB-4096-9D93-AC3AFBF2A06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CJK KR Regular" panose="020B0500000000000000" pitchFamily="34" charset="-128"/>
                <a:ea typeface="Noto Sans CJK KR Regular" panose="020B0500000000000000" pitchFamily="34" charset="-128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CJK KR Regular" panose="020B0500000000000000" pitchFamily="34" charset="-128"/>
              <a:ea typeface="Noto Sans CJK KR Regular" panose="020B05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23443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7F67C-8192-2ABC-88BD-8CD799F81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C10F30E-713C-3267-BB5E-DD61C016BF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9D5AEA3-D286-EA3B-E79D-8A5AD2A482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4D4011-BBA5-712A-2E02-A3FB105D7C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5995D6D-E2AB-4096-9D93-AC3AFBF2A06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CJK KR Regular" panose="020B0500000000000000" pitchFamily="34" charset="-128"/>
                <a:ea typeface="Noto Sans CJK KR Regular" panose="020B0500000000000000" pitchFamily="34" charset="-128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CJK KR Regular" panose="020B0500000000000000" pitchFamily="34" charset="-128"/>
              <a:ea typeface="Noto Sans CJK KR Regular" panose="020B05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27415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7F67C-8192-2ABC-88BD-8CD799F81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C10F30E-713C-3267-BB5E-DD61C016BF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9D5AEA3-D286-EA3B-E79D-8A5AD2A482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4D4011-BBA5-712A-2E02-A3FB105D7C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5995D6D-E2AB-4096-9D93-AC3AFBF2A06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CJK KR Regular" panose="020B0500000000000000" pitchFamily="34" charset="-128"/>
                <a:ea typeface="Noto Sans CJK KR Regular" panose="020B0500000000000000" pitchFamily="34" charset="-128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CJK KR Regular" panose="020B0500000000000000" pitchFamily="34" charset="-128"/>
              <a:ea typeface="Noto Sans CJK KR Regular" panose="020B05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627570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7F67C-8192-2ABC-88BD-8CD799F81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C10F30E-713C-3267-BB5E-DD61C016BF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9D5AEA3-D286-EA3B-E79D-8A5AD2A482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4D4011-BBA5-712A-2E02-A3FB105D7C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5995D6D-E2AB-4096-9D93-AC3AFBF2A06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CJK KR Regular" panose="020B0500000000000000" pitchFamily="34" charset="-128"/>
                <a:ea typeface="Noto Sans CJK KR Regular" panose="020B0500000000000000" pitchFamily="34" charset="-128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CJK KR Regular" panose="020B0500000000000000" pitchFamily="34" charset="-128"/>
              <a:ea typeface="Noto Sans CJK KR Regular" panose="020B05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582675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7F67C-8192-2ABC-88BD-8CD799F81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C10F30E-713C-3267-BB5E-DD61C016BF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9D5AEA3-D286-EA3B-E79D-8A5AD2A482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4D4011-BBA5-712A-2E02-A3FB105D7C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5995D6D-E2AB-4096-9D93-AC3AFBF2A06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CJK KR Regular" panose="020B0500000000000000" pitchFamily="34" charset="-128"/>
                <a:ea typeface="Noto Sans CJK KR Regular" panose="020B0500000000000000" pitchFamily="34" charset="-128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CJK KR Regular" panose="020B0500000000000000" pitchFamily="34" charset="-128"/>
              <a:ea typeface="Noto Sans CJK KR Regular" panose="020B05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38452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7F67C-8192-2ABC-88BD-8CD799F81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C10F30E-713C-3267-BB5E-DD61C016BF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9D5AEA3-D286-EA3B-E79D-8A5AD2A482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4D4011-BBA5-712A-2E02-A3FB105D7C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5995D6D-E2AB-4096-9D93-AC3AFBF2A06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CJK KR Regular" panose="020B0500000000000000" pitchFamily="34" charset="-128"/>
                <a:ea typeface="Noto Sans CJK KR Regular" panose="020B0500000000000000" pitchFamily="34" charset="-128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CJK KR Regular" panose="020B0500000000000000" pitchFamily="34" charset="-128"/>
              <a:ea typeface="Noto Sans CJK KR Regular" panose="020B05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81193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7F67C-8192-2ABC-88BD-8CD799F81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C10F30E-713C-3267-BB5E-DD61C016BF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9D5AEA3-D286-EA3B-E79D-8A5AD2A482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4D4011-BBA5-712A-2E02-A3FB105D7C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5995D6D-E2AB-4096-9D93-AC3AFBF2A06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CJK KR Regular" panose="020B0500000000000000" pitchFamily="34" charset="-128"/>
                <a:ea typeface="Noto Sans CJK KR Regular" panose="020B0500000000000000" pitchFamily="34" charset="-128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CJK KR Regular" panose="020B0500000000000000" pitchFamily="34" charset="-128"/>
              <a:ea typeface="Noto Sans CJK KR Regular" panose="020B05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28463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7F67C-8192-2ABC-88BD-8CD799F81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C10F30E-713C-3267-BB5E-DD61C016BF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9D5AEA3-D286-EA3B-E79D-8A5AD2A482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4D4011-BBA5-712A-2E02-A3FB105D7C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5995D6D-E2AB-4096-9D93-AC3AFBF2A06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CJK KR Regular" panose="020B0500000000000000" pitchFamily="34" charset="-128"/>
                <a:ea typeface="Noto Sans CJK KR Regular" panose="020B0500000000000000" pitchFamily="34" charset="-128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CJK KR Regular" panose="020B0500000000000000" pitchFamily="34" charset="-128"/>
              <a:ea typeface="Noto Sans CJK KR Regular" panose="020B05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71024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7F67C-8192-2ABC-88BD-8CD799F81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C10F30E-713C-3267-BB5E-DD61C016BF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9D5AEA3-D286-EA3B-E79D-8A5AD2A482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4D4011-BBA5-712A-2E02-A3FB105D7C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5995D6D-E2AB-4096-9D93-AC3AFBF2A06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CJK KR Regular" panose="020B0500000000000000" pitchFamily="34" charset="-128"/>
                <a:ea typeface="Noto Sans CJK KR Regular" panose="020B0500000000000000" pitchFamily="34" charset="-128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CJK KR Regular" panose="020B0500000000000000" pitchFamily="34" charset="-128"/>
              <a:ea typeface="Noto Sans CJK KR Regular" panose="020B05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843593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7F67C-8192-2ABC-88BD-8CD799F81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C10F30E-713C-3267-BB5E-DD61C016BF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9D5AEA3-D286-EA3B-E79D-8A5AD2A482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4D4011-BBA5-712A-2E02-A3FB105D7C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5995D6D-E2AB-4096-9D93-AC3AFBF2A06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CJK KR Regular" panose="020B0500000000000000" pitchFamily="34" charset="-128"/>
                <a:ea typeface="Noto Sans CJK KR Regular" panose="020B0500000000000000" pitchFamily="34" charset="-128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CJK KR Regular" panose="020B0500000000000000" pitchFamily="34" charset="-128"/>
              <a:ea typeface="Noto Sans CJK KR Regular" panose="020B05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1458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7F67C-8192-2ABC-88BD-8CD799F81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C10F30E-713C-3267-BB5E-DD61C016BF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9D5AEA3-D286-EA3B-E79D-8A5AD2A482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4D4011-BBA5-712A-2E02-A3FB105D7C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5995D6D-E2AB-4096-9D93-AC3AFBF2A06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CJK KR Regular" panose="020B0500000000000000" pitchFamily="34" charset="-128"/>
                <a:ea typeface="Noto Sans CJK KR Regular" panose="020B0500000000000000" pitchFamily="34" charset="-128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CJK KR Regular" panose="020B0500000000000000" pitchFamily="34" charset="-128"/>
              <a:ea typeface="Noto Sans CJK KR Regular" panose="020B05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946593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7F67C-8192-2ABC-88BD-8CD799F81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C10F30E-713C-3267-BB5E-DD61C016BF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9D5AEA3-D286-EA3B-E79D-8A5AD2A482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4D4011-BBA5-712A-2E02-A3FB105D7C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5995D6D-E2AB-4096-9D93-AC3AFBF2A06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CJK KR Regular" panose="020B0500000000000000" pitchFamily="34" charset="-128"/>
                <a:ea typeface="Noto Sans CJK KR Regular" panose="020B0500000000000000" pitchFamily="34" charset="-128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CJK KR Regular" panose="020B0500000000000000" pitchFamily="34" charset="-128"/>
              <a:ea typeface="Noto Sans CJK KR Regular" panose="020B05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980673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7F67C-8192-2ABC-88BD-8CD799F81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C10F30E-713C-3267-BB5E-DD61C016BF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9D5AEA3-D286-EA3B-E79D-8A5AD2A482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4D4011-BBA5-712A-2E02-A3FB105D7C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5995D6D-E2AB-4096-9D93-AC3AFBF2A06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CJK KR Regular" panose="020B0500000000000000" pitchFamily="34" charset="-128"/>
                <a:ea typeface="Noto Sans CJK KR Regular" panose="020B0500000000000000" pitchFamily="34" charset="-128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CJK KR Regular" panose="020B0500000000000000" pitchFamily="34" charset="-128"/>
              <a:ea typeface="Noto Sans CJK KR Regular" panose="020B05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7196715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7F67C-8192-2ABC-88BD-8CD799F81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C10F30E-713C-3267-BB5E-DD61C016BF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9D5AEA3-D286-EA3B-E79D-8A5AD2A482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4D4011-BBA5-712A-2E02-A3FB105D7C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5995D6D-E2AB-4096-9D93-AC3AFBF2A06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CJK KR Regular" panose="020B0500000000000000" pitchFamily="34" charset="-128"/>
                <a:ea typeface="Noto Sans CJK KR Regular" panose="020B0500000000000000" pitchFamily="34" charset="-128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CJK KR Regular" panose="020B0500000000000000" pitchFamily="34" charset="-128"/>
              <a:ea typeface="Noto Sans CJK KR Regular" panose="020B05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555752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7F67C-8192-2ABC-88BD-8CD799F81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C10F30E-713C-3267-BB5E-DD61C016BF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9D5AEA3-D286-EA3B-E79D-8A5AD2A482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4D4011-BBA5-712A-2E02-A3FB105D7C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5995D6D-E2AB-4096-9D93-AC3AFBF2A06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CJK KR Regular" panose="020B0500000000000000" pitchFamily="34" charset="-128"/>
                <a:ea typeface="Noto Sans CJK KR Regular" panose="020B0500000000000000" pitchFamily="34" charset="-128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CJK KR Regular" panose="020B0500000000000000" pitchFamily="34" charset="-128"/>
              <a:ea typeface="Noto Sans CJK KR Regular" panose="020B05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355428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7F67C-8192-2ABC-88BD-8CD799F81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C10F30E-713C-3267-BB5E-DD61C016BF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9D5AEA3-D286-EA3B-E79D-8A5AD2A482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4D4011-BBA5-712A-2E02-A3FB105D7C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5995D6D-E2AB-4096-9D93-AC3AFBF2A06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CJK KR Regular" panose="020B0500000000000000" pitchFamily="34" charset="-128"/>
                <a:ea typeface="Noto Sans CJK KR Regular" panose="020B0500000000000000" pitchFamily="34" charset="-128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CJK KR Regular" panose="020B0500000000000000" pitchFamily="34" charset="-128"/>
              <a:ea typeface="Noto Sans CJK KR Regular" panose="020B05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322462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7F67C-8192-2ABC-88BD-8CD799F81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C10F30E-713C-3267-BB5E-DD61C016BF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9D5AEA3-D286-EA3B-E79D-8A5AD2A482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4D4011-BBA5-712A-2E02-A3FB105D7C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5995D6D-E2AB-4096-9D93-AC3AFBF2A06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CJK KR Regular" panose="020B0500000000000000" pitchFamily="34" charset="-128"/>
                <a:ea typeface="Noto Sans CJK KR Regular" panose="020B0500000000000000" pitchFamily="34" charset="-128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CJK KR Regular" panose="020B0500000000000000" pitchFamily="34" charset="-128"/>
              <a:ea typeface="Noto Sans CJK KR Regular" panose="020B05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9040875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5995D6D-E2AB-4096-9D93-AC3AFBF2A06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CJK KR Regular" panose="020B0500000000000000" pitchFamily="34" charset="-128"/>
                <a:ea typeface="Noto Sans CJK KR Regular" panose="020B0500000000000000" pitchFamily="34" charset="-128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CJK KR Regular" panose="020B0500000000000000" pitchFamily="34" charset="-128"/>
              <a:ea typeface="Noto Sans CJK KR Regular" panose="020B05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825181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1F63B4-E9DB-4E76-AE18-BD3269B22E18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6324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블루, 스크린샷, 별, 일렉트릭 블루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7D23C2A-37ED-FBFC-0F5C-358D0CE0FC9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16541BC3-1A72-3BC1-6CB2-6115A6D462A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8"/>
          <a:stretch>
            <a:fillRect/>
          </a:stretch>
        </p:blipFill>
        <p:spPr>
          <a:xfrm>
            <a:off x="-21752" y="0"/>
            <a:ext cx="12213752" cy="6858000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3ACDD5AE-2A4D-412F-7955-3C342F8362AD}"/>
              </a:ext>
            </a:extLst>
          </p:cNvPr>
          <p:cNvSpPr/>
          <p:nvPr userDrawn="1"/>
        </p:nvSpPr>
        <p:spPr>
          <a:xfrm>
            <a:off x="-21752" y="0"/>
            <a:ext cx="12213752" cy="6858000"/>
          </a:xfrm>
          <a:prstGeom prst="rect">
            <a:avLst/>
          </a:prstGeom>
          <a:solidFill>
            <a:schemeClr val="tx1">
              <a:lumMod val="75000"/>
              <a:lumOff val="2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36937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화이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16A3E77-7F0B-9FAC-9B15-D96D75EB93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34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FB5346D0-FE0F-4EFE-5CB4-6E7342A6681D}"/>
              </a:ext>
            </a:extLst>
          </p:cNvPr>
          <p:cNvSpPr/>
          <p:nvPr userDrawn="1"/>
        </p:nvSpPr>
        <p:spPr>
          <a:xfrm>
            <a:off x="0" y="417009"/>
            <a:ext cx="12192000" cy="346850"/>
          </a:xfrm>
          <a:prstGeom prst="rect">
            <a:avLst/>
          </a:prstGeom>
          <a:solidFill>
            <a:srgbClr val="4E95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오각형[P] 9">
            <a:extLst>
              <a:ext uri="{FF2B5EF4-FFF2-40B4-BE49-F238E27FC236}">
                <a16:creationId xmlns:a16="http://schemas.microsoft.com/office/drawing/2014/main" id="{06430337-77DB-F2A5-3EBA-EBC254E683CC}"/>
              </a:ext>
            </a:extLst>
          </p:cNvPr>
          <p:cNvSpPr/>
          <p:nvPr userDrawn="1"/>
        </p:nvSpPr>
        <p:spPr>
          <a:xfrm>
            <a:off x="1" y="417009"/>
            <a:ext cx="3200400" cy="346850"/>
          </a:xfrm>
          <a:prstGeom prst="homePlate">
            <a:avLst/>
          </a:prstGeom>
          <a:solidFill>
            <a:srgbClr val="185D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1AFCBE4-FB99-A4A4-EDE8-508983D78EA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89" y="89783"/>
            <a:ext cx="767697" cy="23030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8D9A1B0D-2987-8666-42E7-46D0AC28E51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743874" y="80608"/>
            <a:ext cx="1337700" cy="251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6485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33">
          <p15:clr>
            <a:srgbClr val="FBAE40"/>
          </p15:clr>
        </p15:guide>
        <p15:guide id="2" pos="189">
          <p15:clr>
            <a:srgbClr val="FBAE40"/>
          </p15:clr>
        </p15:guide>
        <p15:guide id="3" pos="7491">
          <p15:clr>
            <a:srgbClr val="FBAE40"/>
          </p15:clr>
        </p15:guide>
        <p15:guide id="4" orient="horz" pos="663">
          <p15:clr>
            <a:srgbClr val="FBAE40"/>
          </p15:clr>
        </p15:guide>
        <p15:guide id="5" pos="143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콘텐츠 2개">
    <p:bg>
      <p:bgPr>
        <a:solidFill>
          <a:srgbClr val="00479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D865D773-2E35-7E0B-B736-5FA2D113348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57" b="6147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2008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AF9211D-DCB2-9E1E-D95D-7DECB8083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0FFED2-E366-343B-A79C-CFB27283E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D7CC8E-00C0-B478-6502-0D84339777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D5BE67-E74B-4B0F-870F-A5A78A1565A2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770312-0350-79B3-7941-4AFC378DFD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A000217-E456-970B-7C3F-5B9DE79181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10DBAC-22C5-4AD0-A416-546E7904AF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5445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6" r:id="rId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13.jpe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1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png"/><Relationship Id="rId4" Type="http://schemas.openxmlformats.org/officeDocument/2006/relationships/image" Target="../media/image3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FE6F6-8FA7-6433-0291-B5D4C6ED3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BA75D50D-C468-523D-E9AA-D6EAFCBDB8EA}"/>
              </a:ext>
            </a:extLst>
          </p:cNvPr>
          <p:cNvSpPr/>
          <p:nvPr/>
        </p:nvSpPr>
        <p:spPr>
          <a:xfrm>
            <a:off x="-14069" y="0"/>
            <a:ext cx="8658665" cy="6858000"/>
          </a:xfrm>
          <a:prstGeom prst="rect">
            <a:avLst/>
          </a:prstGeom>
          <a:gradFill>
            <a:gsLst>
              <a:gs pos="0">
                <a:schemeClr val="tx1">
                  <a:lumMod val="95000"/>
                  <a:lumOff val="5000"/>
                  <a:alpha val="0"/>
                </a:schemeClr>
              </a:gs>
              <a:gs pos="100000">
                <a:schemeClr val="tx1">
                  <a:lumMod val="95000"/>
                  <a:lumOff val="5000"/>
                  <a:alpha val="8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124A6D-E601-1A66-0B46-94FB9BC15904}"/>
              </a:ext>
            </a:extLst>
          </p:cNvPr>
          <p:cNvSpPr txBox="1"/>
          <p:nvPr/>
        </p:nvSpPr>
        <p:spPr>
          <a:xfrm>
            <a:off x="669956" y="1129245"/>
            <a:ext cx="842691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50" charset="-127"/>
              </a:rPr>
              <a:t>AI </a:t>
            </a:r>
            <a:r>
              <a:rPr kumimoji="0" lang="ko-KR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50" charset="-127"/>
              </a:rPr>
              <a:t>기반 핵심광물</a:t>
            </a:r>
            <a:endParaRPr kumimoji="0" lang="en-US" altLang="ko-KR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프리젠테이션 6 SemiBold" pitchFamily="2" charset="-127"/>
              <a:ea typeface="프리젠테이션 6 SemiBold" pitchFamily="2" charset="-127"/>
              <a:cs typeface="Pretendard SemiBold" panose="0200070300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4000" dirty="0">
                <a:solidFill>
                  <a:prstClr val="white"/>
                </a:solidFill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50" charset="-127"/>
              </a:rPr>
              <a:t>위기진단 및 수요예측 모델 개발</a:t>
            </a:r>
            <a:endParaRPr kumimoji="0" lang="ko-KR" altLang="en-US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프리젠테이션 6 SemiBold" pitchFamily="2" charset="-127"/>
              <a:ea typeface="프리젠테이션 6 SemiBold" pitchFamily="2" charset="-127"/>
              <a:cs typeface="Pretendard SemiBold" panose="02000703000000020004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00E72D8-FC4C-29E4-5B89-1BCC39276DA7}"/>
              </a:ext>
            </a:extLst>
          </p:cNvPr>
          <p:cNvSpPr/>
          <p:nvPr/>
        </p:nvSpPr>
        <p:spPr>
          <a:xfrm>
            <a:off x="708056" y="2541856"/>
            <a:ext cx="5299295" cy="4712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  <a:cs typeface="+mn-cs"/>
              </a:rPr>
              <a:t>주간보고서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  <a:cs typeface="+mn-cs"/>
              </a:rPr>
              <a:t>–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  <a:cs typeface="+mn-cs"/>
              </a:rPr>
              <a:t>과업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  <a:cs typeface="+mn-cs"/>
              </a:rPr>
              <a:t>1) 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  <a:cs typeface="+mn-cs"/>
              </a:rPr>
              <a:t>위기진단 모델 개발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프리젠테이션 4 Regular" pitchFamily="2" charset="-127"/>
              <a:ea typeface="프리젠테이션 4 Regular" pitchFamily="2" charset="-127"/>
              <a:cs typeface="+mn-cs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33D87FB0-D8EC-90FE-BB35-5BCCA0123EA2}"/>
              </a:ext>
            </a:extLst>
          </p:cNvPr>
          <p:cNvCxnSpPr/>
          <p:nvPr/>
        </p:nvCxnSpPr>
        <p:spPr>
          <a:xfrm>
            <a:off x="789930" y="2541856"/>
            <a:ext cx="5059346" cy="0"/>
          </a:xfrm>
          <a:prstGeom prst="line">
            <a:avLst/>
          </a:prstGeom>
          <a:ln w="3175">
            <a:solidFill>
              <a:schemeClr val="bg1">
                <a:alpha val="39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1560ECF1-35CD-802C-8ABF-6C7C242AB475}"/>
              </a:ext>
            </a:extLst>
          </p:cNvPr>
          <p:cNvCxnSpPr/>
          <p:nvPr/>
        </p:nvCxnSpPr>
        <p:spPr>
          <a:xfrm>
            <a:off x="789930" y="3327449"/>
            <a:ext cx="5059346" cy="0"/>
          </a:xfrm>
          <a:prstGeom prst="line">
            <a:avLst/>
          </a:prstGeom>
          <a:ln w="3175">
            <a:solidFill>
              <a:schemeClr val="bg1">
                <a:alpha val="39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4722079-EA17-05E6-8DF4-175B657C231C}"/>
              </a:ext>
            </a:extLst>
          </p:cNvPr>
          <p:cNvSpPr/>
          <p:nvPr/>
        </p:nvSpPr>
        <p:spPr>
          <a:xfrm>
            <a:off x="708056" y="2866662"/>
            <a:ext cx="5299295" cy="4712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  <a:cs typeface="+mn-cs"/>
              </a:rPr>
              <a:t>2026.08.18.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프리젠테이션 4 Regular" pitchFamily="2" charset="-127"/>
              <a:ea typeface="프리젠테이션 4 Regular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5843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06005-13DD-F4F0-C12B-178805B4C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86964A6A-9C8B-4703-C8FA-FFA6799E58C0}"/>
              </a:ext>
            </a:extLst>
          </p:cNvPr>
          <p:cNvSpPr txBox="1"/>
          <p:nvPr/>
        </p:nvSpPr>
        <p:spPr>
          <a:xfrm>
            <a:off x="0" y="453187"/>
            <a:ext cx="30003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eesentation 5 Medium" pitchFamily="2" charset="-127"/>
                <a:ea typeface="Freesentation 5 Medium" pitchFamily="2" charset="-127"/>
                <a:cs typeface="Pretendard Light" panose="02000403000000020004" pitchFamily="50" charset="-127"/>
              </a:rPr>
              <a:t>과업별 세부 진행사항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eesentation 5 Medium" pitchFamily="2" charset="-127"/>
              <a:ea typeface="Freesentation 5 Medium" pitchFamily="2" charset="-127"/>
              <a:cs typeface="Pretendard Light" panose="02000403000000020004" pitchFamily="50" charset="-127"/>
            </a:endParaRPr>
          </a:p>
        </p:txBody>
      </p:sp>
      <p:sp>
        <p:nvSpPr>
          <p:cNvPr id="7" name="슬라이드 번호 개체 틀 1">
            <a:extLst>
              <a:ext uri="{FF2B5EF4-FFF2-40B4-BE49-F238E27FC236}">
                <a16:creationId xmlns:a16="http://schemas.microsoft.com/office/drawing/2014/main" id="{CBFF1D73-D4F1-7E9E-6FFD-996E4113B9F3}"/>
              </a:ext>
            </a:extLst>
          </p:cNvPr>
          <p:cNvSpPr txBox="1">
            <a:spLocks/>
          </p:cNvSpPr>
          <p:nvPr/>
        </p:nvSpPr>
        <p:spPr>
          <a:xfrm>
            <a:off x="9442493" y="6488255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10DBAC-22C5-4AD0-A416-546E7904AF50}" type="slidenum"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89D157-DB3E-86D6-1EF1-D7ACE5D3F568}"/>
              </a:ext>
            </a:extLst>
          </p:cNvPr>
          <p:cNvSpPr txBox="1"/>
          <p:nvPr/>
        </p:nvSpPr>
        <p:spPr>
          <a:xfrm>
            <a:off x="123891" y="991182"/>
            <a:ext cx="67110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2000" b="0" spc="0">
                <a:solidFill>
                  <a:srgbClr val="000000"/>
                </a:solidFill>
                <a:latin typeface="+mj-ea"/>
                <a:ea typeface="+mj-ea"/>
                <a:cs typeface="Pretendard SemiBold" panose="02000503000000020004" pitchFamily="2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프리젠테이션 7 Bold"/>
                <a:ea typeface="프리젠테이션 7 Bold"/>
                <a:cs typeface="Pretendard SemiBold" panose="02000503000000020004" pitchFamily="2" charset="-127"/>
              </a:rPr>
              <a:t>1.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프리젠테이션 7 Bold"/>
                <a:ea typeface="프리젠테이션 7 Bold"/>
                <a:cs typeface="Pretendard SemiBold" panose="02000503000000020004" pitchFamily="2" charset="-127"/>
              </a:rPr>
              <a:t>과업 목표 및 전체 개발 프로세스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75C638-9116-F0D1-73DF-7F7C5F4DEE56}"/>
              </a:ext>
            </a:extLst>
          </p:cNvPr>
          <p:cNvSpPr txBox="1"/>
          <p:nvPr/>
        </p:nvSpPr>
        <p:spPr>
          <a:xfrm>
            <a:off x="312123" y="1550850"/>
            <a:ext cx="863698" cy="26795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144000" indent="-144000" latinLnBrk="0">
              <a:lnSpc>
                <a:spcPct val="120000"/>
              </a:lnSpc>
              <a:spcBef>
                <a:spcPct val="0"/>
              </a:spcBef>
              <a:spcAft>
                <a:spcPts val="100"/>
              </a:spcAft>
              <a:buClr>
                <a:prstClr val="white">
                  <a:lumMod val="50000"/>
                </a:prstClr>
              </a:buClr>
              <a:buFont typeface="Wingdings" panose="05000000000000000000" pitchFamily="2" charset="2"/>
              <a:buChar char="§"/>
              <a:defRPr sz="1200" spc="0">
                <a:ln>
                  <a:solidFill>
                    <a:srgbClr val="3F4057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Freesentation 4 Regular" pitchFamily="2" charset="-127"/>
                <a:ea typeface="Freesentation 4 Regular" pitchFamily="2" charset="-127"/>
              </a:defRPr>
            </a:lvl1pPr>
          </a:lstStyle>
          <a:p>
            <a:pPr marL="144000" marR="0" lvl="0" indent="-1440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100"/>
              </a:spcAft>
              <a:buClr>
                <a:prstClr val="white">
                  <a:lumMod val="50000"/>
                </a:prst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ko-KR" altLang="en-US" sz="1600" dirty="0">
                <a:solidFill>
                  <a:srgbClr val="000000">
                    <a:lumMod val="65000"/>
                    <a:lumOff val="35000"/>
                  </a:srgbClr>
                </a:solidFill>
              </a:rPr>
              <a:t>방법론 </a:t>
            </a:r>
            <a:endParaRPr kumimoji="0" lang="ko-KR" altLang="en-US" sz="1600" b="0" i="0" u="none" strike="noStrike" kern="1200" cap="none" spc="0" normalizeH="0" baseline="0" noProof="0" dirty="0">
              <a:ln>
                <a:solidFill>
                  <a:srgbClr val="3F4057">
                    <a:alpha val="0"/>
                  </a:srgbClr>
                </a:solidFill>
              </a:ln>
              <a:solidFill>
                <a:schemeClr val="tx1"/>
              </a:solidFill>
              <a:effectLst/>
              <a:uLnTx/>
              <a:uFillTx/>
              <a:latin typeface="Freesentation 4 Regular" pitchFamily="2" charset="-127"/>
              <a:ea typeface="Freesentation 4 Regular" pitchFamily="2" charset="-127"/>
              <a:cs typeface="+mn-cs"/>
            </a:endParaRPr>
          </a:p>
        </p:txBody>
      </p:sp>
      <p:sp>
        <p:nvSpPr>
          <p:cNvPr id="19" name="Text 3"/>
          <p:cNvSpPr/>
          <p:nvPr/>
        </p:nvSpPr>
        <p:spPr>
          <a:xfrm>
            <a:off x="312123" y="1940024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8000"/>
              </a:lnSpc>
            </a:pPr>
            <a:r>
              <a:rPr lang="ko-KR" altLang="en-US" sz="1450" dirty="0">
                <a:solidFill>
                  <a:srgbClr val="565656"/>
                </a:solidFill>
                <a:latin typeface="Malgun Gothic" pitchFamily="34" charset="0"/>
                <a:ea typeface="Malgun Gothic" pitchFamily="34" charset="-122"/>
              </a:rPr>
              <a:t>과업 목적 </a:t>
            </a:r>
            <a:r>
              <a:rPr lang="en-US" altLang="ko-KR" sz="1450" dirty="0">
                <a:solidFill>
                  <a:srgbClr val="565656"/>
                </a:solidFill>
                <a:latin typeface="Malgun Gothic" pitchFamily="34" charset="0"/>
                <a:ea typeface="Malgun Gothic" pitchFamily="34" charset="-122"/>
              </a:rPr>
              <a:t>: 5</a:t>
            </a:r>
            <a:r>
              <a:rPr lang="ko-KR" altLang="en-US" sz="1450" dirty="0" err="1">
                <a:solidFill>
                  <a:srgbClr val="565656"/>
                </a:solidFill>
                <a:latin typeface="Malgun Gothic" pitchFamily="34" charset="0"/>
                <a:ea typeface="Malgun Gothic" pitchFamily="34" charset="-122"/>
              </a:rPr>
              <a:t>대광종에</a:t>
            </a:r>
            <a:r>
              <a:rPr lang="ko-KR" altLang="en-US" sz="1450" dirty="0">
                <a:solidFill>
                  <a:srgbClr val="565656"/>
                </a:solidFill>
                <a:latin typeface="Malgun Gothic" pitchFamily="34" charset="0"/>
                <a:ea typeface="Malgun Gothic" pitchFamily="34" charset="-122"/>
              </a:rPr>
              <a:t> 대한 주간 단위로 </a:t>
            </a:r>
            <a:r>
              <a:rPr lang="en-US" altLang="ko-KR" sz="1450" dirty="0">
                <a:solidFill>
                  <a:srgbClr val="565656"/>
                </a:solidFill>
                <a:latin typeface="Malgun Gothic" pitchFamily="34" charset="0"/>
                <a:ea typeface="Malgun Gothic" pitchFamily="34" charset="-122"/>
              </a:rPr>
              <a:t>5</a:t>
            </a:r>
            <a:r>
              <a:rPr lang="ko-KR" altLang="en-US" sz="1450" dirty="0">
                <a:solidFill>
                  <a:srgbClr val="565656"/>
                </a:solidFill>
                <a:latin typeface="Malgun Gothic" pitchFamily="34" charset="0"/>
                <a:ea typeface="Malgun Gothic" pitchFamily="34" charset="-122"/>
              </a:rPr>
              <a:t>단계 </a:t>
            </a:r>
            <a:r>
              <a:rPr lang="ko-KR" altLang="en-US" sz="1450" dirty="0" err="1">
                <a:solidFill>
                  <a:srgbClr val="565656"/>
                </a:solidFill>
                <a:latin typeface="Malgun Gothic" pitchFamily="34" charset="0"/>
                <a:ea typeface="Malgun Gothic" pitchFamily="34" charset="-122"/>
              </a:rPr>
              <a:t>수급위기</a:t>
            </a:r>
            <a:r>
              <a:rPr lang="ko-KR" altLang="en-US" sz="1450" dirty="0">
                <a:solidFill>
                  <a:srgbClr val="565656"/>
                </a:solidFill>
                <a:latin typeface="Malgun Gothic" pitchFamily="34" charset="0"/>
                <a:ea typeface="Malgun Gothic" pitchFamily="34" charset="-122"/>
              </a:rPr>
              <a:t> 진단 경보 수준을 산출</a:t>
            </a:r>
          </a:p>
        </p:txBody>
      </p:sp>
      <p:sp>
        <p:nvSpPr>
          <p:cNvPr id="8" name="갈매기형 수장 5">
            <a:extLst>
              <a:ext uri="{FF2B5EF4-FFF2-40B4-BE49-F238E27FC236}">
                <a16:creationId xmlns:a16="http://schemas.microsoft.com/office/drawing/2014/main" id="{B1F1C3F3-28E6-3C9A-FDD6-D95DBCCA5061}"/>
              </a:ext>
            </a:extLst>
          </p:cNvPr>
          <p:cNvSpPr/>
          <p:nvPr/>
        </p:nvSpPr>
        <p:spPr>
          <a:xfrm>
            <a:off x="7703184" y="3699719"/>
            <a:ext cx="3933825" cy="1399868"/>
          </a:xfrm>
          <a:prstGeom prst="chevron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" name="갈매기형 수장 4">
            <a:extLst>
              <a:ext uri="{FF2B5EF4-FFF2-40B4-BE49-F238E27FC236}">
                <a16:creationId xmlns:a16="http://schemas.microsoft.com/office/drawing/2014/main" id="{08E23758-8A71-FB83-BEE9-CC7E94E9731B}"/>
              </a:ext>
            </a:extLst>
          </p:cNvPr>
          <p:cNvSpPr/>
          <p:nvPr/>
        </p:nvSpPr>
        <p:spPr>
          <a:xfrm>
            <a:off x="4088447" y="3699719"/>
            <a:ext cx="3933825" cy="1399868"/>
          </a:xfrm>
          <a:prstGeom prst="chevron">
            <a:avLst/>
          </a:prstGeom>
          <a:solidFill>
            <a:schemeClr val="accent3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2" name="오각형 3">
            <a:extLst>
              <a:ext uri="{FF2B5EF4-FFF2-40B4-BE49-F238E27FC236}">
                <a16:creationId xmlns:a16="http://schemas.microsoft.com/office/drawing/2014/main" id="{89866BE4-6882-C898-28F9-B2227D6AFD1B}"/>
              </a:ext>
            </a:extLst>
          </p:cNvPr>
          <p:cNvSpPr/>
          <p:nvPr/>
        </p:nvSpPr>
        <p:spPr>
          <a:xfrm>
            <a:off x="473710" y="3699719"/>
            <a:ext cx="3933825" cy="1399868"/>
          </a:xfrm>
          <a:prstGeom prst="homePlat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3" name="왼쪽 중괄호 12">
            <a:extLst>
              <a:ext uri="{FF2B5EF4-FFF2-40B4-BE49-F238E27FC236}">
                <a16:creationId xmlns:a16="http://schemas.microsoft.com/office/drawing/2014/main" id="{513C753A-D95E-5C4B-A8B0-4DA610CF3228}"/>
              </a:ext>
            </a:extLst>
          </p:cNvPr>
          <p:cNvSpPr/>
          <p:nvPr/>
        </p:nvSpPr>
        <p:spPr>
          <a:xfrm rot="16200000">
            <a:off x="5480291" y="3943487"/>
            <a:ext cx="321466" cy="3152778"/>
          </a:xfrm>
          <a:prstGeom prst="leftBrace">
            <a:avLst>
              <a:gd name="adj1" fmla="val 54487"/>
              <a:gd name="adj2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왼쪽 중괄호 13">
            <a:extLst>
              <a:ext uri="{FF2B5EF4-FFF2-40B4-BE49-F238E27FC236}">
                <a16:creationId xmlns:a16="http://schemas.microsoft.com/office/drawing/2014/main" id="{83AE30EF-C049-7BF1-C577-4E211B13E059}"/>
              </a:ext>
            </a:extLst>
          </p:cNvPr>
          <p:cNvSpPr/>
          <p:nvPr/>
        </p:nvSpPr>
        <p:spPr>
          <a:xfrm rot="5400000" flipV="1">
            <a:off x="1889366" y="1789214"/>
            <a:ext cx="321466" cy="3152778"/>
          </a:xfrm>
          <a:prstGeom prst="leftBrace">
            <a:avLst>
              <a:gd name="adj1" fmla="val 54487"/>
              <a:gd name="adj2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왼쪽 중괄호 14">
            <a:extLst>
              <a:ext uri="{FF2B5EF4-FFF2-40B4-BE49-F238E27FC236}">
                <a16:creationId xmlns:a16="http://schemas.microsoft.com/office/drawing/2014/main" id="{E25CEBB1-206C-4602-2C2E-70F0A447249B}"/>
              </a:ext>
            </a:extLst>
          </p:cNvPr>
          <p:cNvSpPr/>
          <p:nvPr/>
        </p:nvSpPr>
        <p:spPr>
          <a:xfrm rot="5400000" flipV="1">
            <a:off x="9118840" y="1785207"/>
            <a:ext cx="321466" cy="3152778"/>
          </a:xfrm>
          <a:prstGeom prst="leftBrace">
            <a:avLst>
              <a:gd name="adj1" fmla="val 54487"/>
              <a:gd name="adj2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7EA7BDD-096A-39B8-4A4E-2224F6D00056}"/>
              </a:ext>
            </a:extLst>
          </p:cNvPr>
          <p:cNvSpPr txBox="1"/>
          <p:nvPr/>
        </p:nvSpPr>
        <p:spPr>
          <a:xfrm>
            <a:off x="1496101" y="276064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err="1"/>
              <a:t>진행완료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EE21F57-21BE-8E76-CE91-22FC86D958D0}"/>
              </a:ext>
            </a:extLst>
          </p:cNvPr>
          <p:cNvSpPr txBox="1"/>
          <p:nvPr/>
        </p:nvSpPr>
        <p:spPr>
          <a:xfrm>
            <a:off x="8725575" y="2760649"/>
            <a:ext cx="11079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err="1"/>
              <a:t>후속단계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FE28F21-BBF6-8C85-CFF9-8677D2FD6308}"/>
              </a:ext>
            </a:extLst>
          </p:cNvPr>
          <p:cNvSpPr txBox="1"/>
          <p:nvPr/>
        </p:nvSpPr>
        <p:spPr>
          <a:xfrm>
            <a:off x="5202443" y="5755498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진행중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ADD6567-4E94-CE4C-0A98-5CAB2A43125C}"/>
              </a:ext>
            </a:extLst>
          </p:cNvPr>
          <p:cNvSpPr txBox="1"/>
          <p:nvPr/>
        </p:nvSpPr>
        <p:spPr>
          <a:xfrm>
            <a:off x="831109" y="4016977"/>
            <a:ext cx="308289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데이터 파악 및 초기 </a:t>
            </a:r>
            <a:endParaRPr lang="en-US" altLang="ko-KR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파이프라인 구축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EB157E0-7776-DF0D-A08F-73DEC796FBB1}"/>
              </a:ext>
            </a:extLst>
          </p:cNvPr>
          <p:cNvSpPr txBox="1"/>
          <p:nvPr/>
        </p:nvSpPr>
        <p:spPr>
          <a:xfrm>
            <a:off x="4749973" y="4147134"/>
            <a:ext cx="28360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solidFill>
                  <a:schemeClr val="bg1"/>
                </a:solidFill>
              </a:rPr>
              <a:t>5</a:t>
            </a:r>
            <a:r>
              <a:rPr lang="ko-KR" altLang="en-US" sz="2400" dirty="0" err="1">
                <a:solidFill>
                  <a:schemeClr val="bg1"/>
                </a:solidFill>
              </a:rPr>
              <a:t>대광종</a:t>
            </a:r>
            <a:r>
              <a:rPr lang="ko-KR" altLang="en-US" sz="2400" dirty="0">
                <a:solidFill>
                  <a:schemeClr val="bg1"/>
                </a:solidFill>
              </a:rPr>
              <a:t> 진단 단계 </a:t>
            </a:r>
            <a:endParaRPr lang="en-US" altLang="ko-KR" sz="2400" dirty="0">
              <a:solidFill>
                <a:schemeClr val="bg1"/>
              </a:solidFill>
            </a:endParaRPr>
          </a:p>
          <a:p>
            <a:r>
              <a:rPr lang="ko-KR" altLang="en-US" sz="2400" dirty="0">
                <a:solidFill>
                  <a:schemeClr val="bg1"/>
                </a:solidFill>
              </a:rPr>
              <a:t>산출 및 검증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85B2845-D011-9E13-5B49-53ED44CECED5}"/>
              </a:ext>
            </a:extLst>
          </p:cNvPr>
          <p:cNvSpPr txBox="1"/>
          <p:nvPr/>
        </p:nvSpPr>
        <p:spPr>
          <a:xfrm>
            <a:off x="8668104" y="4147135"/>
            <a:ext cx="27558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solidFill>
                  <a:schemeClr val="bg1"/>
                </a:solidFill>
              </a:rPr>
              <a:t>파이프라인 고도화</a:t>
            </a:r>
          </a:p>
        </p:txBody>
      </p:sp>
    </p:spTree>
    <p:extLst>
      <p:ext uri="{BB962C8B-B14F-4D97-AF65-F5344CB8AC3E}">
        <p14:creationId xmlns:p14="http://schemas.microsoft.com/office/powerpoint/2010/main" val="37933123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06005-13DD-F4F0-C12B-178805B4C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86964A6A-9C8B-4703-C8FA-FFA6799E58C0}"/>
              </a:ext>
            </a:extLst>
          </p:cNvPr>
          <p:cNvSpPr txBox="1"/>
          <p:nvPr/>
        </p:nvSpPr>
        <p:spPr>
          <a:xfrm>
            <a:off x="0" y="453187"/>
            <a:ext cx="30003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eesentation 5 Medium" pitchFamily="2" charset="-127"/>
                <a:ea typeface="Freesentation 5 Medium" pitchFamily="2" charset="-127"/>
                <a:cs typeface="Pretendard Light" panose="02000403000000020004" pitchFamily="50" charset="-127"/>
              </a:rPr>
              <a:t>과업별 세부 진행사항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eesentation 5 Medium" pitchFamily="2" charset="-127"/>
              <a:ea typeface="Freesentation 5 Medium" pitchFamily="2" charset="-127"/>
              <a:cs typeface="Pretendard Light" panose="02000403000000020004" pitchFamily="50" charset="-127"/>
            </a:endParaRPr>
          </a:p>
        </p:txBody>
      </p:sp>
      <p:sp>
        <p:nvSpPr>
          <p:cNvPr id="7" name="슬라이드 번호 개체 틀 1">
            <a:extLst>
              <a:ext uri="{FF2B5EF4-FFF2-40B4-BE49-F238E27FC236}">
                <a16:creationId xmlns:a16="http://schemas.microsoft.com/office/drawing/2014/main" id="{CBFF1D73-D4F1-7E9E-6FFD-996E4113B9F3}"/>
              </a:ext>
            </a:extLst>
          </p:cNvPr>
          <p:cNvSpPr txBox="1">
            <a:spLocks/>
          </p:cNvSpPr>
          <p:nvPr/>
        </p:nvSpPr>
        <p:spPr>
          <a:xfrm>
            <a:off x="9442493" y="6488255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10DBAC-22C5-4AD0-A416-546E7904AF50}" type="slidenum"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89D157-DB3E-86D6-1EF1-D7ACE5D3F568}"/>
              </a:ext>
            </a:extLst>
          </p:cNvPr>
          <p:cNvSpPr txBox="1"/>
          <p:nvPr/>
        </p:nvSpPr>
        <p:spPr>
          <a:xfrm>
            <a:off x="123891" y="991182"/>
            <a:ext cx="67110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2000" b="0" spc="0">
                <a:solidFill>
                  <a:srgbClr val="000000"/>
                </a:solidFill>
                <a:latin typeface="+mj-ea"/>
                <a:ea typeface="+mj-ea"/>
                <a:cs typeface="Pretendard SemiBold" panose="02000503000000020004" pitchFamily="2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latin typeface="프리젠테이션 7 Bold"/>
                <a:ea typeface="프리젠테이션 7 Bold"/>
              </a:rPr>
              <a:t>2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프리젠테이션 7 Bold"/>
                <a:ea typeface="프리젠테이션 7 Bold"/>
                <a:cs typeface="Pretendard SemiBold" panose="02000503000000020004" pitchFamily="2" charset="-127"/>
              </a:rPr>
              <a:t>.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프리젠테이션 7 Bold"/>
                <a:ea typeface="프리젠테이션 7 Bold"/>
                <a:cs typeface="Pretendard SemiBold" panose="02000503000000020004" pitchFamily="2" charset="-127"/>
              </a:rPr>
              <a:t>과업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프리젠테이션 7 Bold"/>
                <a:ea typeface="프리젠테이션 7 Bold"/>
                <a:cs typeface="Pretendard SemiBold" panose="02000503000000020004" pitchFamily="2" charset="-127"/>
              </a:rPr>
              <a:t>1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프리젠테이션 7 Bold"/>
                <a:ea typeface="프리젠테이션 7 Bold"/>
                <a:cs typeface="Pretendard SemiBold" panose="02000503000000020004" pitchFamily="2" charset="-127"/>
              </a:rPr>
              <a:t> 제공 데이터</a:t>
            </a:r>
            <a:r>
              <a:rPr kumimoji="0" lang="ko-KR" altLang="en-US" sz="20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프리젠테이션 7 Bold"/>
                <a:ea typeface="프리젠테이션 7 Bold"/>
                <a:cs typeface="Pretendard SemiBold" panose="02000503000000020004" pitchFamily="2" charset="-127"/>
              </a:rPr>
              <a:t> </a:t>
            </a:r>
            <a:r>
              <a:rPr kumimoji="0" lang="ko-KR" altLang="en-US" sz="2000" b="0" i="0" u="none" strike="noStrike" kern="1200" cap="none" spc="0" normalizeH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프리젠테이션 7 Bold"/>
                <a:ea typeface="프리젠테이션 7 Bold"/>
                <a:cs typeface="Pretendard SemiBold" panose="02000503000000020004" pitchFamily="2" charset="-127"/>
              </a:rPr>
              <a:t>활용현황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프리젠테이션 7 Bold"/>
              <a:ea typeface="프리젠테이션 7 Bold"/>
              <a:cs typeface="Pretendard SemiBold" panose="02000503000000020004" pitchFamily="2" charset="-127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/>
        </p:nvGraphicFramePr>
        <p:xfrm>
          <a:off x="1765658" y="1524341"/>
          <a:ext cx="8128002" cy="4302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76179745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24150556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17936806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95659791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10043384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9904864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구분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err="1"/>
                        <a:t>데이터명</a:t>
                      </a:r>
                      <a:endParaRPr lang="ko-KR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출처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주기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err="1"/>
                        <a:t>확보기간</a:t>
                      </a:r>
                      <a:endParaRPr lang="ko-KR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err="1"/>
                        <a:t>활용방식</a:t>
                      </a:r>
                      <a:endParaRPr lang="ko-KR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44684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정형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LME </a:t>
                      </a:r>
                      <a:r>
                        <a:rPr lang="ko-KR" altLang="en-US" sz="1200" dirty="0"/>
                        <a:t>현물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KOMIS</a:t>
                      </a:r>
                      <a:endParaRPr lang="ko-KR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주간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2010-01~2026-07</a:t>
                      </a:r>
                      <a:endParaRPr lang="ko-KR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Chronos-2</a:t>
                      </a:r>
                      <a:r>
                        <a:rPr lang="en-US" altLang="ko-KR" sz="1200" baseline="0" dirty="0"/>
                        <a:t> </a:t>
                      </a:r>
                      <a:r>
                        <a:rPr lang="ko-KR" altLang="en-US" sz="1200" baseline="0" dirty="0"/>
                        <a:t>예측 타겟</a:t>
                      </a:r>
                      <a:endParaRPr lang="ko-KR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29959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정형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LME</a:t>
                      </a:r>
                      <a:r>
                        <a:rPr lang="en-US" altLang="ko-KR" sz="1200" baseline="0" dirty="0"/>
                        <a:t> 3</a:t>
                      </a:r>
                      <a:r>
                        <a:rPr lang="ko-KR" altLang="en-US" sz="1200" baseline="0" dirty="0"/>
                        <a:t>개월</a:t>
                      </a:r>
                      <a:endParaRPr lang="ko-KR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KOMIS</a:t>
                      </a:r>
                      <a:endParaRPr lang="ko-KR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주간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2010-01~2026-07</a:t>
                      </a:r>
                      <a:endParaRPr lang="ko-KR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Chronos-2 </a:t>
                      </a:r>
                      <a:r>
                        <a:rPr lang="ko-KR" altLang="en-US" sz="1200" dirty="0" err="1"/>
                        <a:t>공변량</a:t>
                      </a:r>
                      <a:endParaRPr lang="ko-KR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70705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정형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LME </a:t>
                      </a:r>
                      <a:r>
                        <a:rPr lang="ko-KR" altLang="en-US" sz="1200" dirty="0"/>
                        <a:t>재고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KOMIS</a:t>
                      </a:r>
                      <a:endParaRPr lang="ko-KR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주간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2010-01~2026-07</a:t>
                      </a:r>
                      <a:endParaRPr lang="ko-KR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Chronos-2 </a:t>
                      </a:r>
                      <a:r>
                        <a:rPr lang="ko-KR" altLang="en-US" sz="1200" dirty="0" err="1"/>
                        <a:t>공변량</a:t>
                      </a:r>
                      <a:endParaRPr lang="ko-KR" altLang="en-US" sz="1200" dirty="0"/>
                    </a:p>
                    <a:p>
                      <a:pPr latinLnBrk="1"/>
                      <a:endParaRPr lang="ko-KR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757429"/>
                  </a:ext>
                </a:extLst>
              </a:tr>
              <a:tr h="63564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정형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메이저금속지수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KOMIS</a:t>
                      </a:r>
                      <a:endParaRPr lang="ko-KR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일간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2011-01~2026-07</a:t>
                      </a:r>
                      <a:endParaRPr lang="ko-KR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Chronos-2 </a:t>
                      </a:r>
                      <a:r>
                        <a:rPr lang="ko-KR" altLang="en-US" sz="1200" dirty="0" err="1"/>
                        <a:t>공변량</a:t>
                      </a:r>
                      <a:endParaRPr lang="ko-KR" altLang="en-US" sz="1200" dirty="0"/>
                    </a:p>
                    <a:p>
                      <a:pPr latinLnBrk="1"/>
                      <a:endParaRPr lang="ko-KR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00433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정형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시장동향지표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KOMIS</a:t>
                      </a:r>
                      <a:endParaRPr lang="ko-KR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일간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2020-01~2026-07</a:t>
                      </a:r>
                      <a:endParaRPr lang="ko-KR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Chronos-2 </a:t>
                      </a:r>
                      <a:r>
                        <a:rPr lang="ko-KR" altLang="en-US" sz="1200" dirty="0" err="1"/>
                        <a:t>공변량</a:t>
                      </a:r>
                      <a:endParaRPr lang="ko-KR" altLang="en-US" sz="1200" dirty="0"/>
                    </a:p>
                    <a:p>
                      <a:pPr latinLnBrk="1"/>
                      <a:endParaRPr lang="ko-KR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32312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정형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수급동향지표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KOMIS</a:t>
                      </a:r>
                      <a:endParaRPr lang="ko-KR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일간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2020-01~2026-07</a:t>
                      </a:r>
                      <a:endParaRPr lang="ko-KR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Chronos-2 </a:t>
                      </a:r>
                      <a:r>
                        <a:rPr lang="ko-KR" altLang="en-US" sz="1200" dirty="0" err="1"/>
                        <a:t>공변량</a:t>
                      </a:r>
                      <a:endParaRPr lang="ko-KR" altLang="en-US" sz="1200" dirty="0"/>
                    </a:p>
                    <a:p>
                      <a:pPr latinLnBrk="1"/>
                      <a:endParaRPr lang="ko-KR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74510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비정형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주관광물동향 보고서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KOMIS</a:t>
                      </a:r>
                      <a:endParaRPr lang="ko-KR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주간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2016-01~2026-07</a:t>
                      </a:r>
                      <a:endParaRPr lang="ko-KR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LLM </a:t>
                      </a:r>
                      <a:r>
                        <a:rPr lang="ko-KR" altLang="en-US" sz="1200" dirty="0"/>
                        <a:t>요약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9209277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AD75C638-9116-F0D1-73DF-7F7C5F4DEE56}"/>
              </a:ext>
            </a:extLst>
          </p:cNvPr>
          <p:cNvSpPr txBox="1"/>
          <p:nvPr/>
        </p:nvSpPr>
        <p:spPr>
          <a:xfrm>
            <a:off x="312123" y="1550850"/>
            <a:ext cx="1068882" cy="2954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144000" indent="-144000" latinLnBrk="0">
              <a:lnSpc>
                <a:spcPct val="120000"/>
              </a:lnSpc>
              <a:spcBef>
                <a:spcPct val="0"/>
              </a:spcBef>
              <a:spcAft>
                <a:spcPts val="100"/>
              </a:spcAft>
              <a:buClr>
                <a:prstClr val="white">
                  <a:lumMod val="50000"/>
                </a:prstClr>
              </a:buClr>
              <a:buFont typeface="Wingdings" panose="05000000000000000000" pitchFamily="2" charset="2"/>
              <a:buChar char="§"/>
              <a:defRPr sz="1200" spc="0">
                <a:ln>
                  <a:solidFill>
                    <a:srgbClr val="3F4057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Freesentation 4 Regular" pitchFamily="2" charset="-127"/>
                <a:ea typeface="Freesentation 4 Regular" pitchFamily="2" charset="-127"/>
              </a:defRPr>
            </a:lvl1pPr>
          </a:lstStyle>
          <a:p>
            <a:pPr marL="144000" marR="0" lvl="0" indent="-1440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100"/>
              </a:spcAft>
              <a:buClr>
                <a:prstClr val="white">
                  <a:lumMod val="50000"/>
                </a:prst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ko-KR" altLang="en-US" sz="1600" dirty="0">
                <a:solidFill>
                  <a:srgbClr val="000000">
                    <a:lumMod val="65000"/>
                    <a:lumOff val="35000"/>
                  </a:srgbClr>
                </a:solidFill>
              </a:rPr>
              <a:t>니켈 기준</a:t>
            </a:r>
            <a:endParaRPr kumimoji="0" lang="ko-KR" altLang="en-US" sz="1600" b="0" i="0" u="none" strike="noStrike" kern="1200" cap="none" spc="0" normalizeH="0" baseline="0" noProof="0" dirty="0">
              <a:ln>
                <a:solidFill>
                  <a:srgbClr val="3F4057">
                    <a:alpha val="0"/>
                  </a:srgbClr>
                </a:solidFill>
              </a:ln>
              <a:solidFill>
                <a:schemeClr val="tx1"/>
              </a:solidFill>
              <a:effectLst/>
              <a:uLnTx/>
              <a:uFillTx/>
              <a:latin typeface="Freesentation 4 Regular" pitchFamily="2" charset="-127"/>
              <a:ea typeface="Freesentation 4 Regular" pitchFamily="2" charset="-127"/>
              <a:cs typeface="+mn-cs"/>
            </a:endParaRPr>
          </a:p>
        </p:txBody>
      </p:sp>
      <p:sp>
        <p:nvSpPr>
          <p:cNvPr id="14" name="Text 9"/>
          <p:cNvSpPr/>
          <p:nvPr/>
        </p:nvSpPr>
        <p:spPr>
          <a:xfrm>
            <a:off x="560439" y="5986659"/>
            <a:ext cx="11253019" cy="652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ko-KR" altLang="en-US" sz="1400" dirty="0">
                <a:solidFill>
                  <a:srgbClr val="565656"/>
                </a:solidFill>
                <a:latin typeface="Malgun Gothic" pitchFamily="34" charset="0"/>
                <a:ea typeface="Malgun Gothic" pitchFamily="34" charset="-122"/>
              </a:rPr>
              <a:t>과업</a:t>
            </a:r>
            <a:r>
              <a:rPr lang="en-US" altLang="ko-KR" sz="1400" dirty="0">
                <a:solidFill>
                  <a:srgbClr val="565656"/>
                </a:solidFill>
                <a:latin typeface="Malgun Gothic" pitchFamily="34" charset="0"/>
                <a:ea typeface="Malgun Gothic" pitchFamily="34" charset="-122"/>
              </a:rPr>
              <a:t>1</a:t>
            </a:r>
            <a:r>
              <a:rPr lang="ko-KR" altLang="en-US" sz="1400" dirty="0">
                <a:solidFill>
                  <a:srgbClr val="565656"/>
                </a:solidFill>
                <a:latin typeface="Malgun Gothic" pitchFamily="34" charset="0"/>
                <a:ea typeface="Malgun Gothic" pitchFamily="34" charset="-122"/>
              </a:rPr>
              <a:t>은 정형보다 비정형 의존도가 높아</a:t>
            </a:r>
            <a:r>
              <a:rPr lang="en-US" altLang="ko-KR" sz="1400" dirty="0">
                <a:solidFill>
                  <a:srgbClr val="565656"/>
                </a:solidFill>
                <a:latin typeface="Malgun Gothic" pitchFamily="34" charset="0"/>
                <a:ea typeface="Malgun Gothic" pitchFamily="34" charset="-122"/>
              </a:rPr>
              <a:t>, </a:t>
            </a:r>
            <a:r>
              <a:rPr lang="ko-KR" altLang="en-US" sz="1400" dirty="0">
                <a:solidFill>
                  <a:srgbClr val="565656"/>
                </a:solidFill>
                <a:latin typeface="Malgun Gothic" pitchFamily="34" charset="0"/>
                <a:ea typeface="Malgun Gothic" pitchFamily="34" charset="-122"/>
              </a:rPr>
              <a:t>정형 지표를 늘리기보다 비정형 보고서로 판정 기준을 고정하는 데 우선 집중하였다</a:t>
            </a:r>
            <a:r>
              <a:rPr lang="en-US" altLang="ko-KR" sz="1400" dirty="0">
                <a:solidFill>
                  <a:srgbClr val="565656"/>
                </a:solidFill>
                <a:latin typeface="Malgun Gothic" pitchFamily="34" charset="0"/>
                <a:ea typeface="Malgun Gothic" pitchFamily="34" charset="-122"/>
              </a:rPr>
              <a:t>. </a:t>
            </a:r>
            <a:r>
              <a:rPr lang="ko-KR" altLang="en-US" sz="1400" dirty="0">
                <a:solidFill>
                  <a:srgbClr val="565656"/>
                </a:solidFill>
                <a:latin typeface="Malgun Gothic" pitchFamily="34" charset="0"/>
                <a:ea typeface="Malgun Gothic" pitchFamily="34" charset="-122"/>
              </a:rPr>
              <a:t>주간광물동향은 주간 단위로 발간되고 단독으로도 타당한 판정이 나오므로</a:t>
            </a:r>
            <a:r>
              <a:rPr lang="en-US" altLang="ko-KR" sz="1400" dirty="0">
                <a:solidFill>
                  <a:srgbClr val="565656"/>
                </a:solidFill>
                <a:latin typeface="Malgun Gothic" pitchFamily="34" charset="0"/>
                <a:ea typeface="Malgun Gothic" pitchFamily="34" charset="-122"/>
              </a:rPr>
              <a:t>, </a:t>
            </a:r>
            <a:r>
              <a:rPr lang="ko-KR" altLang="en-US" sz="1400" dirty="0">
                <a:solidFill>
                  <a:srgbClr val="565656"/>
                </a:solidFill>
                <a:latin typeface="Malgun Gothic" pitchFamily="34" charset="0"/>
                <a:ea typeface="Malgun Gothic" pitchFamily="34" charset="-122"/>
              </a:rPr>
              <a:t>비정형은 </a:t>
            </a:r>
            <a:r>
              <a:rPr lang="ko-KR" altLang="en-US" sz="1400" dirty="0" err="1">
                <a:solidFill>
                  <a:srgbClr val="565656"/>
                </a:solidFill>
                <a:latin typeface="Malgun Gothic" pitchFamily="34" charset="0"/>
                <a:ea typeface="Malgun Gothic" pitchFamily="34" charset="-122"/>
              </a:rPr>
              <a:t>고시문</a:t>
            </a:r>
            <a:r>
              <a:rPr lang="ko-KR" altLang="en-US" sz="1400" dirty="0">
                <a:solidFill>
                  <a:srgbClr val="565656"/>
                </a:solidFill>
                <a:latin typeface="Malgun Gothic" pitchFamily="34" charset="0"/>
                <a:ea typeface="Malgun Gothic" pitchFamily="34" charset="-122"/>
              </a:rPr>
              <a:t> 등 추가 소스를 검토하고 정형 데이터는 추후 보완할 예정이다</a:t>
            </a:r>
            <a:r>
              <a:rPr lang="en-US" altLang="ko-KR" sz="1400" dirty="0">
                <a:solidFill>
                  <a:srgbClr val="565656"/>
                </a:solidFill>
                <a:latin typeface="Malgun Gothic" pitchFamily="34" charset="0"/>
                <a:ea typeface="Malgun Gothic" pitchFamily="34" charset="-122"/>
              </a:rPr>
              <a:t>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3515227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06005-13DD-F4F0-C12B-178805B4C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86964A6A-9C8B-4703-C8FA-FFA6799E58C0}"/>
              </a:ext>
            </a:extLst>
          </p:cNvPr>
          <p:cNvSpPr txBox="1"/>
          <p:nvPr/>
        </p:nvSpPr>
        <p:spPr>
          <a:xfrm>
            <a:off x="0" y="453187"/>
            <a:ext cx="30003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eesentation 5 Medium" pitchFamily="2" charset="-127"/>
                <a:ea typeface="Freesentation 5 Medium" pitchFamily="2" charset="-127"/>
                <a:cs typeface="Pretendard Light" panose="02000403000000020004" pitchFamily="50" charset="-127"/>
              </a:rPr>
              <a:t>과업별 세부 진행사항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eesentation 5 Medium" pitchFamily="2" charset="-127"/>
              <a:ea typeface="Freesentation 5 Medium" pitchFamily="2" charset="-127"/>
              <a:cs typeface="Pretendard Light" panose="02000403000000020004" pitchFamily="50" charset="-127"/>
            </a:endParaRPr>
          </a:p>
        </p:txBody>
      </p:sp>
      <p:sp>
        <p:nvSpPr>
          <p:cNvPr id="7" name="슬라이드 번호 개체 틀 1">
            <a:extLst>
              <a:ext uri="{FF2B5EF4-FFF2-40B4-BE49-F238E27FC236}">
                <a16:creationId xmlns:a16="http://schemas.microsoft.com/office/drawing/2014/main" id="{CBFF1D73-D4F1-7E9E-6FFD-996E4113B9F3}"/>
              </a:ext>
            </a:extLst>
          </p:cNvPr>
          <p:cNvSpPr txBox="1">
            <a:spLocks/>
          </p:cNvSpPr>
          <p:nvPr/>
        </p:nvSpPr>
        <p:spPr>
          <a:xfrm>
            <a:off x="9442493" y="6488255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10DBAC-22C5-4AD0-A416-546E7904AF50}" type="slidenum"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89D157-DB3E-86D6-1EF1-D7ACE5D3F568}"/>
              </a:ext>
            </a:extLst>
          </p:cNvPr>
          <p:cNvSpPr txBox="1"/>
          <p:nvPr/>
        </p:nvSpPr>
        <p:spPr>
          <a:xfrm>
            <a:off x="123891" y="991182"/>
            <a:ext cx="67110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2000" b="0" spc="0">
                <a:solidFill>
                  <a:srgbClr val="000000"/>
                </a:solidFill>
                <a:latin typeface="+mj-ea"/>
                <a:ea typeface="+mj-ea"/>
                <a:cs typeface="Pretendard SemiBold" panose="02000503000000020004" pitchFamily="2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latin typeface="프리젠테이션 7 Bold"/>
                <a:ea typeface="프리젠테이션 7 Bold"/>
              </a:rPr>
              <a:t>3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프리젠테이션 7 Bold"/>
                <a:ea typeface="프리젠테이션 7 Bold"/>
                <a:cs typeface="Pretendard SemiBold" panose="02000503000000020004" pitchFamily="2" charset="-127"/>
              </a:rPr>
              <a:t>.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프리젠테이션 7 Bold"/>
                <a:ea typeface="프리젠테이션 7 Bold"/>
                <a:cs typeface="Pretendard SemiBold" panose="02000503000000020004" pitchFamily="2" charset="-127"/>
              </a:rPr>
              <a:t>방법론 및 모델 선정 배경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75C638-9116-F0D1-73DF-7F7C5F4DEE56}"/>
              </a:ext>
            </a:extLst>
          </p:cNvPr>
          <p:cNvSpPr txBox="1"/>
          <p:nvPr/>
        </p:nvSpPr>
        <p:spPr>
          <a:xfrm>
            <a:off x="312123" y="1550850"/>
            <a:ext cx="863698" cy="26795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144000" indent="-144000" latinLnBrk="0">
              <a:lnSpc>
                <a:spcPct val="120000"/>
              </a:lnSpc>
              <a:spcBef>
                <a:spcPct val="0"/>
              </a:spcBef>
              <a:spcAft>
                <a:spcPts val="100"/>
              </a:spcAft>
              <a:buClr>
                <a:prstClr val="white">
                  <a:lumMod val="50000"/>
                </a:prstClr>
              </a:buClr>
              <a:buFont typeface="Wingdings" panose="05000000000000000000" pitchFamily="2" charset="2"/>
              <a:buChar char="§"/>
              <a:defRPr sz="1200" spc="0">
                <a:ln>
                  <a:solidFill>
                    <a:srgbClr val="3F4057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Freesentation 4 Regular" pitchFamily="2" charset="-127"/>
                <a:ea typeface="Freesentation 4 Regular" pitchFamily="2" charset="-127"/>
              </a:defRPr>
            </a:lvl1pPr>
          </a:lstStyle>
          <a:p>
            <a:pPr marL="144000" marR="0" lvl="0" indent="-1440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100"/>
              </a:spcAft>
              <a:buClr>
                <a:prstClr val="white">
                  <a:lumMod val="50000"/>
                </a:prst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ko-KR" altLang="en-US" sz="1600" dirty="0">
                <a:solidFill>
                  <a:srgbClr val="000000">
                    <a:lumMod val="65000"/>
                    <a:lumOff val="35000"/>
                  </a:srgbClr>
                </a:solidFill>
              </a:rPr>
              <a:t>방법론 </a:t>
            </a:r>
            <a:endParaRPr kumimoji="0" lang="ko-KR" altLang="en-US" sz="1600" b="0" i="0" u="none" strike="noStrike" kern="1200" cap="none" spc="0" normalizeH="0" baseline="0" noProof="0" dirty="0">
              <a:ln>
                <a:solidFill>
                  <a:srgbClr val="3F4057">
                    <a:alpha val="0"/>
                  </a:srgbClr>
                </a:solidFill>
              </a:ln>
              <a:solidFill>
                <a:schemeClr val="tx1"/>
              </a:solidFill>
              <a:effectLst/>
              <a:uLnTx/>
              <a:uFillTx/>
              <a:latin typeface="Freesentation 4 Regular" pitchFamily="2" charset="-127"/>
              <a:ea typeface="Freesentation 4 Regular" pitchFamily="2" charset="-127"/>
              <a:cs typeface="+mn-cs"/>
            </a:endParaRPr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5565" y="2397224"/>
            <a:ext cx="7551636" cy="3775818"/>
          </a:xfrm>
          <a:prstGeom prst="rect">
            <a:avLst/>
          </a:prstGeom>
        </p:spPr>
      </p:pic>
      <p:sp>
        <p:nvSpPr>
          <p:cNvPr id="19" name="Text 3"/>
          <p:cNvSpPr/>
          <p:nvPr/>
        </p:nvSpPr>
        <p:spPr>
          <a:xfrm>
            <a:off x="312123" y="1940024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8000"/>
              </a:lnSpc>
            </a:pPr>
            <a:r>
              <a:rPr lang="ko-KR" altLang="en-US" sz="1450" dirty="0">
                <a:solidFill>
                  <a:srgbClr val="565656"/>
                </a:solidFill>
                <a:latin typeface="Malgun Gothic" pitchFamily="34" charset="0"/>
                <a:ea typeface="Malgun Gothic" pitchFamily="34" charset="-122"/>
              </a:rPr>
              <a:t>과업 목적 </a:t>
            </a:r>
            <a:r>
              <a:rPr lang="en-US" altLang="ko-KR" sz="1450" dirty="0">
                <a:solidFill>
                  <a:srgbClr val="565656"/>
                </a:solidFill>
                <a:latin typeface="Malgun Gothic" pitchFamily="34" charset="0"/>
                <a:ea typeface="Malgun Gothic" pitchFamily="34" charset="-122"/>
              </a:rPr>
              <a:t>: 5</a:t>
            </a:r>
            <a:r>
              <a:rPr lang="ko-KR" altLang="en-US" sz="1450" dirty="0" err="1">
                <a:solidFill>
                  <a:srgbClr val="565656"/>
                </a:solidFill>
                <a:latin typeface="Malgun Gothic" pitchFamily="34" charset="0"/>
                <a:ea typeface="Malgun Gothic" pitchFamily="34" charset="-122"/>
              </a:rPr>
              <a:t>대광종에</a:t>
            </a:r>
            <a:r>
              <a:rPr lang="ko-KR" altLang="en-US" sz="1450" dirty="0">
                <a:solidFill>
                  <a:srgbClr val="565656"/>
                </a:solidFill>
                <a:latin typeface="Malgun Gothic" pitchFamily="34" charset="0"/>
                <a:ea typeface="Malgun Gothic" pitchFamily="34" charset="-122"/>
              </a:rPr>
              <a:t> 대한 주간 단위로 </a:t>
            </a:r>
            <a:r>
              <a:rPr lang="en-US" altLang="ko-KR" sz="1450" dirty="0">
                <a:solidFill>
                  <a:srgbClr val="565656"/>
                </a:solidFill>
                <a:latin typeface="Malgun Gothic" pitchFamily="34" charset="0"/>
                <a:ea typeface="Malgun Gothic" pitchFamily="34" charset="-122"/>
              </a:rPr>
              <a:t>5</a:t>
            </a:r>
            <a:r>
              <a:rPr lang="ko-KR" altLang="en-US" sz="1450" dirty="0">
                <a:solidFill>
                  <a:srgbClr val="565656"/>
                </a:solidFill>
                <a:latin typeface="Malgun Gothic" pitchFamily="34" charset="0"/>
                <a:ea typeface="Malgun Gothic" pitchFamily="34" charset="-122"/>
              </a:rPr>
              <a:t>단계 </a:t>
            </a:r>
            <a:r>
              <a:rPr lang="ko-KR" altLang="en-US" sz="1450" dirty="0" err="1">
                <a:solidFill>
                  <a:srgbClr val="565656"/>
                </a:solidFill>
                <a:latin typeface="Malgun Gothic" pitchFamily="34" charset="0"/>
                <a:ea typeface="Malgun Gothic" pitchFamily="34" charset="-122"/>
              </a:rPr>
              <a:t>수급위기</a:t>
            </a:r>
            <a:r>
              <a:rPr lang="ko-KR" altLang="en-US" sz="1450" dirty="0">
                <a:solidFill>
                  <a:srgbClr val="565656"/>
                </a:solidFill>
                <a:latin typeface="Malgun Gothic" pitchFamily="34" charset="0"/>
                <a:ea typeface="Malgun Gothic" pitchFamily="34" charset="-122"/>
              </a:rPr>
              <a:t> 진단 경보 수준을 산출</a:t>
            </a:r>
          </a:p>
        </p:txBody>
      </p:sp>
      <p:sp>
        <p:nvSpPr>
          <p:cNvPr id="8" name="Text 9"/>
          <p:cNvSpPr/>
          <p:nvPr/>
        </p:nvSpPr>
        <p:spPr>
          <a:xfrm>
            <a:off x="560439" y="5835924"/>
            <a:ext cx="11253019" cy="652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ko-KR" altLang="en-US" sz="1400" dirty="0"/>
              <a:t>위기 발령 기준이 정형 데이터와 비정형 정보의 결합을 기반으로 한다는 점에 착안하여</a:t>
            </a:r>
            <a:r>
              <a:rPr lang="en-US" altLang="ko-KR" sz="1400" dirty="0"/>
              <a:t>, </a:t>
            </a:r>
            <a:r>
              <a:rPr lang="ko-KR" altLang="en-US" sz="1400" dirty="0"/>
              <a:t>이를 반영한 현재의 위기 진단 파이프라인을 개발함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36664604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06005-13DD-F4F0-C12B-178805B4C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86964A6A-9C8B-4703-C8FA-FFA6799E58C0}"/>
              </a:ext>
            </a:extLst>
          </p:cNvPr>
          <p:cNvSpPr txBox="1"/>
          <p:nvPr/>
        </p:nvSpPr>
        <p:spPr>
          <a:xfrm>
            <a:off x="0" y="453187"/>
            <a:ext cx="30003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eesentation 5 Medium" pitchFamily="2" charset="-127"/>
                <a:ea typeface="Freesentation 5 Medium" pitchFamily="2" charset="-127"/>
                <a:cs typeface="Pretendard Light" panose="02000403000000020004" pitchFamily="50" charset="-127"/>
              </a:rPr>
              <a:t>과업별 세부 진행사항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eesentation 5 Medium" pitchFamily="2" charset="-127"/>
              <a:ea typeface="Freesentation 5 Medium" pitchFamily="2" charset="-127"/>
              <a:cs typeface="Pretendard Light" panose="02000403000000020004" pitchFamily="50" charset="-127"/>
            </a:endParaRPr>
          </a:p>
        </p:txBody>
      </p:sp>
      <p:sp>
        <p:nvSpPr>
          <p:cNvPr id="7" name="슬라이드 번호 개체 틀 1">
            <a:extLst>
              <a:ext uri="{FF2B5EF4-FFF2-40B4-BE49-F238E27FC236}">
                <a16:creationId xmlns:a16="http://schemas.microsoft.com/office/drawing/2014/main" id="{CBFF1D73-D4F1-7E9E-6FFD-996E4113B9F3}"/>
              </a:ext>
            </a:extLst>
          </p:cNvPr>
          <p:cNvSpPr txBox="1">
            <a:spLocks/>
          </p:cNvSpPr>
          <p:nvPr/>
        </p:nvSpPr>
        <p:spPr>
          <a:xfrm>
            <a:off x="9442493" y="6488255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10DBAC-22C5-4AD0-A416-546E7904AF50}" type="slidenum"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89D157-DB3E-86D6-1EF1-D7ACE5D3F568}"/>
              </a:ext>
            </a:extLst>
          </p:cNvPr>
          <p:cNvSpPr txBox="1"/>
          <p:nvPr/>
        </p:nvSpPr>
        <p:spPr>
          <a:xfrm>
            <a:off x="123891" y="991182"/>
            <a:ext cx="67110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2000" b="0" spc="0">
                <a:solidFill>
                  <a:srgbClr val="000000"/>
                </a:solidFill>
                <a:latin typeface="+mj-ea"/>
                <a:ea typeface="+mj-ea"/>
                <a:cs typeface="Pretendard SemiBold" panose="02000503000000020004" pitchFamily="2" charset="-127"/>
              </a:defRPr>
            </a:lvl1pPr>
          </a:lstStyle>
          <a:p>
            <a:pPr lvl="0">
              <a:defRPr/>
            </a:pPr>
            <a:r>
              <a:rPr lang="en-US" altLang="ko-KR" dirty="0">
                <a:latin typeface="프리젠테이션 7 Bold"/>
                <a:ea typeface="프리젠테이션 7 Bold"/>
              </a:rPr>
              <a:t>3. </a:t>
            </a:r>
            <a:r>
              <a:rPr lang="ko-KR" altLang="en-US" dirty="0">
                <a:latin typeface="프리젠테이션 7 Bold"/>
                <a:ea typeface="프리젠테이션 7 Bold"/>
              </a:rPr>
              <a:t>방법론 및 모델 선정 배경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75C638-9116-F0D1-73DF-7F7C5F4DEE56}"/>
              </a:ext>
            </a:extLst>
          </p:cNvPr>
          <p:cNvSpPr txBox="1"/>
          <p:nvPr/>
        </p:nvSpPr>
        <p:spPr>
          <a:xfrm>
            <a:off x="312123" y="1550850"/>
            <a:ext cx="1787028" cy="2954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144000" indent="-144000" latinLnBrk="0">
              <a:lnSpc>
                <a:spcPct val="120000"/>
              </a:lnSpc>
              <a:spcBef>
                <a:spcPct val="0"/>
              </a:spcBef>
              <a:spcAft>
                <a:spcPts val="100"/>
              </a:spcAft>
              <a:buClr>
                <a:prstClr val="white">
                  <a:lumMod val="50000"/>
                </a:prstClr>
              </a:buClr>
              <a:buFont typeface="Wingdings" panose="05000000000000000000" pitchFamily="2" charset="2"/>
              <a:buChar char="§"/>
              <a:defRPr sz="1200" spc="0">
                <a:ln>
                  <a:solidFill>
                    <a:srgbClr val="3F4057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Freesentation 4 Regular" pitchFamily="2" charset="-127"/>
                <a:ea typeface="Freesentation 4 Regular" pitchFamily="2" charset="-127"/>
              </a:defRPr>
            </a:lvl1pPr>
          </a:lstStyle>
          <a:p>
            <a:pPr marL="144000" marR="0" lvl="0" indent="-1440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100"/>
              </a:spcAft>
              <a:buClr>
                <a:prstClr val="white">
                  <a:lumMod val="50000"/>
                </a:prst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ko-KR" altLang="en-US" sz="1600" dirty="0">
                <a:solidFill>
                  <a:srgbClr val="000000">
                    <a:lumMod val="65000"/>
                    <a:lumOff val="35000"/>
                  </a:srgbClr>
                </a:solidFill>
              </a:rPr>
              <a:t>방법론 구성 이유</a:t>
            </a:r>
            <a:endParaRPr kumimoji="0" lang="ko-KR" altLang="en-US" sz="1600" b="0" i="0" u="none" strike="noStrike" kern="1200" cap="none" spc="0" normalizeH="0" baseline="0" noProof="0" dirty="0">
              <a:ln>
                <a:solidFill>
                  <a:srgbClr val="3F4057">
                    <a:alpha val="0"/>
                  </a:srgbClr>
                </a:solidFill>
              </a:ln>
              <a:solidFill>
                <a:schemeClr val="tx1"/>
              </a:solidFill>
              <a:effectLst/>
              <a:uLnTx/>
              <a:uFillTx/>
              <a:latin typeface="Freesentation 4 Regular" pitchFamily="2" charset="-127"/>
              <a:ea typeface="Freesentation 4 Regular" pitchFamily="2" charset="-127"/>
              <a:cs typeface="+mn-cs"/>
            </a:endParaRPr>
          </a:p>
        </p:txBody>
      </p:sp>
      <p:grpSp>
        <p:nvGrpSpPr>
          <p:cNvPr id="12" name="그룹 11"/>
          <p:cNvGrpSpPr/>
          <p:nvPr/>
        </p:nvGrpSpPr>
        <p:grpSpPr>
          <a:xfrm>
            <a:off x="504908" y="2152935"/>
            <a:ext cx="5889851" cy="2666488"/>
            <a:chOff x="576072" y="2340864"/>
            <a:chExt cx="6025896" cy="2616413"/>
          </a:xfrm>
        </p:grpSpPr>
        <p:sp>
          <p:nvSpPr>
            <p:cNvPr id="16" name="Shape 4"/>
            <p:cNvSpPr/>
            <p:nvPr/>
          </p:nvSpPr>
          <p:spPr>
            <a:xfrm>
              <a:off x="576072" y="2441448"/>
              <a:ext cx="118872" cy="118872"/>
            </a:xfrm>
            <a:prstGeom prst="rect">
              <a:avLst/>
            </a:prstGeom>
            <a:solidFill>
              <a:srgbClr val="1A1A1A"/>
            </a:solidFill>
            <a:ln/>
          </p:spPr>
        </p:sp>
        <p:sp>
          <p:nvSpPr>
            <p:cNvPr id="17" name="Text 5"/>
            <p:cNvSpPr/>
            <p:nvPr/>
          </p:nvSpPr>
          <p:spPr>
            <a:xfrm>
              <a:off x="859536" y="2340864"/>
              <a:ext cx="5742432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700" b="1" dirty="0">
                  <a:solidFill>
                    <a:srgbClr val="1A1A1A"/>
                  </a:solidFill>
                  <a:latin typeface="Malgun Gothic" pitchFamily="34" charset="0"/>
                  <a:ea typeface="Malgun Gothic" pitchFamily="34" charset="-122"/>
                </a:rPr>
                <a:t>발령 기준 </a:t>
              </a:r>
              <a:endParaRPr lang="en-US" sz="1700" dirty="0"/>
            </a:p>
          </p:txBody>
        </p:sp>
        <p:sp>
          <p:nvSpPr>
            <p:cNvPr id="18" name="Text 6"/>
            <p:cNvSpPr/>
            <p:nvPr/>
          </p:nvSpPr>
          <p:spPr>
            <a:xfrm>
              <a:off x="859536" y="2871724"/>
              <a:ext cx="5742432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ko-KR" altLang="en-US" sz="1400" dirty="0">
                  <a:solidFill>
                    <a:srgbClr val="565656"/>
                  </a:solidFill>
                  <a:latin typeface="Malgun Gothic" pitchFamily="34" charset="0"/>
                  <a:ea typeface="Malgun Gothic" pitchFamily="34" charset="-122"/>
                </a:rPr>
                <a:t>현재 발령 기준은 </a:t>
              </a:r>
              <a:r>
                <a:rPr lang="ko-KR" altLang="en-US" sz="1400" b="1" dirty="0">
                  <a:solidFill>
                    <a:srgbClr val="565656"/>
                  </a:solidFill>
                  <a:latin typeface="Malgun Gothic" pitchFamily="34" charset="0"/>
                  <a:ea typeface="Malgun Gothic" pitchFamily="34" charset="-122"/>
                </a:rPr>
                <a:t>정형</a:t>
              </a:r>
              <a:r>
                <a:rPr lang="en-US" altLang="ko-KR" sz="1400" b="1" dirty="0">
                  <a:solidFill>
                    <a:srgbClr val="565656"/>
                  </a:solidFill>
                  <a:latin typeface="Malgun Gothic" pitchFamily="34" charset="0"/>
                  <a:ea typeface="Malgun Gothic" pitchFamily="34" charset="-122"/>
                </a:rPr>
                <a:t>(</a:t>
              </a:r>
              <a:r>
                <a:rPr lang="ko-KR" altLang="en-US" sz="1400" b="1" dirty="0">
                  <a:solidFill>
                    <a:srgbClr val="565656"/>
                  </a:solidFill>
                  <a:latin typeface="Malgun Gothic" pitchFamily="34" charset="0"/>
                  <a:ea typeface="Malgun Gothic" pitchFamily="34" charset="-122"/>
                </a:rPr>
                <a:t>가격 변동성</a:t>
              </a:r>
              <a:r>
                <a:rPr lang="en-US" altLang="ko-KR" sz="1400" b="1" dirty="0">
                  <a:solidFill>
                    <a:srgbClr val="565656"/>
                  </a:solidFill>
                  <a:latin typeface="Malgun Gothic" pitchFamily="34" charset="0"/>
                  <a:ea typeface="Malgun Gothic" pitchFamily="34" charset="-122"/>
                </a:rPr>
                <a:t>)</a:t>
              </a:r>
              <a:r>
                <a:rPr lang="ko-KR" altLang="en-US" sz="1400" dirty="0">
                  <a:solidFill>
                    <a:srgbClr val="565656"/>
                  </a:solidFill>
                  <a:latin typeface="Malgun Gothic" pitchFamily="34" charset="0"/>
                  <a:ea typeface="Malgun Gothic" pitchFamily="34" charset="-122"/>
                </a:rPr>
                <a:t>과 </a:t>
              </a:r>
              <a:r>
                <a:rPr lang="ko-KR" altLang="en-US" sz="1400" b="1" dirty="0">
                  <a:solidFill>
                    <a:srgbClr val="565656"/>
                  </a:solidFill>
                  <a:latin typeface="Malgun Gothic" pitchFamily="34" charset="0"/>
                  <a:ea typeface="Malgun Gothic" pitchFamily="34" charset="-122"/>
                </a:rPr>
                <a:t>비정형</a:t>
              </a:r>
              <a:r>
                <a:rPr lang="en-US" altLang="ko-KR" sz="1400" b="1" dirty="0">
                  <a:solidFill>
                    <a:srgbClr val="565656"/>
                  </a:solidFill>
                  <a:latin typeface="Malgun Gothic" pitchFamily="34" charset="0"/>
                  <a:ea typeface="Malgun Gothic" pitchFamily="34" charset="-122"/>
                </a:rPr>
                <a:t>(</a:t>
              </a:r>
              <a:r>
                <a:rPr lang="ko-KR" altLang="en-US" sz="1400" b="1" dirty="0">
                  <a:solidFill>
                    <a:srgbClr val="565656"/>
                  </a:solidFill>
                  <a:latin typeface="Malgun Gothic" pitchFamily="34" charset="0"/>
                  <a:ea typeface="Malgun Gothic" pitchFamily="34" charset="-122"/>
                </a:rPr>
                <a:t>정세</a:t>
              </a:r>
              <a:r>
                <a:rPr lang="en-US" altLang="ko-KR" sz="1400" b="1" dirty="0">
                  <a:solidFill>
                    <a:srgbClr val="565656"/>
                  </a:solidFill>
                  <a:latin typeface="Malgun Gothic" pitchFamily="34" charset="0"/>
                  <a:ea typeface="Malgun Gothic" pitchFamily="34" charset="-122"/>
                </a:rPr>
                <a:t>·</a:t>
              </a:r>
              <a:r>
                <a:rPr lang="ko-KR" altLang="en-US" sz="1400" b="1" dirty="0">
                  <a:solidFill>
                    <a:srgbClr val="565656"/>
                  </a:solidFill>
                  <a:latin typeface="Malgun Gothic" pitchFamily="34" charset="0"/>
                  <a:ea typeface="Malgun Gothic" pitchFamily="34" charset="-122"/>
                </a:rPr>
                <a:t>시설</a:t>
              </a:r>
              <a:r>
                <a:rPr lang="en-US" altLang="ko-KR" sz="1400" b="1" dirty="0">
                  <a:solidFill>
                    <a:srgbClr val="565656"/>
                  </a:solidFill>
                  <a:latin typeface="Malgun Gothic" pitchFamily="34" charset="0"/>
                  <a:ea typeface="Malgun Gothic" pitchFamily="34" charset="-122"/>
                </a:rPr>
                <a:t>·</a:t>
              </a:r>
              <a:r>
                <a:rPr lang="ko-KR" altLang="en-US" sz="1400" b="1" dirty="0">
                  <a:solidFill>
                    <a:srgbClr val="565656"/>
                  </a:solidFill>
                  <a:latin typeface="Malgun Gothic" pitchFamily="34" charset="0"/>
                  <a:ea typeface="Malgun Gothic" pitchFamily="34" charset="-122"/>
                </a:rPr>
                <a:t>수송</a:t>
              </a:r>
              <a:r>
                <a:rPr lang="en-US" altLang="ko-KR" sz="1400" b="1" dirty="0">
                  <a:solidFill>
                    <a:srgbClr val="565656"/>
                  </a:solidFill>
                  <a:latin typeface="Malgun Gothic" pitchFamily="34" charset="0"/>
                  <a:ea typeface="Malgun Gothic" pitchFamily="34" charset="-122"/>
                </a:rPr>
                <a:t>)</a:t>
              </a:r>
              <a:r>
                <a:rPr lang="ko-KR" altLang="en-US" sz="1400" dirty="0">
                  <a:solidFill>
                    <a:srgbClr val="565656"/>
                  </a:solidFill>
                  <a:latin typeface="Malgun Gothic" pitchFamily="34" charset="0"/>
                  <a:ea typeface="Malgun Gothic" pitchFamily="34" charset="-122"/>
                </a:rPr>
                <a:t>의 조합으로 규정되어 있다</a:t>
              </a:r>
              <a:r>
                <a:rPr lang="en-US" altLang="ko-KR" sz="1400" dirty="0">
                  <a:solidFill>
                    <a:srgbClr val="565656"/>
                  </a:solidFill>
                  <a:latin typeface="Malgun Gothic" pitchFamily="34" charset="0"/>
                  <a:ea typeface="Malgun Gothic" pitchFamily="34" charset="-122"/>
                </a:rPr>
                <a:t>.</a:t>
              </a:r>
              <a:endParaRPr lang="en-US" altLang="ko-KR" sz="1400" dirty="0"/>
            </a:p>
          </p:txBody>
        </p:sp>
        <p:sp>
          <p:nvSpPr>
            <p:cNvPr id="19" name="Shape 7"/>
            <p:cNvSpPr/>
            <p:nvPr/>
          </p:nvSpPr>
          <p:spPr>
            <a:xfrm>
              <a:off x="583329" y="3621556"/>
              <a:ext cx="118872" cy="118872"/>
            </a:xfrm>
            <a:prstGeom prst="rect">
              <a:avLst/>
            </a:prstGeom>
            <a:solidFill>
              <a:srgbClr val="1A1A1A"/>
            </a:solidFill>
            <a:ln/>
          </p:spPr>
        </p:sp>
        <p:sp>
          <p:nvSpPr>
            <p:cNvPr id="20" name="Text 8"/>
            <p:cNvSpPr/>
            <p:nvPr/>
          </p:nvSpPr>
          <p:spPr>
            <a:xfrm>
              <a:off x="859534" y="3535565"/>
              <a:ext cx="5742432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700" b="1" dirty="0"/>
                <a:t>방법론 구성</a:t>
              </a:r>
              <a:endParaRPr lang="en-US" altLang="ko-KR" sz="1700" b="1" dirty="0"/>
            </a:p>
          </p:txBody>
        </p:sp>
        <p:sp>
          <p:nvSpPr>
            <p:cNvPr id="21" name="Text 9"/>
            <p:cNvSpPr/>
            <p:nvPr/>
          </p:nvSpPr>
          <p:spPr>
            <a:xfrm>
              <a:off x="859533" y="4317197"/>
              <a:ext cx="5742432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ko-KR" altLang="en-US" sz="1400" dirty="0">
                  <a:solidFill>
                    <a:srgbClr val="565656"/>
                  </a:solidFill>
                  <a:latin typeface="Malgun Gothic" pitchFamily="34" charset="0"/>
                  <a:ea typeface="Malgun Gothic" pitchFamily="34" charset="-122"/>
                </a:rPr>
                <a:t>현재 위기 판단의 정답 데이터가 없고 서술형 </a:t>
              </a:r>
              <a:r>
                <a:rPr lang="ko-KR" altLang="en-US" sz="1400" dirty="0" err="1">
                  <a:solidFill>
                    <a:srgbClr val="565656"/>
                  </a:solidFill>
                  <a:latin typeface="Malgun Gothic" pitchFamily="34" charset="0"/>
                  <a:ea typeface="Malgun Gothic" pitchFamily="34" charset="-122"/>
                </a:rPr>
                <a:t>발령기준만</a:t>
              </a:r>
              <a:r>
                <a:rPr lang="ko-KR" altLang="en-US" sz="1400" dirty="0">
                  <a:solidFill>
                    <a:srgbClr val="565656"/>
                  </a:solidFill>
                  <a:latin typeface="Malgun Gothic" pitchFamily="34" charset="0"/>
                  <a:ea typeface="Malgun Gothic" pitchFamily="34" charset="-122"/>
                </a:rPr>
                <a:t> 존재하므로</a:t>
              </a:r>
              <a:r>
                <a:rPr lang="en-US" altLang="ko-KR" sz="1400" dirty="0">
                  <a:solidFill>
                    <a:srgbClr val="565656"/>
                  </a:solidFill>
                  <a:latin typeface="Malgun Gothic" pitchFamily="34" charset="0"/>
                  <a:ea typeface="Malgun Gothic" pitchFamily="34" charset="-122"/>
                </a:rPr>
                <a:t>, </a:t>
              </a:r>
              <a:r>
                <a:rPr lang="ko-KR" altLang="en-US" sz="1400" dirty="0" err="1">
                  <a:solidFill>
                    <a:srgbClr val="565656"/>
                  </a:solidFill>
                  <a:latin typeface="Malgun Gothic" pitchFamily="34" charset="0"/>
                  <a:ea typeface="Malgun Gothic" pitchFamily="34" charset="-122"/>
                </a:rPr>
                <a:t>지도학습</a:t>
              </a:r>
              <a:r>
                <a:rPr lang="ko-KR" altLang="en-US" sz="1400" dirty="0">
                  <a:solidFill>
                    <a:srgbClr val="565656"/>
                  </a:solidFill>
                  <a:latin typeface="Malgun Gothic" pitchFamily="34" charset="0"/>
                  <a:ea typeface="Malgun Gothic" pitchFamily="34" charset="-122"/>
                </a:rPr>
                <a:t> 기반의 별도 모델을 개발할 수 없다</a:t>
              </a:r>
              <a:r>
                <a:rPr lang="en-US" altLang="ko-KR" sz="1400" dirty="0">
                  <a:solidFill>
                    <a:srgbClr val="565656"/>
                  </a:solidFill>
                  <a:latin typeface="Malgun Gothic" pitchFamily="34" charset="0"/>
                  <a:ea typeface="Malgun Gothic" pitchFamily="34" charset="-122"/>
                </a:rPr>
                <a:t>. </a:t>
              </a:r>
              <a:r>
                <a:rPr lang="ko-KR" altLang="en-US" sz="1400" dirty="0">
                  <a:solidFill>
                    <a:srgbClr val="565656"/>
                  </a:solidFill>
                  <a:latin typeface="Malgun Gothic" pitchFamily="34" charset="0"/>
                  <a:ea typeface="Malgun Gothic" pitchFamily="34" charset="-122"/>
                </a:rPr>
                <a:t>또한 </a:t>
              </a:r>
              <a:r>
                <a:rPr lang="ko-KR" altLang="en-US" sz="1400" dirty="0" err="1">
                  <a:solidFill>
                    <a:srgbClr val="565656"/>
                  </a:solidFill>
                  <a:latin typeface="Malgun Gothic" pitchFamily="34" charset="0"/>
                  <a:ea typeface="Malgun Gothic" pitchFamily="34" charset="-122"/>
                </a:rPr>
                <a:t>발령기준</a:t>
              </a:r>
              <a:r>
                <a:rPr lang="ko-KR" altLang="en-US" sz="1400" dirty="0">
                  <a:solidFill>
                    <a:srgbClr val="565656"/>
                  </a:solidFill>
                  <a:latin typeface="Malgun Gothic" pitchFamily="34" charset="0"/>
                  <a:ea typeface="Malgun Gothic" pitchFamily="34" charset="-122"/>
                </a:rPr>
                <a:t> </a:t>
              </a:r>
              <a:r>
                <a:rPr lang="en-US" altLang="ko-KR" sz="1400" dirty="0">
                  <a:solidFill>
                    <a:srgbClr val="565656"/>
                  </a:solidFill>
                  <a:latin typeface="Malgun Gothic" pitchFamily="34" charset="0"/>
                  <a:ea typeface="Malgun Gothic" pitchFamily="34" charset="-122"/>
                </a:rPr>
                <a:t>3</a:t>
              </a:r>
              <a:r>
                <a:rPr lang="ko-KR" altLang="en-US" sz="1400" dirty="0">
                  <a:solidFill>
                    <a:srgbClr val="565656"/>
                  </a:solidFill>
                  <a:latin typeface="Malgun Gothic" pitchFamily="34" charset="0"/>
                  <a:ea typeface="Malgun Gothic" pitchFamily="34" charset="-122"/>
                </a:rPr>
                <a:t>조건 중 ①생산국 정세</a:t>
              </a:r>
              <a:r>
                <a:rPr lang="en-US" altLang="ko-KR" sz="1400" dirty="0">
                  <a:solidFill>
                    <a:srgbClr val="565656"/>
                  </a:solidFill>
                  <a:latin typeface="Malgun Gothic" pitchFamily="34" charset="0"/>
                  <a:ea typeface="Malgun Gothic" pitchFamily="34" charset="-122"/>
                </a:rPr>
                <a:t>·②</a:t>
              </a:r>
              <a:r>
                <a:rPr lang="ko-KR" altLang="en-US" sz="1400" dirty="0">
                  <a:solidFill>
                    <a:srgbClr val="565656"/>
                  </a:solidFill>
                  <a:latin typeface="Malgun Gothic" pitchFamily="34" charset="0"/>
                  <a:ea typeface="Malgun Gothic" pitchFamily="34" charset="-122"/>
                </a:rPr>
                <a:t>시설</a:t>
              </a:r>
              <a:r>
                <a:rPr lang="en-US" altLang="ko-KR" sz="1400" dirty="0">
                  <a:solidFill>
                    <a:srgbClr val="565656"/>
                  </a:solidFill>
                  <a:latin typeface="Malgun Gothic" pitchFamily="34" charset="0"/>
                  <a:ea typeface="Malgun Gothic" pitchFamily="34" charset="-122"/>
                </a:rPr>
                <a:t>·</a:t>
              </a:r>
              <a:r>
                <a:rPr lang="ko-KR" altLang="en-US" sz="1400" dirty="0">
                  <a:solidFill>
                    <a:srgbClr val="565656"/>
                  </a:solidFill>
                  <a:latin typeface="Malgun Gothic" pitchFamily="34" charset="0"/>
                  <a:ea typeface="Malgun Gothic" pitchFamily="34" charset="-122"/>
                </a:rPr>
                <a:t>수송은 사건의 발생 여부를 묻는 비정형 영역이고 ③가격 변동성만 정형 지표로 다룰 수 있어</a:t>
              </a:r>
              <a:r>
                <a:rPr lang="en-US" altLang="ko-KR" sz="1400" dirty="0">
                  <a:solidFill>
                    <a:srgbClr val="565656"/>
                  </a:solidFill>
                  <a:latin typeface="Malgun Gothic" pitchFamily="34" charset="0"/>
                  <a:ea typeface="Malgun Gothic" pitchFamily="34" charset="-122"/>
                </a:rPr>
                <a:t>, </a:t>
              </a:r>
              <a:r>
                <a:rPr lang="ko-KR" altLang="en-US" sz="1400" dirty="0">
                  <a:solidFill>
                    <a:srgbClr val="565656"/>
                  </a:solidFill>
                  <a:latin typeface="Malgun Gothic" pitchFamily="34" charset="0"/>
                  <a:ea typeface="Malgun Gothic" pitchFamily="34" charset="-122"/>
                </a:rPr>
                <a:t>정형 정보만으로는 판정이 성립하지 않는다</a:t>
              </a:r>
              <a:r>
                <a:rPr lang="en-US" altLang="ko-KR" sz="1400" dirty="0">
                  <a:solidFill>
                    <a:srgbClr val="565656"/>
                  </a:solidFill>
                  <a:latin typeface="Malgun Gothic" pitchFamily="34" charset="0"/>
                  <a:ea typeface="Malgun Gothic" pitchFamily="34" charset="-122"/>
                </a:rPr>
                <a:t>. </a:t>
              </a:r>
              <a:r>
                <a:rPr lang="ko-KR" altLang="en-US" sz="1400" dirty="0">
                  <a:solidFill>
                    <a:srgbClr val="565656"/>
                  </a:solidFill>
                  <a:latin typeface="Malgun Gothic" pitchFamily="34" charset="0"/>
                  <a:ea typeface="Malgun Gothic" pitchFamily="34" charset="-122"/>
                </a:rPr>
                <a:t>따라서 정형</a:t>
              </a:r>
              <a:r>
                <a:rPr lang="en-US" altLang="ko-KR" sz="1400" dirty="0">
                  <a:solidFill>
                    <a:srgbClr val="565656"/>
                  </a:solidFill>
                  <a:latin typeface="Malgun Gothic" pitchFamily="34" charset="0"/>
                  <a:ea typeface="Malgun Gothic" pitchFamily="34" charset="-122"/>
                </a:rPr>
                <a:t>·</a:t>
              </a:r>
              <a:r>
                <a:rPr lang="ko-KR" altLang="en-US" sz="1400" dirty="0">
                  <a:solidFill>
                    <a:srgbClr val="565656"/>
                  </a:solidFill>
                  <a:latin typeface="Malgun Gothic" pitchFamily="34" charset="0"/>
                  <a:ea typeface="Malgun Gothic" pitchFamily="34" charset="-122"/>
                </a:rPr>
                <a:t>비정형을 함께 </a:t>
              </a:r>
              <a:r>
                <a:rPr lang="ko-KR" altLang="en-US" sz="1400" dirty="0" err="1">
                  <a:solidFill>
                    <a:srgbClr val="565656"/>
                  </a:solidFill>
                  <a:latin typeface="Malgun Gothic" pitchFamily="34" charset="0"/>
                  <a:ea typeface="Malgun Gothic" pitchFamily="34" charset="-122"/>
                </a:rPr>
                <a:t>입력받아</a:t>
              </a:r>
              <a:r>
                <a:rPr lang="ko-KR" altLang="en-US" sz="1400" dirty="0">
                  <a:solidFill>
                    <a:srgbClr val="565656"/>
                  </a:solidFill>
                  <a:latin typeface="Malgun Gothic" pitchFamily="34" charset="0"/>
                  <a:ea typeface="Malgun Gothic" pitchFamily="34" charset="-122"/>
                </a:rPr>
                <a:t> 서술형 기준에 대응해 판단하는 </a:t>
              </a:r>
              <a:r>
                <a:rPr lang="en-US" altLang="ko-KR" sz="1400" dirty="0">
                  <a:solidFill>
                    <a:srgbClr val="565656"/>
                  </a:solidFill>
                  <a:latin typeface="Malgun Gothic" pitchFamily="34" charset="0"/>
                  <a:ea typeface="Malgun Gothic" pitchFamily="34" charset="-122"/>
                </a:rPr>
                <a:t>LLM </a:t>
              </a:r>
              <a:r>
                <a:rPr lang="ko-KR" altLang="en-US" sz="1400" dirty="0">
                  <a:solidFill>
                    <a:srgbClr val="565656"/>
                  </a:solidFill>
                  <a:latin typeface="Malgun Gothic" pitchFamily="34" charset="0"/>
                  <a:ea typeface="Malgun Gothic" pitchFamily="34" charset="-122"/>
                </a:rPr>
                <a:t>기반 구조가 적합하다</a:t>
              </a:r>
              <a:r>
                <a:rPr lang="en-US" altLang="ko-KR" sz="1400" dirty="0">
                  <a:solidFill>
                    <a:srgbClr val="565656"/>
                  </a:solidFill>
                  <a:latin typeface="Malgun Gothic" pitchFamily="34" charset="0"/>
                  <a:ea typeface="Malgun Gothic" pitchFamily="34" charset="-122"/>
                </a:rPr>
                <a:t>.</a:t>
              </a:r>
            </a:p>
          </p:txBody>
        </p:sp>
      </p:grpSp>
      <p:pic>
        <p:nvPicPr>
          <p:cNvPr id="22" name="그림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1068" y="1191237"/>
            <a:ext cx="3768411" cy="5098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933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06005-13DD-F4F0-C12B-178805B4C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86964A6A-9C8B-4703-C8FA-FFA6799E58C0}"/>
              </a:ext>
            </a:extLst>
          </p:cNvPr>
          <p:cNvSpPr txBox="1"/>
          <p:nvPr/>
        </p:nvSpPr>
        <p:spPr>
          <a:xfrm>
            <a:off x="0" y="453187"/>
            <a:ext cx="30003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eesentation 5 Medium" pitchFamily="2" charset="-127"/>
                <a:ea typeface="Freesentation 5 Medium" pitchFamily="2" charset="-127"/>
                <a:cs typeface="Pretendard Light" panose="02000403000000020004" pitchFamily="50" charset="-127"/>
              </a:rPr>
              <a:t>과업별 세부 진행사항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eesentation 5 Medium" pitchFamily="2" charset="-127"/>
              <a:ea typeface="Freesentation 5 Medium" pitchFamily="2" charset="-127"/>
              <a:cs typeface="Pretendard Light" panose="02000403000000020004" pitchFamily="50" charset="-127"/>
            </a:endParaRPr>
          </a:p>
        </p:txBody>
      </p:sp>
      <p:sp>
        <p:nvSpPr>
          <p:cNvPr id="7" name="슬라이드 번호 개체 틀 1">
            <a:extLst>
              <a:ext uri="{FF2B5EF4-FFF2-40B4-BE49-F238E27FC236}">
                <a16:creationId xmlns:a16="http://schemas.microsoft.com/office/drawing/2014/main" id="{CBFF1D73-D4F1-7E9E-6FFD-996E4113B9F3}"/>
              </a:ext>
            </a:extLst>
          </p:cNvPr>
          <p:cNvSpPr txBox="1">
            <a:spLocks/>
          </p:cNvSpPr>
          <p:nvPr/>
        </p:nvSpPr>
        <p:spPr>
          <a:xfrm>
            <a:off x="9442493" y="6488255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10DBAC-22C5-4AD0-A416-546E7904AF50}" type="slidenum"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89D157-DB3E-86D6-1EF1-D7ACE5D3F568}"/>
              </a:ext>
            </a:extLst>
          </p:cNvPr>
          <p:cNvSpPr txBox="1"/>
          <p:nvPr/>
        </p:nvSpPr>
        <p:spPr>
          <a:xfrm>
            <a:off x="123891" y="991182"/>
            <a:ext cx="67110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2000" b="0" spc="0">
                <a:solidFill>
                  <a:srgbClr val="000000"/>
                </a:solidFill>
                <a:latin typeface="+mj-ea"/>
                <a:ea typeface="+mj-ea"/>
                <a:cs typeface="Pretendard SemiBold" panose="02000503000000020004" pitchFamily="2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latin typeface="프리젠테이션 7 Bold"/>
                <a:ea typeface="프리젠테이션 7 Bold"/>
              </a:rPr>
              <a:t>3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프리젠테이션 7 Bold"/>
                <a:ea typeface="프리젠테이션 7 Bold"/>
                <a:cs typeface="Pretendard SemiBold" panose="02000503000000020004" pitchFamily="2" charset="-127"/>
              </a:rPr>
              <a:t>.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프리젠테이션 7 Bold"/>
                <a:ea typeface="프리젠테이션 7 Bold"/>
                <a:cs typeface="Pretendard SemiBold" panose="02000503000000020004" pitchFamily="2" charset="-127"/>
              </a:rPr>
              <a:t>방법론 및 모델 선정 배경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75C638-9116-F0D1-73DF-7F7C5F4DEE56}"/>
              </a:ext>
            </a:extLst>
          </p:cNvPr>
          <p:cNvSpPr txBox="1"/>
          <p:nvPr/>
        </p:nvSpPr>
        <p:spPr>
          <a:xfrm>
            <a:off x="312123" y="1550850"/>
            <a:ext cx="863698" cy="26795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144000" indent="-144000" latinLnBrk="0">
              <a:lnSpc>
                <a:spcPct val="120000"/>
              </a:lnSpc>
              <a:spcBef>
                <a:spcPct val="0"/>
              </a:spcBef>
              <a:spcAft>
                <a:spcPts val="100"/>
              </a:spcAft>
              <a:buClr>
                <a:prstClr val="white">
                  <a:lumMod val="50000"/>
                </a:prstClr>
              </a:buClr>
              <a:buFont typeface="Wingdings" panose="05000000000000000000" pitchFamily="2" charset="2"/>
              <a:buChar char="§"/>
              <a:defRPr sz="1200" spc="0">
                <a:ln>
                  <a:solidFill>
                    <a:srgbClr val="3F4057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Freesentation 4 Regular" pitchFamily="2" charset="-127"/>
                <a:ea typeface="Freesentation 4 Regular" pitchFamily="2" charset="-127"/>
              </a:defRPr>
            </a:lvl1pPr>
          </a:lstStyle>
          <a:p>
            <a:pPr marL="144000" marR="0" lvl="0" indent="-1440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100"/>
              </a:spcAft>
              <a:buClr>
                <a:prstClr val="white">
                  <a:lumMod val="50000"/>
                </a:prst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ko-KR" altLang="en-US" sz="1600" dirty="0">
                <a:solidFill>
                  <a:srgbClr val="000000">
                    <a:lumMod val="65000"/>
                    <a:lumOff val="35000"/>
                  </a:srgbClr>
                </a:solidFill>
              </a:rPr>
              <a:t>방법론 </a:t>
            </a:r>
            <a:endParaRPr kumimoji="0" lang="ko-KR" altLang="en-US" sz="1600" b="0" i="0" u="none" strike="noStrike" kern="1200" cap="none" spc="0" normalizeH="0" baseline="0" noProof="0" dirty="0">
              <a:ln>
                <a:solidFill>
                  <a:srgbClr val="3F4057">
                    <a:alpha val="0"/>
                  </a:srgbClr>
                </a:solidFill>
              </a:ln>
              <a:solidFill>
                <a:schemeClr val="tx1"/>
              </a:solidFill>
              <a:effectLst/>
              <a:uLnTx/>
              <a:uFillTx/>
              <a:latin typeface="Freesentation 4 Regular" pitchFamily="2" charset="-127"/>
              <a:ea typeface="Freesentation 4 Regular" pitchFamily="2" charset="-127"/>
              <a:cs typeface="+mn-cs"/>
            </a:endParaRPr>
          </a:p>
        </p:txBody>
      </p:sp>
      <p:sp>
        <p:nvSpPr>
          <p:cNvPr id="19" name="Text 3"/>
          <p:cNvSpPr/>
          <p:nvPr/>
        </p:nvSpPr>
        <p:spPr>
          <a:xfrm>
            <a:off x="312123" y="1940024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8000"/>
              </a:lnSpc>
            </a:pPr>
            <a:r>
              <a:rPr lang="ko-KR" altLang="en-US" sz="1450" dirty="0">
                <a:solidFill>
                  <a:srgbClr val="565656"/>
                </a:solidFill>
                <a:latin typeface="Malgun Gothic" pitchFamily="34" charset="0"/>
                <a:ea typeface="Malgun Gothic" pitchFamily="34" charset="-122"/>
              </a:rPr>
              <a:t>모델 선정 배경 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077" y="2518440"/>
            <a:ext cx="4902566" cy="2624245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123" y="2635845"/>
            <a:ext cx="5659920" cy="2506840"/>
          </a:xfrm>
          <a:prstGeom prst="rect">
            <a:avLst/>
          </a:prstGeom>
        </p:spPr>
      </p:pic>
      <p:sp>
        <p:nvSpPr>
          <p:cNvPr id="10" name="Text 9"/>
          <p:cNvSpPr/>
          <p:nvPr/>
        </p:nvSpPr>
        <p:spPr>
          <a:xfrm>
            <a:off x="345533" y="5509624"/>
            <a:ext cx="11253019" cy="652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/>
              <a:t>Chronos-2</a:t>
            </a:r>
            <a:r>
              <a:rPr lang="ko-KR" altLang="en-US" sz="1400" dirty="0"/>
              <a:t>는 현재 </a:t>
            </a:r>
            <a:r>
              <a:rPr lang="ko-KR" altLang="en-US" sz="1400" dirty="0" err="1"/>
              <a:t>시계열</a:t>
            </a:r>
            <a:r>
              <a:rPr lang="ko-KR" altLang="en-US" sz="1400" dirty="0"/>
              <a:t> 예측 모델 중 최상위 수준의 예측 성능을 보이는 </a:t>
            </a:r>
            <a:r>
              <a:rPr lang="ko-KR" altLang="en-US" sz="1400" dirty="0" err="1"/>
              <a:t>모델임</a:t>
            </a:r>
            <a:r>
              <a:rPr lang="en-US" altLang="ko-KR" sz="1400" dirty="0"/>
              <a:t>.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/>
              <a:t>Gemma 4</a:t>
            </a:r>
            <a:r>
              <a:rPr lang="ko-KR" altLang="en-US" sz="1400" dirty="0"/>
              <a:t>는 중국계 모델을 제외한 오픈 모델 중 최상위 수준의 성능을 보이는 </a:t>
            </a:r>
            <a:r>
              <a:rPr lang="en-US" altLang="ko-KR" sz="1400" dirty="0"/>
              <a:t>LLM</a:t>
            </a:r>
            <a:r>
              <a:rPr lang="ko-KR" altLang="en-US" sz="1400" dirty="0"/>
              <a:t>임</a:t>
            </a:r>
            <a:r>
              <a:rPr lang="en-US" altLang="ko-KR" sz="1400" dirty="0"/>
              <a:t>.</a:t>
            </a:r>
            <a:endParaRPr lang="en-US" sz="1400" dirty="0"/>
          </a:p>
        </p:txBody>
      </p:sp>
      <p:sp>
        <p:nvSpPr>
          <p:cNvPr id="12" name="직사각형 11"/>
          <p:cNvSpPr/>
          <p:nvPr/>
        </p:nvSpPr>
        <p:spPr>
          <a:xfrm>
            <a:off x="345533" y="2945957"/>
            <a:ext cx="5491387" cy="155383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6586313" y="4104197"/>
            <a:ext cx="4462687" cy="147763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08816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06005-13DD-F4F0-C12B-178805B4C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86964A6A-9C8B-4703-C8FA-FFA6799E58C0}"/>
              </a:ext>
            </a:extLst>
          </p:cNvPr>
          <p:cNvSpPr txBox="1"/>
          <p:nvPr/>
        </p:nvSpPr>
        <p:spPr>
          <a:xfrm>
            <a:off x="0" y="453187"/>
            <a:ext cx="30003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eesentation 5 Medium" pitchFamily="2" charset="-127"/>
                <a:ea typeface="Freesentation 5 Medium" pitchFamily="2" charset="-127"/>
                <a:cs typeface="Pretendard Light" panose="02000403000000020004" pitchFamily="50" charset="-127"/>
              </a:rPr>
              <a:t>과업별 세부 진행사항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eesentation 5 Medium" pitchFamily="2" charset="-127"/>
              <a:ea typeface="Freesentation 5 Medium" pitchFamily="2" charset="-127"/>
              <a:cs typeface="Pretendard Light" panose="02000403000000020004" pitchFamily="50" charset="-127"/>
            </a:endParaRPr>
          </a:p>
        </p:txBody>
      </p:sp>
      <p:sp>
        <p:nvSpPr>
          <p:cNvPr id="7" name="슬라이드 번호 개체 틀 1">
            <a:extLst>
              <a:ext uri="{FF2B5EF4-FFF2-40B4-BE49-F238E27FC236}">
                <a16:creationId xmlns:a16="http://schemas.microsoft.com/office/drawing/2014/main" id="{CBFF1D73-D4F1-7E9E-6FFD-996E4113B9F3}"/>
              </a:ext>
            </a:extLst>
          </p:cNvPr>
          <p:cNvSpPr txBox="1">
            <a:spLocks/>
          </p:cNvSpPr>
          <p:nvPr/>
        </p:nvSpPr>
        <p:spPr>
          <a:xfrm>
            <a:off x="9442493" y="6488255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10DBAC-22C5-4AD0-A416-546E7904AF50}" type="slidenum"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89D157-DB3E-86D6-1EF1-D7ACE5D3F568}"/>
              </a:ext>
            </a:extLst>
          </p:cNvPr>
          <p:cNvSpPr txBox="1"/>
          <p:nvPr/>
        </p:nvSpPr>
        <p:spPr>
          <a:xfrm>
            <a:off x="123891" y="991182"/>
            <a:ext cx="67110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2000" b="0" spc="0">
                <a:solidFill>
                  <a:srgbClr val="000000"/>
                </a:solidFill>
                <a:latin typeface="+mj-ea"/>
                <a:ea typeface="+mj-ea"/>
                <a:cs typeface="Pretendard SemiBold" panose="02000503000000020004" pitchFamily="2" charset="-127"/>
              </a:defRPr>
            </a:lvl1pPr>
          </a:lstStyle>
          <a:p>
            <a:pPr lvl="0">
              <a:defRPr/>
            </a:pPr>
            <a:r>
              <a:rPr lang="en-US" altLang="ko-KR" dirty="0">
                <a:latin typeface="프리젠테이션 7 Bold"/>
                <a:ea typeface="프리젠테이션 7 Bold"/>
              </a:rPr>
              <a:t>3. </a:t>
            </a:r>
            <a:r>
              <a:rPr lang="ko-KR" altLang="en-US" dirty="0">
                <a:latin typeface="프리젠테이션 7 Bold"/>
                <a:ea typeface="프리젠테이션 7 Bold"/>
              </a:rPr>
              <a:t>방법론 및 모델 선정 배경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75C638-9116-F0D1-73DF-7F7C5F4DEE56}"/>
              </a:ext>
            </a:extLst>
          </p:cNvPr>
          <p:cNvSpPr txBox="1"/>
          <p:nvPr/>
        </p:nvSpPr>
        <p:spPr>
          <a:xfrm>
            <a:off x="312123" y="1550850"/>
            <a:ext cx="2197396" cy="2954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144000" indent="-144000" latinLnBrk="0">
              <a:lnSpc>
                <a:spcPct val="120000"/>
              </a:lnSpc>
              <a:spcBef>
                <a:spcPct val="0"/>
              </a:spcBef>
              <a:spcAft>
                <a:spcPts val="100"/>
              </a:spcAft>
              <a:buClr>
                <a:prstClr val="white">
                  <a:lumMod val="50000"/>
                </a:prstClr>
              </a:buClr>
              <a:buFont typeface="Wingdings" panose="05000000000000000000" pitchFamily="2" charset="2"/>
              <a:buChar char="§"/>
              <a:defRPr sz="1200" spc="0">
                <a:ln>
                  <a:solidFill>
                    <a:srgbClr val="3F4057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Freesentation 4 Regular" pitchFamily="2" charset="-127"/>
                <a:ea typeface="Freesentation 4 Regular" pitchFamily="2" charset="-127"/>
              </a:defRPr>
            </a:lvl1pPr>
          </a:lstStyle>
          <a:p>
            <a:pPr marL="144000" marR="0" lvl="0" indent="-1440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100"/>
              </a:spcAft>
              <a:buClr>
                <a:prstClr val="white">
                  <a:lumMod val="50000"/>
                </a:prst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ko-KR" altLang="en-US" sz="1600" noProof="0" dirty="0" err="1">
                <a:solidFill>
                  <a:srgbClr val="000000">
                    <a:lumMod val="65000"/>
                    <a:lumOff val="35000"/>
                  </a:srgbClr>
                </a:solidFill>
              </a:rPr>
              <a:t>가격변동성</a:t>
            </a:r>
            <a:r>
              <a:rPr lang="ko-KR" altLang="en-US" sz="1600" noProof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 예측 단계</a:t>
            </a:r>
            <a:endParaRPr kumimoji="0" lang="ko-KR" altLang="en-US" sz="1600" b="0" i="0" u="none" strike="noStrike" kern="1200" cap="none" spc="0" normalizeH="0" baseline="0" noProof="0" dirty="0">
              <a:ln>
                <a:solidFill>
                  <a:srgbClr val="3F4057">
                    <a:alpha val="0"/>
                  </a:srgbClr>
                </a:solidFill>
              </a:ln>
              <a:solidFill>
                <a:schemeClr val="tx1"/>
              </a:solidFill>
              <a:effectLst/>
              <a:uLnTx/>
              <a:uFillTx/>
              <a:latin typeface="Freesentation 4 Regular" pitchFamily="2" charset="-127"/>
              <a:ea typeface="Freesentation 4 Regular" pitchFamily="2" charset="-127"/>
              <a:cs typeface="+mn-cs"/>
            </a:endParaRPr>
          </a:p>
        </p:txBody>
      </p:sp>
      <p:sp>
        <p:nvSpPr>
          <p:cNvPr id="10" name="Text 3"/>
          <p:cNvSpPr/>
          <p:nvPr/>
        </p:nvSpPr>
        <p:spPr>
          <a:xfrm>
            <a:off x="330185" y="1895505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8000"/>
              </a:lnSpc>
            </a:pPr>
            <a:r>
              <a:rPr lang="ko-KR" altLang="en-US" sz="1600" dirty="0"/>
              <a:t>예측 단계에 대한 세부 절차</a:t>
            </a:r>
            <a:endParaRPr lang="en-US" sz="1450" dirty="0"/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3"/>
          <a:srcRect l="33472" t="38725" r="58483" b="45183"/>
          <a:stretch/>
        </p:blipFill>
        <p:spPr>
          <a:xfrm>
            <a:off x="2509519" y="3752655"/>
            <a:ext cx="585216" cy="585216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3"/>
          <a:srcRect l="33472" t="38725" r="58483" b="45183"/>
          <a:stretch/>
        </p:blipFill>
        <p:spPr>
          <a:xfrm>
            <a:off x="7617764" y="3806586"/>
            <a:ext cx="585216" cy="585216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0246" y="3752655"/>
            <a:ext cx="3284625" cy="783608"/>
          </a:xfrm>
          <a:prstGeom prst="rect">
            <a:avLst/>
          </a:prstGeom>
        </p:spPr>
      </p:pic>
      <p:pic>
        <p:nvPicPr>
          <p:cNvPr id="2050" name="Picture 2" descr="Chronos-2: Transforming Time Series Forecasting with Universal Flexibility | Joshua Berkowitz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0372" y="2667024"/>
            <a:ext cx="4292584" cy="2864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6"/>
          <a:srcRect l="27817" t="11834" r="25899" b="13903"/>
          <a:stretch/>
        </p:blipFill>
        <p:spPr>
          <a:xfrm>
            <a:off x="516808" y="3226494"/>
            <a:ext cx="1530841" cy="1637537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330185" y="5648993"/>
            <a:ext cx="11253019" cy="652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/>
              <a:t>정형 데이터를 </a:t>
            </a:r>
            <a:r>
              <a:rPr lang="ko-KR" altLang="en-US" sz="1400" dirty="0" err="1"/>
              <a:t>시계열</a:t>
            </a:r>
            <a:r>
              <a:rPr lang="ko-KR" altLang="en-US" sz="1400" dirty="0"/>
              <a:t> 예측 모델 </a:t>
            </a:r>
            <a:r>
              <a:rPr lang="en-US" altLang="ko-KR" sz="1400" dirty="0"/>
              <a:t>Chronos-2</a:t>
            </a:r>
            <a:r>
              <a:rPr lang="ko-KR" altLang="en-US" sz="1400" dirty="0"/>
              <a:t>에 입력하여 향후 </a:t>
            </a:r>
            <a:r>
              <a:rPr lang="en-US" altLang="ko-KR" sz="1400" dirty="0"/>
              <a:t>4</a:t>
            </a:r>
            <a:r>
              <a:rPr lang="ko-KR" altLang="en-US" sz="1400" dirty="0"/>
              <a:t>주 가격 경로와 예측 구간을 산출하는 단계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5659879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06005-13DD-F4F0-C12B-178805B4C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86964A6A-9C8B-4703-C8FA-FFA6799E58C0}"/>
              </a:ext>
            </a:extLst>
          </p:cNvPr>
          <p:cNvSpPr txBox="1"/>
          <p:nvPr/>
        </p:nvSpPr>
        <p:spPr>
          <a:xfrm>
            <a:off x="0" y="453187"/>
            <a:ext cx="30003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eesentation 5 Medium" pitchFamily="2" charset="-127"/>
                <a:ea typeface="Freesentation 5 Medium" pitchFamily="2" charset="-127"/>
                <a:cs typeface="Pretendard Light" panose="02000403000000020004" pitchFamily="50" charset="-127"/>
              </a:rPr>
              <a:t>과업별 세부 진행사항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eesentation 5 Medium" pitchFamily="2" charset="-127"/>
              <a:ea typeface="Freesentation 5 Medium" pitchFamily="2" charset="-127"/>
              <a:cs typeface="Pretendard Light" panose="02000403000000020004" pitchFamily="50" charset="-127"/>
            </a:endParaRPr>
          </a:p>
        </p:txBody>
      </p:sp>
      <p:sp>
        <p:nvSpPr>
          <p:cNvPr id="7" name="슬라이드 번호 개체 틀 1">
            <a:extLst>
              <a:ext uri="{FF2B5EF4-FFF2-40B4-BE49-F238E27FC236}">
                <a16:creationId xmlns:a16="http://schemas.microsoft.com/office/drawing/2014/main" id="{CBFF1D73-D4F1-7E9E-6FFD-996E4113B9F3}"/>
              </a:ext>
            </a:extLst>
          </p:cNvPr>
          <p:cNvSpPr txBox="1">
            <a:spLocks/>
          </p:cNvSpPr>
          <p:nvPr/>
        </p:nvSpPr>
        <p:spPr>
          <a:xfrm>
            <a:off x="9442493" y="6488255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10DBAC-22C5-4AD0-A416-546E7904AF50}" type="slidenum"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89D157-DB3E-86D6-1EF1-D7ACE5D3F568}"/>
              </a:ext>
            </a:extLst>
          </p:cNvPr>
          <p:cNvSpPr txBox="1"/>
          <p:nvPr/>
        </p:nvSpPr>
        <p:spPr>
          <a:xfrm>
            <a:off x="123891" y="991182"/>
            <a:ext cx="67110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2000" b="0" spc="0">
                <a:solidFill>
                  <a:srgbClr val="000000"/>
                </a:solidFill>
                <a:latin typeface="+mj-ea"/>
                <a:ea typeface="+mj-ea"/>
                <a:cs typeface="Pretendard SemiBold" panose="02000503000000020004" pitchFamily="2" charset="-127"/>
              </a:defRPr>
            </a:lvl1pPr>
          </a:lstStyle>
          <a:p>
            <a:pPr lvl="0">
              <a:defRPr/>
            </a:pPr>
            <a:r>
              <a:rPr lang="en-US" altLang="ko-KR" dirty="0">
                <a:latin typeface="프리젠테이션 7 Bold"/>
                <a:ea typeface="프리젠테이션 7 Bold"/>
              </a:rPr>
              <a:t>3. </a:t>
            </a:r>
            <a:r>
              <a:rPr lang="ko-KR" altLang="en-US" dirty="0">
                <a:latin typeface="프리젠테이션 7 Bold"/>
                <a:ea typeface="프리젠테이션 7 Bold"/>
              </a:rPr>
              <a:t>방법론 및 모델 선정 배경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75C638-9116-F0D1-73DF-7F7C5F4DEE56}"/>
              </a:ext>
            </a:extLst>
          </p:cNvPr>
          <p:cNvSpPr txBox="1"/>
          <p:nvPr/>
        </p:nvSpPr>
        <p:spPr>
          <a:xfrm>
            <a:off x="312123" y="1550850"/>
            <a:ext cx="1068882" cy="26795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144000" indent="-144000" latinLnBrk="0">
              <a:lnSpc>
                <a:spcPct val="120000"/>
              </a:lnSpc>
              <a:spcBef>
                <a:spcPct val="0"/>
              </a:spcBef>
              <a:spcAft>
                <a:spcPts val="100"/>
              </a:spcAft>
              <a:buClr>
                <a:prstClr val="white">
                  <a:lumMod val="50000"/>
                </a:prstClr>
              </a:buClr>
              <a:buFont typeface="Wingdings" panose="05000000000000000000" pitchFamily="2" charset="2"/>
              <a:buChar char="§"/>
              <a:defRPr sz="1200" spc="0">
                <a:ln>
                  <a:solidFill>
                    <a:srgbClr val="3F4057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Freesentation 4 Regular" pitchFamily="2" charset="-127"/>
                <a:ea typeface="Freesentation 4 Regular" pitchFamily="2" charset="-127"/>
              </a:defRPr>
            </a:lvl1pPr>
          </a:lstStyle>
          <a:p>
            <a:pPr marL="144000" marR="0" lvl="0" indent="-1440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100"/>
              </a:spcAft>
              <a:buClr>
                <a:prstClr val="white">
                  <a:lumMod val="50000"/>
                </a:prst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ko-KR" altLang="en-US" sz="1600" noProof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요약 단계</a:t>
            </a:r>
            <a:endParaRPr kumimoji="0" lang="ko-KR" altLang="en-US" sz="1600" b="0" i="0" u="none" strike="noStrike" kern="1200" cap="none" spc="0" normalizeH="0" baseline="0" noProof="0" dirty="0">
              <a:ln>
                <a:solidFill>
                  <a:srgbClr val="3F4057">
                    <a:alpha val="0"/>
                  </a:srgbClr>
                </a:solidFill>
              </a:ln>
              <a:solidFill>
                <a:schemeClr val="tx1"/>
              </a:solidFill>
              <a:effectLst/>
              <a:uLnTx/>
              <a:uFillTx/>
              <a:latin typeface="Freesentation 4 Regular" pitchFamily="2" charset="-127"/>
              <a:ea typeface="Freesentation 4 Regular" pitchFamily="2" charset="-127"/>
              <a:cs typeface="+mn-cs"/>
            </a:endParaRPr>
          </a:p>
        </p:txBody>
      </p:sp>
      <p:sp>
        <p:nvSpPr>
          <p:cNvPr id="10" name="Text 3"/>
          <p:cNvSpPr/>
          <p:nvPr/>
        </p:nvSpPr>
        <p:spPr>
          <a:xfrm>
            <a:off x="330185" y="1895505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8000"/>
              </a:lnSpc>
            </a:pPr>
            <a:r>
              <a:rPr lang="ko-KR" altLang="en-US" sz="1600" dirty="0"/>
              <a:t>정형화된 프롬프트에 대한 세부 절차</a:t>
            </a:r>
            <a:endParaRPr lang="en-US" sz="1450" dirty="0"/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1317" y="2957700"/>
            <a:ext cx="5067065" cy="2486998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4"/>
          <a:srcRect l="3394" t="13462" r="57203" b="16586"/>
          <a:stretch/>
        </p:blipFill>
        <p:spPr>
          <a:xfrm>
            <a:off x="330185" y="3393479"/>
            <a:ext cx="1364945" cy="1615440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5"/>
          <a:srcRect l="33472" t="38725" r="58483" b="45183"/>
          <a:stretch/>
        </p:blipFill>
        <p:spPr>
          <a:xfrm>
            <a:off x="1731236" y="3828541"/>
            <a:ext cx="585216" cy="585216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 rotWithShape="1">
          <a:blip r:embed="rId6"/>
          <a:srcRect b="55454"/>
          <a:stretch/>
        </p:blipFill>
        <p:spPr>
          <a:xfrm>
            <a:off x="8272362" y="3419999"/>
            <a:ext cx="3858721" cy="1326813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5"/>
          <a:srcRect l="33472" t="38725" r="58483" b="45183"/>
          <a:stretch/>
        </p:blipFill>
        <p:spPr>
          <a:xfrm>
            <a:off x="7617764" y="3806586"/>
            <a:ext cx="585216" cy="58521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0185" y="5648993"/>
            <a:ext cx="11253019" cy="652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/>
              <a:t>여러 광종이 섞인 보고서에서 해당 광물의 위기 관련 사실만 </a:t>
            </a:r>
            <a:r>
              <a:rPr lang="ko-KR" altLang="en-US" sz="1400" dirty="0" err="1"/>
              <a:t>발령기준</a:t>
            </a:r>
            <a:r>
              <a:rPr lang="ko-KR" altLang="en-US" sz="1400" dirty="0"/>
              <a:t> </a:t>
            </a:r>
            <a:r>
              <a:rPr lang="en-US" altLang="ko-KR" sz="1400" dirty="0"/>
              <a:t>3</a:t>
            </a:r>
            <a:r>
              <a:rPr lang="ko-KR" altLang="en-US" sz="1400" dirty="0"/>
              <a:t>조건으로 분류해 요약하는 단계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5476517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06005-13DD-F4F0-C12B-178805B4C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86964A6A-9C8B-4703-C8FA-FFA6799E58C0}"/>
              </a:ext>
            </a:extLst>
          </p:cNvPr>
          <p:cNvSpPr txBox="1"/>
          <p:nvPr/>
        </p:nvSpPr>
        <p:spPr>
          <a:xfrm>
            <a:off x="0" y="453187"/>
            <a:ext cx="30003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eesentation 5 Medium" pitchFamily="2" charset="-127"/>
                <a:ea typeface="Freesentation 5 Medium" pitchFamily="2" charset="-127"/>
                <a:cs typeface="Pretendard Light" panose="02000403000000020004" pitchFamily="50" charset="-127"/>
              </a:rPr>
              <a:t>과업별 세부 진행사항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eesentation 5 Medium" pitchFamily="2" charset="-127"/>
              <a:ea typeface="Freesentation 5 Medium" pitchFamily="2" charset="-127"/>
              <a:cs typeface="Pretendard Light" panose="02000403000000020004" pitchFamily="50" charset="-127"/>
            </a:endParaRPr>
          </a:p>
        </p:txBody>
      </p:sp>
      <p:sp>
        <p:nvSpPr>
          <p:cNvPr id="7" name="슬라이드 번호 개체 틀 1">
            <a:extLst>
              <a:ext uri="{FF2B5EF4-FFF2-40B4-BE49-F238E27FC236}">
                <a16:creationId xmlns:a16="http://schemas.microsoft.com/office/drawing/2014/main" id="{CBFF1D73-D4F1-7E9E-6FFD-996E4113B9F3}"/>
              </a:ext>
            </a:extLst>
          </p:cNvPr>
          <p:cNvSpPr txBox="1">
            <a:spLocks/>
          </p:cNvSpPr>
          <p:nvPr/>
        </p:nvSpPr>
        <p:spPr>
          <a:xfrm>
            <a:off x="9442493" y="6488255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10DBAC-22C5-4AD0-A416-546E7904AF50}" type="slidenum"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89D157-DB3E-86D6-1EF1-D7ACE5D3F568}"/>
              </a:ext>
            </a:extLst>
          </p:cNvPr>
          <p:cNvSpPr txBox="1"/>
          <p:nvPr/>
        </p:nvSpPr>
        <p:spPr>
          <a:xfrm>
            <a:off x="123891" y="991182"/>
            <a:ext cx="67110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2000" b="0" spc="0">
                <a:solidFill>
                  <a:srgbClr val="000000"/>
                </a:solidFill>
                <a:latin typeface="+mj-ea"/>
                <a:ea typeface="+mj-ea"/>
                <a:cs typeface="Pretendard SemiBold" panose="02000503000000020004" pitchFamily="2" charset="-127"/>
              </a:defRPr>
            </a:lvl1pPr>
          </a:lstStyle>
          <a:p>
            <a:pPr lvl="0">
              <a:defRPr/>
            </a:pPr>
            <a:r>
              <a:rPr lang="en-US" altLang="ko-KR" dirty="0">
                <a:latin typeface="프리젠테이션 7 Bold"/>
                <a:ea typeface="프리젠테이션 7 Bold"/>
              </a:rPr>
              <a:t>3. </a:t>
            </a:r>
            <a:r>
              <a:rPr lang="ko-KR" altLang="en-US" dirty="0">
                <a:latin typeface="프리젠테이션 7 Bold"/>
                <a:ea typeface="프리젠테이션 7 Bold"/>
              </a:rPr>
              <a:t>방법론 및 모델 선정 배경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75C638-9116-F0D1-73DF-7F7C5F4DEE56}"/>
              </a:ext>
            </a:extLst>
          </p:cNvPr>
          <p:cNvSpPr txBox="1"/>
          <p:nvPr/>
        </p:nvSpPr>
        <p:spPr>
          <a:xfrm>
            <a:off x="312123" y="1550850"/>
            <a:ext cx="1068882" cy="26795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144000" indent="-144000" latinLnBrk="0">
              <a:lnSpc>
                <a:spcPct val="120000"/>
              </a:lnSpc>
              <a:spcBef>
                <a:spcPct val="0"/>
              </a:spcBef>
              <a:spcAft>
                <a:spcPts val="100"/>
              </a:spcAft>
              <a:buClr>
                <a:prstClr val="white">
                  <a:lumMod val="50000"/>
                </a:prstClr>
              </a:buClr>
              <a:buFont typeface="Wingdings" panose="05000000000000000000" pitchFamily="2" charset="2"/>
              <a:buChar char="§"/>
              <a:defRPr sz="1200" spc="0">
                <a:ln>
                  <a:solidFill>
                    <a:srgbClr val="3F4057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Freesentation 4 Regular" pitchFamily="2" charset="-127"/>
                <a:ea typeface="Freesentation 4 Regular" pitchFamily="2" charset="-127"/>
              </a:defRPr>
            </a:lvl1pPr>
          </a:lstStyle>
          <a:p>
            <a:pPr marL="144000" marR="0" lvl="0" indent="-1440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100"/>
              </a:spcAft>
              <a:buClr>
                <a:prstClr val="white">
                  <a:lumMod val="50000"/>
                </a:prst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ko-KR" altLang="en-US" sz="1600" dirty="0">
                <a:solidFill>
                  <a:srgbClr val="000000">
                    <a:lumMod val="65000"/>
                    <a:lumOff val="35000"/>
                  </a:srgbClr>
                </a:solidFill>
              </a:rPr>
              <a:t>판단 </a:t>
            </a:r>
            <a:r>
              <a:rPr lang="ko-KR" altLang="en-US" sz="1600" noProof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단계</a:t>
            </a:r>
            <a:endParaRPr kumimoji="0" lang="ko-KR" altLang="en-US" sz="1600" b="0" i="0" u="none" strike="noStrike" kern="1200" cap="none" spc="0" normalizeH="0" baseline="0" noProof="0" dirty="0">
              <a:ln>
                <a:solidFill>
                  <a:srgbClr val="3F4057">
                    <a:alpha val="0"/>
                  </a:srgbClr>
                </a:solidFill>
              </a:ln>
              <a:solidFill>
                <a:schemeClr val="tx1"/>
              </a:solidFill>
              <a:effectLst/>
              <a:uLnTx/>
              <a:uFillTx/>
              <a:latin typeface="Freesentation 4 Regular" pitchFamily="2" charset="-127"/>
              <a:ea typeface="Freesentation 4 Regular" pitchFamily="2" charset="-127"/>
              <a:cs typeface="+mn-cs"/>
            </a:endParaRPr>
          </a:p>
        </p:txBody>
      </p:sp>
      <p:sp>
        <p:nvSpPr>
          <p:cNvPr id="10" name="Text 3"/>
          <p:cNvSpPr/>
          <p:nvPr/>
        </p:nvSpPr>
        <p:spPr>
          <a:xfrm>
            <a:off x="330185" y="1895505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8000"/>
              </a:lnSpc>
            </a:pPr>
            <a:r>
              <a:rPr lang="ko-KR" altLang="en-US" sz="1600" dirty="0"/>
              <a:t>정형화된 프롬프트에 대한 세부 절차</a:t>
            </a:r>
            <a:endParaRPr lang="en-US" sz="1450" dirty="0"/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3"/>
          <a:srcRect l="33472" t="38725" r="58483" b="45183"/>
          <a:stretch/>
        </p:blipFill>
        <p:spPr>
          <a:xfrm>
            <a:off x="3031218" y="3806586"/>
            <a:ext cx="585216" cy="585216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3"/>
          <a:srcRect l="33472" t="38725" r="58483" b="45183"/>
          <a:stretch/>
        </p:blipFill>
        <p:spPr>
          <a:xfrm>
            <a:off x="7617764" y="3806586"/>
            <a:ext cx="585216" cy="585216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4"/>
          <a:srcRect t="87859" r="56704"/>
          <a:stretch/>
        </p:blipFill>
        <p:spPr>
          <a:xfrm>
            <a:off x="8492579" y="3697060"/>
            <a:ext cx="2903803" cy="585827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330185" y="5648993"/>
            <a:ext cx="11253019" cy="652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/>
              <a:t>가격 </a:t>
            </a:r>
            <a:r>
              <a:rPr lang="ko-KR" altLang="en-US" sz="1400" dirty="0" err="1"/>
              <a:t>이격률</a:t>
            </a:r>
            <a:r>
              <a:rPr lang="ko-KR" altLang="en-US" sz="1400" dirty="0"/>
              <a:t> </a:t>
            </a:r>
            <a:r>
              <a:rPr lang="ko-KR" altLang="en-US" sz="1400" dirty="0" err="1"/>
              <a:t>정량등급과</a:t>
            </a:r>
            <a:r>
              <a:rPr lang="ko-KR" altLang="en-US" sz="1400" dirty="0"/>
              <a:t> 요약된 비정형 사실을 종합하여 최종 </a:t>
            </a:r>
            <a:r>
              <a:rPr lang="ko-KR" altLang="en-US" sz="1400" dirty="0" err="1"/>
              <a:t>경보단계를</a:t>
            </a:r>
            <a:r>
              <a:rPr lang="ko-KR" altLang="en-US" sz="1400" dirty="0"/>
              <a:t> 판정하는 단계</a:t>
            </a:r>
            <a:endParaRPr lang="en-US" sz="1400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3841" y="1915731"/>
            <a:ext cx="3153602" cy="3606159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2123" y="3220203"/>
            <a:ext cx="2618606" cy="1745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7113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06005-13DD-F4F0-C12B-178805B4C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86964A6A-9C8B-4703-C8FA-FFA6799E58C0}"/>
              </a:ext>
            </a:extLst>
          </p:cNvPr>
          <p:cNvSpPr txBox="1"/>
          <p:nvPr/>
        </p:nvSpPr>
        <p:spPr>
          <a:xfrm>
            <a:off x="0" y="453187"/>
            <a:ext cx="30003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eesentation 5 Medium" pitchFamily="2" charset="-127"/>
                <a:ea typeface="Freesentation 5 Medium" pitchFamily="2" charset="-127"/>
                <a:cs typeface="Pretendard Light" panose="02000403000000020004" pitchFamily="50" charset="-127"/>
              </a:rPr>
              <a:t>과업별 세부 진행사항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eesentation 5 Medium" pitchFamily="2" charset="-127"/>
              <a:ea typeface="Freesentation 5 Medium" pitchFamily="2" charset="-127"/>
              <a:cs typeface="Pretendard Light" panose="02000403000000020004" pitchFamily="50" charset="-127"/>
            </a:endParaRPr>
          </a:p>
        </p:txBody>
      </p:sp>
      <p:sp>
        <p:nvSpPr>
          <p:cNvPr id="7" name="슬라이드 번호 개체 틀 1">
            <a:extLst>
              <a:ext uri="{FF2B5EF4-FFF2-40B4-BE49-F238E27FC236}">
                <a16:creationId xmlns:a16="http://schemas.microsoft.com/office/drawing/2014/main" id="{CBFF1D73-D4F1-7E9E-6FFD-996E4113B9F3}"/>
              </a:ext>
            </a:extLst>
          </p:cNvPr>
          <p:cNvSpPr txBox="1">
            <a:spLocks/>
          </p:cNvSpPr>
          <p:nvPr/>
        </p:nvSpPr>
        <p:spPr>
          <a:xfrm>
            <a:off x="9442493" y="6488255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10DBAC-22C5-4AD0-A416-546E7904AF50}" type="slidenum"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89D157-DB3E-86D6-1EF1-D7ACE5D3F568}"/>
              </a:ext>
            </a:extLst>
          </p:cNvPr>
          <p:cNvSpPr txBox="1"/>
          <p:nvPr/>
        </p:nvSpPr>
        <p:spPr>
          <a:xfrm>
            <a:off x="123891" y="991182"/>
            <a:ext cx="67110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2000" b="0" spc="0">
                <a:solidFill>
                  <a:srgbClr val="000000"/>
                </a:solidFill>
                <a:latin typeface="+mj-ea"/>
                <a:ea typeface="+mj-ea"/>
                <a:cs typeface="Pretendard SemiBold" panose="02000503000000020004" pitchFamily="2" charset="-127"/>
              </a:defRPr>
            </a:lvl1pPr>
          </a:lstStyle>
          <a:p>
            <a:pPr lvl="0">
              <a:defRPr/>
            </a:pPr>
            <a:r>
              <a:rPr lang="en-US" altLang="ko-KR" dirty="0">
                <a:latin typeface="프리젠테이션 7 Bold"/>
                <a:ea typeface="프리젠테이션 7 Bold"/>
              </a:rPr>
              <a:t>3. </a:t>
            </a:r>
            <a:r>
              <a:rPr lang="ko-KR" altLang="en-US" dirty="0">
                <a:latin typeface="프리젠테이션 7 Bold"/>
                <a:ea typeface="프리젠테이션 7 Bold"/>
              </a:rPr>
              <a:t>방법론 및 모델 선정 배경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75C638-9116-F0D1-73DF-7F7C5F4DEE56}"/>
              </a:ext>
            </a:extLst>
          </p:cNvPr>
          <p:cNvSpPr txBox="1"/>
          <p:nvPr/>
        </p:nvSpPr>
        <p:spPr>
          <a:xfrm>
            <a:off x="312123" y="1550850"/>
            <a:ext cx="4044056" cy="2954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144000" indent="-144000" latinLnBrk="0">
              <a:lnSpc>
                <a:spcPct val="120000"/>
              </a:lnSpc>
              <a:spcBef>
                <a:spcPct val="0"/>
              </a:spcBef>
              <a:spcAft>
                <a:spcPts val="100"/>
              </a:spcAft>
              <a:buClr>
                <a:prstClr val="white">
                  <a:lumMod val="50000"/>
                </a:prstClr>
              </a:buClr>
              <a:buFont typeface="Wingdings" panose="05000000000000000000" pitchFamily="2" charset="2"/>
              <a:buChar char="§"/>
              <a:defRPr sz="1200" spc="0">
                <a:ln>
                  <a:solidFill>
                    <a:srgbClr val="3F4057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Freesentation 4 Regular" pitchFamily="2" charset="-127"/>
                <a:ea typeface="Freesentation 4 Regular" pitchFamily="2" charset="-127"/>
              </a:defRPr>
            </a:lvl1pPr>
          </a:lstStyle>
          <a:p>
            <a:pPr marL="144000" marR="0" lvl="0" indent="-1440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100"/>
              </a:spcAft>
              <a:buClr>
                <a:prstClr val="white">
                  <a:lumMod val="50000"/>
                </a:prst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ko-KR" altLang="en-US" sz="1600" dirty="0">
                <a:solidFill>
                  <a:srgbClr val="000000">
                    <a:lumMod val="65000"/>
                    <a:lumOff val="35000"/>
                  </a:srgbClr>
                </a:solidFill>
              </a:rPr>
              <a:t>지정학적리스크 및 </a:t>
            </a:r>
            <a:r>
              <a:rPr lang="ko-KR" altLang="en-US" sz="1600" dirty="0" err="1">
                <a:solidFill>
                  <a:srgbClr val="000000">
                    <a:lumMod val="65000"/>
                    <a:lumOff val="35000"/>
                  </a:srgbClr>
                </a:solidFill>
              </a:rPr>
              <a:t>공급망</a:t>
            </a:r>
            <a:r>
              <a:rPr lang="ko-KR" altLang="en-US" sz="1600" dirty="0">
                <a:solidFill>
                  <a:srgbClr val="000000">
                    <a:lumMod val="65000"/>
                    <a:lumOff val="35000"/>
                  </a:srgbClr>
                </a:solidFill>
              </a:rPr>
              <a:t> 이벤트 점수화</a:t>
            </a:r>
            <a:endParaRPr kumimoji="0" lang="ko-KR" altLang="en-US" sz="1600" b="0" i="0" u="none" strike="noStrike" kern="1200" cap="none" spc="0" normalizeH="0" baseline="0" noProof="0" dirty="0">
              <a:ln>
                <a:solidFill>
                  <a:srgbClr val="3F4057">
                    <a:alpha val="0"/>
                  </a:srgbClr>
                </a:solidFill>
              </a:ln>
              <a:solidFill>
                <a:schemeClr val="tx1"/>
              </a:solidFill>
              <a:effectLst/>
              <a:uLnTx/>
              <a:uFillTx/>
              <a:latin typeface="Freesentation 4 Regular" pitchFamily="2" charset="-127"/>
              <a:ea typeface="Freesentation 4 Regular" pitchFamily="2" charset="-127"/>
              <a:cs typeface="+mn-cs"/>
            </a:endParaRPr>
          </a:p>
        </p:txBody>
      </p:sp>
      <p:grpSp>
        <p:nvGrpSpPr>
          <p:cNvPr id="12" name="그룹 11"/>
          <p:cNvGrpSpPr/>
          <p:nvPr/>
        </p:nvGrpSpPr>
        <p:grpSpPr>
          <a:xfrm>
            <a:off x="339602" y="2143931"/>
            <a:ext cx="4533429" cy="3763183"/>
            <a:chOff x="566928" y="2034017"/>
            <a:chExt cx="5889851" cy="4444894"/>
          </a:xfrm>
        </p:grpSpPr>
        <p:grpSp>
          <p:nvGrpSpPr>
            <p:cNvPr id="13" name="그룹 12"/>
            <p:cNvGrpSpPr/>
            <p:nvPr/>
          </p:nvGrpSpPr>
          <p:grpSpPr>
            <a:xfrm>
              <a:off x="566928" y="2034017"/>
              <a:ext cx="5889851" cy="4444894"/>
              <a:chOff x="576072" y="2340864"/>
              <a:chExt cx="6025896" cy="4361417"/>
            </a:xfrm>
          </p:grpSpPr>
          <p:sp>
            <p:nvSpPr>
              <p:cNvPr id="19" name="Shape 4"/>
              <p:cNvSpPr/>
              <p:nvPr/>
            </p:nvSpPr>
            <p:spPr>
              <a:xfrm>
                <a:off x="576072" y="2441448"/>
                <a:ext cx="118872" cy="118872"/>
              </a:xfrm>
              <a:prstGeom prst="rect">
                <a:avLst/>
              </a:prstGeom>
              <a:solidFill>
                <a:srgbClr val="1A1A1A"/>
              </a:solidFill>
              <a:ln/>
            </p:spPr>
          </p:sp>
          <p:sp>
            <p:nvSpPr>
              <p:cNvPr id="20" name="Text 5"/>
              <p:cNvSpPr/>
              <p:nvPr/>
            </p:nvSpPr>
            <p:spPr>
              <a:xfrm>
                <a:off x="859536" y="2340864"/>
                <a:ext cx="5742432" cy="31089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ko-KR" altLang="en-US" sz="1700" b="1" dirty="0">
                    <a:solidFill>
                      <a:srgbClr val="1A1A1A"/>
                    </a:solidFill>
                    <a:latin typeface="Malgun Gothic" pitchFamily="34" charset="0"/>
                    <a:ea typeface="Malgun Gothic" pitchFamily="34" charset="-122"/>
                  </a:rPr>
                  <a:t>사건 구조화</a:t>
                </a:r>
                <a:endParaRPr lang="en-US" altLang="ko-KR" sz="1700" dirty="0"/>
              </a:p>
            </p:txBody>
          </p:sp>
          <p:sp>
            <p:nvSpPr>
              <p:cNvPr id="21" name="Text 6"/>
              <p:cNvSpPr/>
              <p:nvPr/>
            </p:nvSpPr>
            <p:spPr>
              <a:xfrm>
                <a:off x="859536" y="2871724"/>
                <a:ext cx="5742432" cy="6400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10000"/>
                  </a:lnSpc>
                </a:pPr>
                <a:endParaRPr lang="en-US" altLang="ko-KR" sz="1400" dirty="0"/>
              </a:p>
            </p:txBody>
          </p:sp>
          <p:sp>
            <p:nvSpPr>
              <p:cNvPr id="22" name="Shape 7"/>
              <p:cNvSpPr/>
              <p:nvPr/>
            </p:nvSpPr>
            <p:spPr>
              <a:xfrm>
                <a:off x="576072" y="4721268"/>
                <a:ext cx="118872" cy="118872"/>
              </a:xfrm>
              <a:prstGeom prst="rect">
                <a:avLst/>
              </a:prstGeom>
              <a:solidFill>
                <a:srgbClr val="1A1A1A"/>
              </a:solidFill>
              <a:ln/>
            </p:spPr>
          </p:sp>
          <p:sp>
            <p:nvSpPr>
              <p:cNvPr id="23" name="Text 8"/>
              <p:cNvSpPr/>
              <p:nvPr/>
            </p:nvSpPr>
            <p:spPr>
              <a:xfrm>
                <a:off x="845445" y="4610706"/>
                <a:ext cx="5742432" cy="31089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ko-KR" altLang="en-US" sz="1700" b="1" dirty="0"/>
                  <a:t>사건을 분류 후 점수화</a:t>
                </a:r>
                <a:endParaRPr lang="en-US" sz="1700" b="1" dirty="0"/>
              </a:p>
            </p:txBody>
          </p:sp>
          <p:sp>
            <p:nvSpPr>
              <p:cNvPr id="24" name="Text 9"/>
              <p:cNvSpPr/>
              <p:nvPr/>
            </p:nvSpPr>
            <p:spPr>
              <a:xfrm>
                <a:off x="859536" y="5602072"/>
                <a:ext cx="5742432" cy="1100209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10000"/>
                  </a:lnSpc>
                </a:pPr>
                <a:endParaRPr lang="en-US" altLang="ko-KR" sz="1400" dirty="0"/>
              </a:p>
            </p:txBody>
          </p:sp>
        </p:grpSp>
        <p:sp>
          <p:nvSpPr>
            <p:cNvPr id="15" name="Text 8"/>
            <p:cNvSpPr/>
            <p:nvPr/>
          </p:nvSpPr>
          <p:spPr>
            <a:xfrm>
              <a:off x="768096" y="4989612"/>
              <a:ext cx="5612787" cy="31684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endParaRPr lang="en-US" sz="1700" dirty="0"/>
            </a:p>
          </p:txBody>
        </p:sp>
        <p:sp>
          <p:nvSpPr>
            <p:cNvPr id="17" name="Text 9"/>
            <p:cNvSpPr/>
            <p:nvPr/>
          </p:nvSpPr>
          <p:spPr>
            <a:xfrm>
              <a:off x="683116" y="2303282"/>
              <a:ext cx="5612787" cy="112126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endParaRPr lang="en-US" altLang="ko-KR" sz="1400" dirty="0"/>
            </a:p>
          </p:txBody>
        </p:sp>
        <p:sp>
          <p:nvSpPr>
            <p:cNvPr id="18" name="Text 9"/>
            <p:cNvSpPr/>
            <p:nvPr/>
          </p:nvSpPr>
          <p:spPr>
            <a:xfrm>
              <a:off x="633478" y="2726641"/>
              <a:ext cx="5612787" cy="9899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171450" indent="-171450">
                <a:lnSpc>
                  <a:spcPct val="110000"/>
                </a:lnSpc>
                <a:buFont typeface="Arial" panose="020B0604020202020204" pitchFamily="34" charset="0"/>
                <a:buChar char="•"/>
              </a:pPr>
              <a:r>
                <a:rPr lang="ko-KR" altLang="en-US" sz="1200" dirty="0"/>
                <a:t>비정형 데이터에서 </a:t>
              </a:r>
              <a:r>
                <a:rPr lang="en-US" altLang="ko-KR" sz="1200" dirty="0"/>
                <a:t>LLM</a:t>
              </a:r>
              <a:r>
                <a:rPr lang="ko-KR" altLang="en-US" sz="1200" dirty="0"/>
                <a:t>이 </a:t>
              </a:r>
              <a:r>
                <a:rPr lang="ko-KR" altLang="en-US" sz="1200" dirty="0" err="1"/>
                <a:t>공급망</a:t>
              </a:r>
              <a:r>
                <a:rPr lang="ko-KR" altLang="en-US" sz="1200" dirty="0"/>
                <a:t> 사건을 찾아 </a:t>
              </a:r>
              <a:r>
                <a:rPr lang="en-US" altLang="ko-KR" sz="1200" dirty="0"/>
                <a:t>5</a:t>
              </a:r>
              <a:r>
                <a:rPr lang="ko-KR" altLang="en-US" sz="1200" dirty="0"/>
                <a:t>개 항목으로 분류</a:t>
              </a:r>
              <a:r>
                <a:rPr lang="en-US" altLang="ko-KR" sz="1200" dirty="0"/>
                <a:t>·</a:t>
              </a:r>
              <a:r>
                <a:rPr lang="ko-KR" altLang="en-US" sz="1200" dirty="0"/>
                <a:t>구조화한다</a:t>
              </a:r>
              <a:r>
                <a:rPr lang="en-US" altLang="ko-KR" sz="1200" dirty="0"/>
                <a:t>.</a:t>
              </a:r>
            </a:p>
            <a:p>
              <a:pPr marL="171450" indent="-171450">
                <a:lnSpc>
                  <a:spcPct val="110000"/>
                </a:lnSpc>
                <a:buFont typeface="Arial" panose="020B0604020202020204" pitchFamily="34" charset="0"/>
                <a:buChar char="•"/>
              </a:pPr>
              <a:r>
                <a:rPr lang="ko-KR" altLang="en-US" sz="1200" dirty="0"/>
                <a:t>이때 </a:t>
              </a:r>
              <a:r>
                <a:rPr lang="en-US" altLang="ko-KR" sz="1200" dirty="0"/>
                <a:t>LLM</a:t>
              </a:r>
              <a:r>
                <a:rPr lang="ko-KR" altLang="en-US" sz="1200" dirty="0"/>
                <a:t>은 점수를 만들지 않고 정해진 선택지에서 고르기만 한다</a:t>
              </a:r>
              <a:r>
                <a:rPr lang="en-US" altLang="ko-KR" sz="1200" dirty="0"/>
                <a:t>.</a:t>
              </a:r>
            </a:p>
            <a:p>
              <a:pPr marL="171450" indent="-171450">
                <a:lnSpc>
                  <a:spcPct val="110000"/>
                </a:lnSpc>
                <a:buFont typeface="Arial" panose="020B0604020202020204" pitchFamily="34" charset="0"/>
                <a:buChar char="•"/>
              </a:pPr>
              <a:r>
                <a:rPr lang="en-US" altLang="ko-KR" sz="1200" dirty="0"/>
                <a:t>LLM</a:t>
              </a:r>
              <a:r>
                <a:rPr lang="ko-KR" altLang="en-US" sz="1200" dirty="0"/>
                <a:t>에게 직접 점수를 산정하게 하면 근거 없는 값이 생성되고 같은 입력에도 결과가 달라지므로</a:t>
              </a:r>
              <a:r>
                <a:rPr lang="en-US" altLang="ko-KR" sz="1200" dirty="0"/>
                <a:t>, </a:t>
              </a:r>
              <a:r>
                <a:rPr lang="ko-KR" altLang="en-US" sz="1200" dirty="0"/>
                <a:t>판단은 </a:t>
              </a:r>
              <a:r>
                <a:rPr lang="ko-KR" altLang="en-US" sz="1200" dirty="0" err="1"/>
                <a:t>분류까지로</a:t>
              </a:r>
              <a:r>
                <a:rPr lang="ko-KR" altLang="en-US" sz="1200" dirty="0"/>
                <a:t> 제한한다</a:t>
              </a:r>
              <a:r>
                <a:rPr lang="en-US" altLang="ko-KR" sz="1200" dirty="0"/>
                <a:t>.</a:t>
              </a:r>
            </a:p>
          </p:txBody>
        </p:sp>
      </p:grpSp>
      <p:sp>
        <p:nvSpPr>
          <p:cNvPr id="3" name="AutoShape 2" descr="생성된 이미지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graphicFrame>
        <p:nvGraphicFramePr>
          <p:cNvPr id="10" name="표 9"/>
          <p:cNvGraphicFramePr>
            <a:graphicFrameLocks noGrp="1"/>
          </p:cNvGraphicFramePr>
          <p:nvPr/>
        </p:nvGraphicFramePr>
        <p:xfrm>
          <a:off x="6432298" y="2891526"/>
          <a:ext cx="5010933" cy="22947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0311">
                  <a:extLst>
                    <a:ext uri="{9D8B030D-6E8A-4147-A177-3AD203B41FA5}">
                      <a16:colId xmlns:a16="http://schemas.microsoft.com/office/drawing/2014/main" val="2619089650"/>
                    </a:ext>
                  </a:extLst>
                </a:gridCol>
                <a:gridCol w="1614320">
                  <a:extLst>
                    <a:ext uri="{9D8B030D-6E8A-4147-A177-3AD203B41FA5}">
                      <a16:colId xmlns:a16="http://schemas.microsoft.com/office/drawing/2014/main" val="1433675567"/>
                    </a:ext>
                  </a:extLst>
                </a:gridCol>
                <a:gridCol w="1726302">
                  <a:extLst>
                    <a:ext uri="{9D8B030D-6E8A-4147-A177-3AD203B41FA5}">
                      <a16:colId xmlns:a16="http://schemas.microsoft.com/office/drawing/2014/main" val="2248609651"/>
                    </a:ext>
                  </a:extLst>
                </a:gridCol>
              </a:tblGrid>
              <a:tr h="32874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항목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묻는 것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선택지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5904766"/>
                  </a:ext>
                </a:extLst>
              </a:tr>
              <a:tr h="32874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사건 현실화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사건이 어디까지 </a:t>
                      </a:r>
                      <a:r>
                        <a:rPr lang="ko-KR" altLang="en-US" sz="900" dirty="0" err="1">
                          <a:solidFill>
                            <a:schemeClr val="tx1"/>
                          </a:solidFill>
                        </a:rPr>
                        <a:t>진행됐나</a:t>
                      </a:r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⁰없음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/ ¹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우려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·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논의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/ ²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공식발표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·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결정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/ ³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발생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·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시행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/ ⁴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확대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·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전면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9571946"/>
                  </a:ext>
                </a:extLst>
              </a:tr>
              <a:tr h="32874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공급 연결성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대상 광물 공급과 얼마나 가까운가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⁰무관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/ ¹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낮음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/ ²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제한적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/ ³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주요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/ ⁴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핵심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6934958"/>
                  </a:ext>
                </a:extLst>
              </a:tr>
              <a:tr h="32874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실제 공급차질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실제 차질이 얼마나 났나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⁰없음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/ ¹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우려만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/ ²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부분적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/ ³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상당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/ ⁴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전면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·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대규모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400264"/>
                  </a:ext>
                </a:extLst>
              </a:tr>
              <a:tr h="32874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지속성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얼마나 오래 가나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>
                          <a:solidFill>
                            <a:schemeClr val="tx1"/>
                          </a:solidFill>
                        </a:rPr>
                        <a:t>⁰차질없음 </a:t>
                      </a:r>
                      <a:r>
                        <a:rPr lang="en-US" altLang="ko-KR" sz="900">
                          <a:solidFill>
                            <a:schemeClr val="tx1"/>
                          </a:solidFill>
                        </a:rPr>
                        <a:t>/ ¹</a:t>
                      </a:r>
                      <a:r>
                        <a:rPr lang="ko-KR" altLang="en-US" sz="900">
                          <a:solidFill>
                            <a:schemeClr val="tx1"/>
                          </a:solidFill>
                        </a:rPr>
                        <a:t>일시적 </a:t>
                      </a:r>
                      <a:r>
                        <a:rPr lang="en-US" altLang="ko-KR" sz="900">
                          <a:solidFill>
                            <a:schemeClr val="tx1"/>
                          </a:solidFill>
                        </a:rPr>
                        <a:t>/ ²</a:t>
                      </a:r>
                      <a:r>
                        <a:rPr lang="ko-KR" altLang="en-US" sz="900">
                          <a:solidFill>
                            <a:schemeClr val="tx1"/>
                          </a:solidFill>
                        </a:rPr>
                        <a:t>수주 </a:t>
                      </a:r>
                      <a:r>
                        <a:rPr lang="en-US" altLang="ko-KR" sz="900">
                          <a:solidFill>
                            <a:schemeClr val="tx1"/>
                          </a:solidFill>
                        </a:rPr>
                        <a:t>/ ³</a:t>
                      </a:r>
                      <a:r>
                        <a:rPr lang="ko-KR" altLang="en-US" sz="900">
                          <a:solidFill>
                            <a:schemeClr val="tx1"/>
                          </a:solidFill>
                        </a:rPr>
                        <a:t>수개월 </a:t>
                      </a:r>
                      <a:r>
                        <a:rPr lang="en-US" altLang="ko-KR" sz="900">
                          <a:solidFill>
                            <a:schemeClr val="tx1"/>
                          </a:solidFill>
                        </a:rPr>
                        <a:t>/ ⁴</a:t>
                      </a:r>
                      <a:r>
                        <a:rPr lang="ko-KR" altLang="en-US" sz="900">
                          <a:solidFill>
                            <a:schemeClr val="tx1"/>
                          </a:solidFill>
                        </a:rPr>
                        <a:t>장기</a:t>
                      </a:r>
                      <a:r>
                        <a:rPr lang="en-US" altLang="ko-KR" sz="900">
                          <a:solidFill>
                            <a:schemeClr val="tx1"/>
                          </a:solidFill>
                        </a:rPr>
                        <a:t>·</a:t>
                      </a:r>
                      <a:r>
                        <a:rPr lang="ko-KR" altLang="en-US" sz="900">
                          <a:solidFill>
                            <a:schemeClr val="tx1"/>
                          </a:solidFill>
                        </a:rPr>
                        <a:t>종료불명</a:t>
                      </a:r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8113830"/>
                  </a:ext>
                </a:extLst>
              </a:tr>
              <a:tr h="32874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영향 범위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영향이 어디까지 미치나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⁰없음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/ ¹</a:t>
                      </a:r>
                      <a:r>
                        <a:rPr lang="ko-KR" altLang="en-US" sz="900" dirty="0" err="1">
                          <a:solidFill>
                            <a:schemeClr val="tx1"/>
                          </a:solidFill>
                        </a:rPr>
                        <a:t>단일시설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/ ²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기업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·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지역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/ ³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국가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/ ⁴</a:t>
                      </a:r>
                      <a:r>
                        <a:rPr lang="ko-KR" altLang="en-US" sz="900" dirty="0" err="1">
                          <a:solidFill>
                            <a:schemeClr val="tx1"/>
                          </a:solidFill>
                        </a:rPr>
                        <a:t>복수국가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·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글로벌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963783"/>
                  </a:ext>
                </a:extLst>
              </a:tr>
            </a:tbl>
          </a:graphicData>
        </a:graphic>
      </p:graphicFrame>
      <p:sp>
        <p:nvSpPr>
          <p:cNvPr id="27" name="Text 9"/>
          <p:cNvSpPr/>
          <p:nvPr/>
        </p:nvSpPr>
        <p:spPr>
          <a:xfrm>
            <a:off x="394918" y="4383052"/>
            <a:ext cx="4320172" cy="838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ko-KR" altLang="en-US" sz="1200" dirty="0"/>
              <a:t>고른 선택지를 채점표에 따라 </a:t>
            </a:r>
            <a:r>
              <a:rPr lang="en-US" altLang="ko-KR" sz="1200" dirty="0"/>
              <a:t>0~4</a:t>
            </a:r>
            <a:r>
              <a:rPr lang="ko-KR" altLang="en-US" sz="1200" dirty="0"/>
              <a:t>점으로 환산해 사건별 점수를 산출하고</a:t>
            </a:r>
            <a:r>
              <a:rPr lang="en-US" altLang="ko-KR" sz="1200" dirty="0"/>
              <a:t>, </a:t>
            </a:r>
            <a:r>
              <a:rPr lang="ko-KR" altLang="en-US" sz="1200" dirty="0"/>
              <a:t>그 주의 사건 점수 중 최댓값을 주간 점수로 삼는다</a:t>
            </a:r>
            <a:r>
              <a:rPr lang="en-US" altLang="ko-KR" sz="1200" dirty="0"/>
              <a:t>. </a:t>
            </a:r>
          </a:p>
        </p:txBody>
      </p:sp>
      <p:sp>
        <p:nvSpPr>
          <p:cNvPr id="29" name="Text 8"/>
          <p:cNvSpPr/>
          <p:nvPr/>
        </p:nvSpPr>
        <p:spPr>
          <a:xfrm>
            <a:off x="6432299" y="2437834"/>
            <a:ext cx="4320172" cy="268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700" b="1" dirty="0"/>
              <a:t>분류 종류</a:t>
            </a:r>
            <a:endParaRPr lang="en-US" sz="17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332625" y="5387068"/>
                <a:ext cx="5335500" cy="104009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사건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점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수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등</m:t>
                          </m:r>
                          <m:r>
                            <a:rPr lang="ko-KR" altLang="en-US" i="1" smtClean="0">
                              <a:latin typeface="Cambria Math" panose="02040503050406030204" pitchFamily="18" charset="0"/>
                            </a:rPr>
                            <m:t>급</m:t>
                          </m:r>
                          <m: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÷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 (4 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 </m:t>
                          </m:r>
                          <m:r>
                            <a:rPr lang="ko-KR" alt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평</m:t>
                          </m:r>
                          <m:r>
                            <a:rPr lang="ko-KR" alt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가</m:t>
                          </m:r>
                          <m:r>
                            <a:rPr lang="ko-KR" alt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항</m:t>
                          </m:r>
                          <m:r>
                            <a:rPr lang="ko-KR" alt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목</m:t>
                          </m:r>
                          <m:r>
                            <a:rPr lang="ko-KR" alt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수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×100</m:t>
                      </m:r>
                    </m:oMath>
                  </m:oMathPara>
                </a14:m>
                <a:endParaRPr lang="en-US" altLang="ko-KR" b="0" dirty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ko-KR" altLang="en-US" i="1" dirty="0">
                        <a:latin typeface="Cambria Math" panose="02040503050406030204" pitchFamily="18" charset="0"/>
                      </a:rPr>
                      <m:t>주</m:t>
                    </m:r>
                    <m:r>
                      <a:rPr lang="ko-KR" altLang="en-US" i="1" dirty="0" smtClean="0">
                        <a:latin typeface="Cambria Math" panose="02040503050406030204" pitchFamily="18" charset="0"/>
                      </a:rPr>
                      <m:t>간</m:t>
                    </m:r>
                    <m:r>
                      <a:rPr lang="ko-KR" altLang="en-US" i="1" dirty="0">
                        <a:latin typeface="Cambria Math" panose="02040503050406030204" pitchFamily="18" charset="0"/>
                      </a:rPr>
                      <m:t>점</m:t>
                    </m:r>
                    <m:r>
                      <a:rPr lang="ko-KR" altLang="en-US" i="1" dirty="0" smtClean="0">
                        <a:latin typeface="Cambria Math" panose="02040503050406030204" pitchFamily="18" charset="0"/>
                      </a:rPr>
                      <m:t>수</m:t>
                    </m:r>
                    <m:r>
                      <a:rPr lang="en-US" altLang="ko-KR" b="0" i="0" dirty="0" smtClean="0"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</a:rPr>
                      <m:t>max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사</m:t>
                    </m:r>
                  </m:oMath>
                </a14:m>
                <a:r>
                  <a:rPr lang="ko-KR" altLang="en-US" dirty="0"/>
                  <a:t>건점수</a:t>
                </a:r>
                <a:r>
                  <a:rPr lang="en-US" altLang="ko-KR" dirty="0"/>
                  <a:t>)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625" y="5387068"/>
                <a:ext cx="5335500" cy="1040093"/>
              </a:xfrm>
              <a:prstGeom prst="rect">
                <a:avLst/>
              </a:prstGeom>
              <a:blipFill>
                <a:blip r:embed="rId3"/>
                <a:stretch>
                  <a:fillRect b="-882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45593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06005-13DD-F4F0-C12B-178805B4C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86964A6A-9C8B-4703-C8FA-FFA6799E58C0}"/>
              </a:ext>
            </a:extLst>
          </p:cNvPr>
          <p:cNvSpPr txBox="1"/>
          <p:nvPr/>
        </p:nvSpPr>
        <p:spPr>
          <a:xfrm>
            <a:off x="0" y="453187"/>
            <a:ext cx="30003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eesentation 5 Medium" pitchFamily="2" charset="-127"/>
                <a:ea typeface="Freesentation 5 Medium" pitchFamily="2" charset="-127"/>
                <a:cs typeface="Pretendard Light" panose="02000403000000020004" pitchFamily="50" charset="-127"/>
              </a:rPr>
              <a:t>과업별 세부 진행사항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eesentation 5 Medium" pitchFamily="2" charset="-127"/>
              <a:ea typeface="Freesentation 5 Medium" pitchFamily="2" charset="-127"/>
              <a:cs typeface="Pretendard Light" panose="02000403000000020004" pitchFamily="50" charset="-127"/>
            </a:endParaRPr>
          </a:p>
        </p:txBody>
      </p:sp>
      <p:sp>
        <p:nvSpPr>
          <p:cNvPr id="7" name="슬라이드 번호 개체 틀 1">
            <a:extLst>
              <a:ext uri="{FF2B5EF4-FFF2-40B4-BE49-F238E27FC236}">
                <a16:creationId xmlns:a16="http://schemas.microsoft.com/office/drawing/2014/main" id="{CBFF1D73-D4F1-7E9E-6FFD-996E4113B9F3}"/>
              </a:ext>
            </a:extLst>
          </p:cNvPr>
          <p:cNvSpPr txBox="1">
            <a:spLocks/>
          </p:cNvSpPr>
          <p:nvPr/>
        </p:nvSpPr>
        <p:spPr>
          <a:xfrm>
            <a:off x="9442493" y="6488255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10DBAC-22C5-4AD0-A416-546E7904AF50}" type="slidenum"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89D157-DB3E-86D6-1EF1-D7ACE5D3F568}"/>
              </a:ext>
            </a:extLst>
          </p:cNvPr>
          <p:cNvSpPr txBox="1"/>
          <p:nvPr/>
        </p:nvSpPr>
        <p:spPr>
          <a:xfrm>
            <a:off x="123891" y="991182"/>
            <a:ext cx="67110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2000" b="0" spc="0">
                <a:solidFill>
                  <a:srgbClr val="000000"/>
                </a:solidFill>
                <a:latin typeface="+mj-ea"/>
                <a:ea typeface="+mj-ea"/>
                <a:cs typeface="Pretendard SemiBold" panose="02000503000000020004" pitchFamily="2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프리젠테이션 7 Bold"/>
                <a:ea typeface="프리젠테이션 7 Bold"/>
                <a:cs typeface="Pretendard SemiBold" panose="02000503000000020004" pitchFamily="2" charset="-127"/>
              </a:rPr>
              <a:t>1. </a:t>
            </a:r>
            <a:r>
              <a:rPr kumimoji="0" lang="ko-KR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프리젠테이션 7 Bold"/>
                <a:ea typeface="프리젠테이션 7 Bold"/>
                <a:cs typeface="Pretendard SemiBold" panose="02000503000000020004" pitchFamily="2" charset="-127"/>
              </a:rPr>
              <a:t>수급위기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프리젠테이션 7 Bold"/>
                <a:ea typeface="프리젠테이션 7 Bold"/>
                <a:cs typeface="Pretendard SemiBold" panose="02000503000000020004" pitchFamily="2" charset="-127"/>
              </a:rPr>
              <a:t> 진단 모델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75C638-9116-F0D1-73DF-7F7C5F4DEE56}"/>
              </a:ext>
            </a:extLst>
          </p:cNvPr>
          <p:cNvSpPr txBox="1"/>
          <p:nvPr/>
        </p:nvSpPr>
        <p:spPr>
          <a:xfrm>
            <a:off x="312123" y="1550850"/>
            <a:ext cx="2812950" cy="2954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144000" indent="-144000" latinLnBrk="0">
              <a:lnSpc>
                <a:spcPct val="120000"/>
              </a:lnSpc>
              <a:spcBef>
                <a:spcPct val="0"/>
              </a:spcBef>
              <a:spcAft>
                <a:spcPts val="100"/>
              </a:spcAft>
              <a:buClr>
                <a:prstClr val="white">
                  <a:lumMod val="50000"/>
                </a:prstClr>
              </a:buClr>
              <a:buFont typeface="Wingdings" panose="05000000000000000000" pitchFamily="2" charset="2"/>
              <a:buChar char="§"/>
              <a:defRPr sz="1200" spc="0">
                <a:ln>
                  <a:solidFill>
                    <a:srgbClr val="3F4057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Freesentation 4 Regular" pitchFamily="2" charset="-127"/>
                <a:ea typeface="Freesentation 4 Regular" pitchFamily="2" charset="-127"/>
              </a:defRPr>
            </a:lvl1pPr>
          </a:lstStyle>
          <a:p>
            <a:pPr marL="144000" marR="0" lvl="0" indent="-1440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100"/>
              </a:spcAft>
              <a:buClr>
                <a:prstClr val="white">
                  <a:lumMod val="50000"/>
                </a:prst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ko-KR" altLang="en-US" sz="1600" dirty="0">
                <a:solidFill>
                  <a:srgbClr val="000000">
                    <a:lumMod val="65000"/>
                    <a:lumOff val="35000"/>
                  </a:srgbClr>
                </a:solidFill>
              </a:rPr>
              <a:t>지정학적리스크 점수화 결과</a:t>
            </a:r>
            <a:endParaRPr kumimoji="0" lang="ko-KR" altLang="en-US" sz="1600" b="0" i="0" u="none" strike="noStrike" kern="1200" cap="none" spc="0" normalizeH="0" baseline="0" noProof="0" dirty="0">
              <a:ln>
                <a:solidFill>
                  <a:srgbClr val="3F4057">
                    <a:alpha val="0"/>
                  </a:srgbClr>
                </a:solidFill>
              </a:ln>
              <a:solidFill>
                <a:schemeClr val="tx1"/>
              </a:solidFill>
              <a:effectLst/>
              <a:uLnTx/>
              <a:uFillTx/>
              <a:latin typeface="Freesentation 4 Regular" pitchFamily="2" charset="-127"/>
              <a:ea typeface="Freesentation 4 Regular" pitchFamily="2" charset="-127"/>
              <a:cs typeface="+mn-cs"/>
            </a:endParaRPr>
          </a:p>
        </p:txBody>
      </p:sp>
      <p:sp>
        <p:nvSpPr>
          <p:cNvPr id="3" name="AutoShape 2" descr="생성된 이미지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5" name="Text 3"/>
          <p:cNvSpPr/>
          <p:nvPr/>
        </p:nvSpPr>
        <p:spPr>
          <a:xfrm>
            <a:off x="312123" y="1846316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8000"/>
              </a:lnSpc>
            </a:pPr>
            <a:r>
              <a:rPr lang="ko-KR" altLang="en-US" sz="1450" dirty="0"/>
              <a:t>위험 점수</a:t>
            </a:r>
            <a:r>
              <a:rPr lang="en-US" altLang="ko-KR" sz="1450" dirty="0"/>
              <a:t>(</a:t>
            </a:r>
            <a:r>
              <a:rPr lang="ko-KR" altLang="en-US" sz="1450" dirty="0"/>
              <a:t>지정학적 리스크</a:t>
            </a:r>
            <a:r>
              <a:rPr lang="en-US" altLang="ko-KR" sz="1450" dirty="0"/>
              <a:t>)</a:t>
            </a:r>
            <a:r>
              <a:rPr lang="ko-KR" altLang="en-US" sz="1450" dirty="0"/>
              <a:t>가 러</a:t>
            </a:r>
            <a:r>
              <a:rPr lang="en-US" altLang="ko-KR" sz="1450" dirty="0"/>
              <a:t>-</a:t>
            </a:r>
            <a:r>
              <a:rPr lang="ko-KR" altLang="en-US" sz="1450" dirty="0"/>
              <a:t>우 전쟁 이후 및 중국 니켈 생산량 감소 갑작스러운 변화를 보이는 것을 확인할 수 있음 </a:t>
            </a:r>
            <a:endParaRPr lang="en-US" altLang="ko-KR" sz="1450" dirty="0"/>
          </a:p>
        </p:txBody>
      </p:sp>
      <p:sp>
        <p:nvSpPr>
          <p:cNvPr id="12" name="Text 3"/>
          <p:cNvSpPr/>
          <p:nvPr/>
        </p:nvSpPr>
        <p:spPr>
          <a:xfrm>
            <a:off x="312123" y="2346051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8000"/>
              </a:lnSpc>
            </a:pPr>
            <a:endParaRPr lang="en-US" sz="1200" dirty="0">
              <a:solidFill>
                <a:srgbClr val="FF0000"/>
              </a:solidFill>
            </a:endParaRPr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3"/>
          <a:srcRect t="5701" b="58785"/>
          <a:stretch/>
        </p:blipFill>
        <p:spPr>
          <a:xfrm>
            <a:off x="384308" y="3229618"/>
            <a:ext cx="3370342" cy="168760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90071" y="5343591"/>
            <a:ext cx="9958293" cy="838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ko-KR" altLang="en-US" sz="1200" dirty="0"/>
              <a:t>주요 과거 이벤트</a:t>
            </a:r>
            <a:r>
              <a:rPr lang="en-US" altLang="ko-KR" sz="1200" dirty="0"/>
              <a:t>(</a:t>
            </a:r>
            <a:r>
              <a:rPr lang="ko-KR" altLang="en-US" sz="1200" dirty="0"/>
              <a:t>러</a:t>
            </a:r>
            <a:r>
              <a:rPr lang="en-US" altLang="ko-KR" sz="1200" dirty="0"/>
              <a:t>-</a:t>
            </a:r>
            <a:r>
              <a:rPr lang="ko-KR" altLang="en-US" sz="1200" dirty="0" err="1"/>
              <a:t>우전쟁</a:t>
            </a:r>
            <a:r>
              <a:rPr lang="en-US" altLang="ko-KR" sz="1200" dirty="0"/>
              <a:t>, </a:t>
            </a:r>
            <a:r>
              <a:rPr lang="ko-KR" altLang="en-US" sz="1200" dirty="0"/>
              <a:t>중국 니켈 생산량 감소</a:t>
            </a:r>
            <a:r>
              <a:rPr lang="en-US" altLang="ko-KR" sz="1200" dirty="0"/>
              <a:t>)</a:t>
            </a:r>
            <a:r>
              <a:rPr lang="ko-KR" altLang="en-US" sz="1200" dirty="0"/>
              <a:t>를 대상으로 해당 </a:t>
            </a:r>
            <a:r>
              <a:rPr lang="ko-KR" altLang="en-US" sz="1200" dirty="0" err="1"/>
              <a:t>위험점수가</a:t>
            </a:r>
            <a:r>
              <a:rPr lang="ko-KR" altLang="en-US" sz="1200" dirty="0"/>
              <a:t> 변화가 하는 것을 볼 수 있음 </a:t>
            </a:r>
            <a:endParaRPr lang="en-US" altLang="ko-KR" sz="1200" dirty="0"/>
          </a:p>
        </p:txBody>
      </p:sp>
      <p:sp>
        <p:nvSpPr>
          <p:cNvPr id="17" name="설명선 2 16"/>
          <p:cNvSpPr/>
          <p:nvPr/>
        </p:nvSpPr>
        <p:spPr>
          <a:xfrm>
            <a:off x="3207185" y="4567591"/>
            <a:ext cx="443691" cy="219562"/>
          </a:xfrm>
          <a:prstGeom prst="borderCallout2">
            <a:avLst>
              <a:gd name="adj1" fmla="val 21812"/>
              <a:gd name="adj2" fmla="val 112896"/>
              <a:gd name="adj3" fmla="val 30999"/>
              <a:gd name="adj4" fmla="val 113655"/>
              <a:gd name="adj5" fmla="val 75865"/>
              <a:gd name="adj6" fmla="val 213559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설명선 2 17"/>
          <p:cNvSpPr/>
          <p:nvPr/>
        </p:nvSpPr>
        <p:spPr>
          <a:xfrm>
            <a:off x="3257554" y="3354124"/>
            <a:ext cx="443691" cy="135388"/>
          </a:xfrm>
          <a:prstGeom prst="borderCallout2">
            <a:avLst>
              <a:gd name="adj1" fmla="val 21812"/>
              <a:gd name="adj2" fmla="val 112896"/>
              <a:gd name="adj3" fmla="val 30999"/>
              <a:gd name="adj4" fmla="val 113655"/>
              <a:gd name="adj5" fmla="val 75865"/>
              <a:gd name="adj6" fmla="val 213559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 9"/>
          <p:cNvSpPr/>
          <p:nvPr/>
        </p:nvSpPr>
        <p:spPr>
          <a:xfrm>
            <a:off x="4435287" y="3249290"/>
            <a:ext cx="1216959" cy="529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ko-KR" altLang="en-US" sz="1200" dirty="0"/>
              <a:t>중국 니켈 생산량 감소</a:t>
            </a:r>
            <a:r>
              <a:rPr lang="en-US" altLang="ko-KR" sz="1200" dirty="0"/>
              <a:t>(35.6%)</a:t>
            </a:r>
          </a:p>
        </p:txBody>
      </p:sp>
      <p:sp>
        <p:nvSpPr>
          <p:cNvPr id="20" name="Text 9"/>
          <p:cNvSpPr/>
          <p:nvPr/>
        </p:nvSpPr>
        <p:spPr>
          <a:xfrm>
            <a:off x="4435288" y="4660070"/>
            <a:ext cx="1216959" cy="529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ko-KR" altLang="en-US" sz="1200"/>
              <a:t>러</a:t>
            </a:r>
            <a:r>
              <a:rPr lang="en-US" altLang="ko-KR" sz="1200" dirty="0"/>
              <a:t>-</a:t>
            </a:r>
            <a:r>
              <a:rPr lang="ko-KR" altLang="en-US" sz="1200" dirty="0"/>
              <a:t>우 전쟁</a:t>
            </a:r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2963707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06005-13DD-F4F0-C12B-178805B4C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86964A6A-9C8B-4703-C8FA-FFA6799E58C0}"/>
              </a:ext>
            </a:extLst>
          </p:cNvPr>
          <p:cNvSpPr txBox="1"/>
          <p:nvPr/>
        </p:nvSpPr>
        <p:spPr>
          <a:xfrm>
            <a:off x="0" y="453187"/>
            <a:ext cx="30003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eesentation 5 Medium" pitchFamily="2" charset="-127"/>
                <a:ea typeface="Freesentation 5 Medium" pitchFamily="2" charset="-127"/>
                <a:cs typeface="Pretendard Light" panose="02000403000000020004" pitchFamily="50" charset="-127"/>
              </a:rPr>
              <a:t>과업별 세부 진행사항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eesentation 5 Medium" pitchFamily="2" charset="-127"/>
              <a:ea typeface="Freesentation 5 Medium" pitchFamily="2" charset="-127"/>
              <a:cs typeface="Pretendard Light" panose="02000403000000020004" pitchFamily="50" charset="-127"/>
            </a:endParaRPr>
          </a:p>
        </p:txBody>
      </p:sp>
      <p:sp>
        <p:nvSpPr>
          <p:cNvPr id="7" name="슬라이드 번호 개체 틀 1">
            <a:extLst>
              <a:ext uri="{FF2B5EF4-FFF2-40B4-BE49-F238E27FC236}">
                <a16:creationId xmlns:a16="http://schemas.microsoft.com/office/drawing/2014/main" id="{CBFF1D73-D4F1-7E9E-6FFD-996E4113B9F3}"/>
              </a:ext>
            </a:extLst>
          </p:cNvPr>
          <p:cNvSpPr txBox="1">
            <a:spLocks/>
          </p:cNvSpPr>
          <p:nvPr/>
        </p:nvSpPr>
        <p:spPr>
          <a:xfrm>
            <a:off x="9442493" y="6488255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10DBAC-22C5-4AD0-A416-546E7904AF50}" type="slidenum"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89D157-DB3E-86D6-1EF1-D7ACE5D3F568}"/>
              </a:ext>
            </a:extLst>
          </p:cNvPr>
          <p:cNvSpPr txBox="1"/>
          <p:nvPr/>
        </p:nvSpPr>
        <p:spPr>
          <a:xfrm>
            <a:off x="123891" y="991182"/>
            <a:ext cx="67110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2000" b="0" spc="0">
                <a:solidFill>
                  <a:srgbClr val="000000"/>
                </a:solidFill>
                <a:latin typeface="+mj-ea"/>
                <a:ea typeface="+mj-ea"/>
                <a:cs typeface="Pretendard SemiBold" panose="02000503000000020004" pitchFamily="2" charset="-127"/>
              </a:defRPr>
            </a:lvl1pPr>
          </a:lstStyle>
          <a:p>
            <a:pPr lvl="0">
              <a:defRPr/>
            </a:pPr>
            <a:r>
              <a:rPr lang="en-US" altLang="ko-KR" dirty="0">
                <a:latin typeface="프리젠테이션 7 Bold"/>
                <a:ea typeface="프리젠테이션 7 Bold"/>
              </a:rPr>
              <a:t>3. </a:t>
            </a:r>
            <a:r>
              <a:rPr lang="ko-KR" altLang="en-US" dirty="0">
                <a:latin typeface="프리젠테이션 7 Bold"/>
                <a:ea typeface="프리젠테이션 7 Bold"/>
              </a:rPr>
              <a:t>방법론 및 모델 선정 배경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75C638-9116-F0D1-73DF-7F7C5F4DEE56}"/>
              </a:ext>
            </a:extLst>
          </p:cNvPr>
          <p:cNvSpPr txBox="1"/>
          <p:nvPr/>
        </p:nvSpPr>
        <p:spPr>
          <a:xfrm>
            <a:off x="312123" y="1550850"/>
            <a:ext cx="3120726" cy="2954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144000" indent="-144000" latinLnBrk="0">
              <a:lnSpc>
                <a:spcPct val="120000"/>
              </a:lnSpc>
              <a:spcBef>
                <a:spcPct val="0"/>
              </a:spcBef>
              <a:spcAft>
                <a:spcPts val="100"/>
              </a:spcAft>
              <a:buClr>
                <a:prstClr val="white">
                  <a:lumMod val="50000"/>
                </a:prstClr>
              </a:buClr>
              <a:buFont typeface="Wingdings" panose="05000000000000000000" pitchFamily="2" charset="2"/>
              <a:buChar char="§"/>
              <a:defRPr sz="1200" spc="0">
                <a:ln>
                  <a:solidFill>
                    <a:srgbClr val="3F4057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Freesentation 4 Regular" pitchFamily="2" charset="-127"/>
                <a:ea typeface="Freesentation 4 Regular" pitchFamily="2" charset="-127"/>
              </a:defRPr>
            </a:lvl1pPr>
          </a:lstStyle>
          <a:p>
            <a:pPr marL="144000" marR="0" lvl="0" indent="-1440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100"/>
              </a:spcAft>
              <a:buClr>
                <a:prstClr val="white">
                  <a:lumMod val="50000"/>
                </a:prst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 err="1">
                <a:ln>
                  <a:solidFill>
                    <a:srgbClr val="3F4057">
                      <a:alpha val="0"/>
                    </a:srgb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Freesentation 4 Regular" pitchFamily="2" charset="-127"/>
                <a:ea typeface="Freesentation 4 Regular" pitchFamily="2" charset="-127"/>
                <a:cs typeface="+mn-cs"/>
              </a:rPr>
              <a:t>위기점수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solidFill>
                    <a:srgbClr val="3F4057">
                      <a:alpha val="0"/>
                    </a:srgb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Freesentation 4 Regular" pitchFamily="2" charset="-127"/>
                <a:ea typeface="Freesentation 4 Regular" pitchFamily="2" charset="-127"/>
                <a:cs typeface="+mn-cs"/>
              </a:rPr>
              <a:t> 및 단계별 산출 방법 </a:t>
            </a:r>
          </a:p>
        </p:txBody>
      </p:sp>
      <p:grpSp>
        <p:nvGrpSpPr>
          <p:cNvPr id="12" name="그룹 11"/>
          <p:cNvGrpSpPr/>
          <p:nvPr/>
        </p:nvGrpSpPr>
        <p:grpSpPr>
          <a:xfrm>
            <a:off x="438914" y="3232766"/>
            <a:ext cx="6001349" cy="3989211"/>
            <a:chOff x="566928" y="2034017"/>
            <a:chExt cx="5889851" cy="4444894"/>
          </a:xfrm>
        </p:grpSpPr>
        <p:grpSp>
          <p:nvGrpSpPr>
            <p:cNvPr id="13" name="그룹 12"/>
            <p:cNvGrpSpPr/>
            <p:nvPr/>
          </p:nvGrpSpPr>
          <p:grpSpPr>
            <a:xfrm>
              <a:off x="566928" y="2034017"/>
              <a:ext cx="5889851" cy="4444894"/>
              <a:chOff x="576072" y="2340864"/>
              <a:chExt cx="6025896" cy="4361417"/>
            </a:xfrm>
          </p:grpSpPr>
          <p:sp>
            <p:nvSpPr>
              <p:cNvPr id="19" name="Shape 4"/>
              <p:cNvSpPr/>
              <p:nvPr/>
            </p:nvSpPr>
            <p:spPr>
              <a:xfrm>
                <a:off x="576072" y="2441448"/>
                <a:ext cx="118872" cy="118872"/>
              </a:xfrm>
              <a:prstGeom prst="rect">
                <a:avLst/>
              </a:prstGeom>
              <a:solidFill>
                <a:srgbClr val="1A1A1A"/>
              </a:solidFill>
              <a:ln/>
            </p:spPr>
          </p:sp>
          <p:sp>
            <p:nvSpPr>
              <p:cNvPr id="20" name="Text 5"/>
              <p:cNvSpPr/>
              <p:nvPr/>
            </p:nvSpPr>
            <p:spPr>
              <a:xfrm>
                <a:off x="859536" y="2340864"/>
                <a:ext cx="5742432" cy="31089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ko-KR" altLang="en-US" sz="1700" b="1" dirty="0">
                    <a:solidFill>
                      <a:srgbClr val="1A1A1A"/>
                    </a:solidFill>
                    <a:latin typeface="Malgun Gothic" pitchFamily="34" charset="0"/>
                    <a:ea typeface="Malgun Gothic" pitchFamily="34" charset="-122"/>
                  </a:rPr>
                  <a:t>위기 단계별 확률 산출</a:t>
                </a:r>
                <a:endParaRPr lang="en-US" altLang="ko-KR" sz="1700" dirty="0"/>
              </a:p>
            </p:txBody>
          </p:sp>
          <p:sp>
            <p:nvSpPr>
              <p:cNvPr id="21" name="Text 6"/>
              <p:cNvSpPr/>
              <p:nvPr/>
            </p:nvSpPr>
            <p:spPr>
              <a:xfrm>
                <a:off x="859536" y="2871724"/>
                <a:ext cx="5742432" cy="6400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10000"/>
                  </a:lnSpc>
                </a:pPr>
                <a:endParaRPr lang="en-US" altLang="ko-KR" sz="1400" dirty="0"/>
              </a:p>
            </p:txBody>
          </p:sp>
          <p:sp>
            <p:nvSpPr>
              <p:cNvPr id="22" name="Shape 7"/>
              <p:cNvSpPr/>
              <p:nvPr/>
            </p:nvSpPr>
            <p:spPr>
              <a:xfrm>
                <a:off x="576072" y="3767456"/>
                <a:ext cx="118872" cy="118872"/>
              </a:xfrm>
              <a:prstGeom prst="rect">
                <a:avLst/>
              </a:prstGeom>
              <a:solidFill>
                <a:srgbClr val="1A1A1A"/>
              </a:solidFill>
              <a:ln/>
            </p:spPr>
          </p:sp>
          <p:sp>
            <p:nvSpPr>
              <p:cNvPr id="23" name="Text 8"/>
              <p:cNvSpPr/>
              <p:nvPr/>
            </p:nvSpPr>
            <p:spPr>
              <a:xfrm>
                <a:off x="859536" y="3676395"/>
                <a:ext cx="5742432" cy="31089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ko-KR" altLang="en-US" sz="1700" b="1" dirty="0"/>
                  <a:t>확률 기반 위기 점수 </a:t>
                </a:r>
                <a:endParaRPr lang="en-US" sz="1700" b="1" dirty="0"/>
              </a:p>
            </p:txBody>
          </p:sp>
          <p:sp>
            <p:nvSpPr>
              <p:cNvPr id="24" name="Text 9"/>
              <p:cNvSpPr/>
              <p:nvPr/>
            </p:nvSpPr>
            <p:spPr>
              <a:xfrm>
                <a:off x="859536" y="5602072"/>
                <a:ext cx="5742432" cy="1100209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10000"/>
                  </a:lnSpc>
                </a:pPr>
                <a:endParaRPr lang="en-US" altLang="ko-KR" sz="1400" dirty="0"/>
              </a:p>
            </p:txBody>
          </p:sp>
        </p:grpSp>
        <p:sp>
          <p:nvSpPr>
            <p:cNvPr id="15" name="Text 8"/>
            <p:cNvSpPr/>
            <p:nvPr/>
          </p:nvSpPr>
          <p:spPr>
            <a:xfrm>
              <a:off x="768096" y="4989612"/>
              <a:ext cx="5612787" cy="31684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endParaRPr lang="en-US" sz="1700" dirty="0"/>
            </a:p>
          </p:txBody>
        </p:sp>
        <p:sp>
          <p:nvSpPr>
            <p:cNvPr id="17" name="Text 9"/>
            <p:cNvSpPr/>
            <p:nvPr/>
          </p:nvSpPr>
          <p:spPr>
            <a:xfrm>
              <a:off x="683116" y="2303282"/>
              <a:ext cx="5612787" cy="112126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altLang="ko-KR" sz="1400" dirty="0"/>
                <a:t>LLM</a:t>
              </a:r>
              <a:r>
                <a:rPr lang="ko-KR" altLang="en-US" sz="1400" dirty="0"/>
                <a:t>은 각 토큰 생성 시 어휘에 대한 확률 분포를 산출한다</a:t>
              </a:r>
              <a:r>
                <a:rPr lang="en-US" altLang="ko-KR" sz="1400" dirty="0"/>
                <a:t>. </a:t>
              </a:r>
              <a:r>
                <a:rPr lang="ko-KR" altLang="en-US" sz="1400" dirty="0" err="1"/>
                <a:t>경보단계가</a:t>
              </a:r>
              <a:r>
                <a:rPr lang="ko-KR" altLang="en-US" sz="1400" dirty="0"/>
                <a:t> 출력되는 시점에서 평시</a:t>
              </a:r>
              <a:r>
                <a:rPr lang="en-US" altLang="ko-KR" sz="1400" dirty="0"/>
                <a:t>·</a:t>
              </a:r>
              <a:r>
                <a:rPr lang="ko-KR" altLang="en-US" sz="1400" dirty="0"/>
                <a:t>관심</a:t>
              </a:r>
              <a:r>
                <a:rPr lang="en-US" altLang="ko-KR" sz="1400" dirty="0"/>
                <a:t>·</a:t>
              </a:r>
              <a:r>
                <a:rPr lang="ko-KR" altLang="en-US" sz="1400" dirty="0"/>
                <a:t>주의</a:t>
              </a:r>
              <a:r>
                <a:rPr lang="en-US" altLang="ko-KR" sz="1400" dirty="0"/>
                <a:t>·</a:t>
              </a:r>
              <a:r>
                <a:rPr lang="ko-KR" altLang="en-US" sz="1400" dirty="0"/>
                <a:t>경계</a:t>
              </a:r>
              <a:r>
                <a:rPr lang="en-US" altLang="ko-KR" sz="1400" dirty="0"/>
                <a:t>·</a:t>
              </a:r>
              <a:r>
                <a:rPr lang="ko-KR" altLang="en-US" sz="1400" dirty="0"/>
                <a:t>심각에 해당하는 </a:t>
              </a:r>
              <a:r>
                <a:rPr lang="en-US" altLang="ko-KR" sz="1400" dirty="0"/>
                <a:t>5</a:t>
              </a:r>
              <a:r>
                <a:rPr lang="ko-KR" altLang="en-US" sz="1400" dirty="0"/>
                <a:t>개 단계의 토큰 확률을 추출하고 재정규화하여</a:t>
              </a:r>
              <a:r>
                <a:rPr lang="en-US" altLang="ko-KR" sz="1400" dirty="0"/>
                <a:t>, </a:t>
              </a:r>
              <a:r>
                <a:rPr lang="ko-KR" altLang="en-US" sz="1400" dirty="0"/>
                <a:t>위기 단계별 확률을 산출한다</a:t>
              </a:r>
              <a:r>
                <a:rPr lang="en-US" altLang="ko-KR" sz="1400" dirty="0"/>
                <a:t>.</a:t>
              </a:r>
            </a:p>
          </p:txBody>
        </p:sp>
        <p:sp>
          <p:nvSpPr>
            <p:cNvPr id="18" name="Text 9"/>
            <p:cNvSpPr/>
            <p:nvPr/>
          </p:nvSpPr>
          <p:spPr>
            <a:xfrm>
              <a:off x="676656" y="3707650"/>
              <a:ext cx="5612787" cy="112126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altLang="ko-KR" sz="1400" dirty="0">
                  <a:solidFill>
                    <a:srgbClr val="565656"/>
                  </a:solidFill>
                  <a:latin typeface="Malgun Gothic" pitchFamily="34" charset="0"/>
                  <a:ea typeface="Malgun Gothic" pitchFamily="34" charset="-122"/>
                </a:rPr>
                <a:t>LLM</a:t>
              </a:r>
              <a:r>
                <a:rPr lang="ko-KR" altLang="en-US" sz="1400" dirty="0">
                  <a:solidFill>
                    <a:srgbClr val="565656"/>
                  </a:solidFill>
                  <a:latin typeface="Malgun Gothic" pitchFamily="34" charset="0"/>
                  <a:ea typeface="Malgun Gothic" pitchFamily="34" charset="-122"/>
                </a:rPr>
                <a:t>이 산출한 단계별 확률을 기반으로 평시</a:t>
              </a:r>
              <a:r>
                <a:rPr lang="en-US" altLang="ko-KR" sz="1400" dirty="0">
                  <a:solidFill>
                    <a:srgbClr val="565656"/>
                  </a:solidFill>
                  <a:latin typeface="Malgun Gothic" pitchFamily="34" charset="0"/>
                  <a:ea typeface="Malgun Gothic" pitchFamily="34" charset="-122"/>
                </a:rPr>
                <a:t>·</a:t>
              </a:r>
              <a:r>
                <a:rPr lang="ko-KR" altLang="en-US" sz="1400" dirty="0">
                  <a:solidFill>
                    <a:srgbClr val="565656"/>
                  </a:solidFill>
                  <a:latin typeface="Malgun Gothic" pitchFamily="34" charset="0"/>
                  <a:ea typeface="Malgun Gothic" pitchFamily="34" charset="-122"/>
                </a:rPr>
                <a:t>관심</a:t>
              </a:r>
              <a:r>
                <a:rPr lang="en-US" altLang="ko-KR" sz="1400" dirty="0">
                  <a:solidFill>
                    <a:srgbClr val="565656"/>
                  </a:solidFill>
                  <a:latin typeface="Malgun Gothic" pitchFamily="34" charset="0"/>
                  <a:ea typeface="Malgun Gothic" pitchFamily="34" charset="-122"/>
                </a:rPr>
                <a:t>·</a:t>
              </a:r>
              <a:r>
                <a:rPr lang="ko-KR" altLang="en-US" sz="1400" dirty="0">
                  <a:solidFill>
                    <a:srgbClr val="565656"/>
                  </a:solidFill>
                  <a:latin typeface="Malgun Gothic" pitchFamily="34" charset="0"/>
                  <a:ea typeface="Malgun Gothic" pitchFamily="34" charset="-122"/>
                </a:rPr>
                <a:t>주의</a:t>
              </a:r>
              <a:r>
                <a:rPr lang="en-US" altLang="ko-KR" sz="1400" dirty="0">
                  <a:solidFill>
                    <a:srgbClr val="565656"/>
                  </a:solidFill>
                  <a:latin typeface="Malgun Gothic" pitchFamily="34" charset="0"/>
                  <a:ea typeface="Malgun Gothic" pitchFamily="34" charset="-122"/>
                </a:rPr>
                <a:t>·</a:t>
              </a:r>
              <a:r>
                <a:rPr lang="ko-KR" altLang="en-US" sz="1400" dirty="0">
                  <a:solidFill>
                    <a:srgbClr val="565656"/>
                  </a:solidFill>
                  <a:latin typeface="Malgun Gothic" pitchFamily="34" charset="0"/>
                  <a:ea typeface="Malgun Gothic" pitchFamily="34" charset="-122"/>
                </a:rPr>
                <a:t>경계</a:t>
              </a:r>
              <a:r>
                <a:rPr lang="en-US" altLang="ko-KR" sz="1400" dirty="0">
                  <a:solidFill>
                    <a:srgbClr val="565656"/>
                  </a:solidFill>
                  <a:latin typeface="Malgun Gothic" pitchFamily="34" charset="0"/>
                  <a:ea typeface="Malgun Gothic" pitchFamily="34" charset="-122"/>
                </a:rPr>
                <a:t>·</a:t>
              </a:r>
              <a:r>
                <a:rPr lang="ko-KR" altLang="en-US" sz="1400" dirty="0">
                  <a:solidFill>
                    <a:srgbClr val="565656"/>
                  </a:solidFill>
                  <a:latin typeface="Malgun Gothic" pitchFamily="34" charset="0"/>
                  <a:ea typeface="Malgun Gothic" pitchFamily="34" charset="-122"/>
                </a:rPr>
                <a:t>심각에 각각 </a:t>
              </a:r>
              <a:r>
                <a:rPr lang="en-US" altLang="ko-KR" sz="1400" dirty="0">
                  <a:solidFill>
                    <a:srgbClr val="565656"/>
                  </a:solidFill>
                  <a:latin typeface="Malgun Gothic" pitchFamily="34" charset="0"/>
                  <a:ea typeface="Malgun Gothic" pitchFamily="34" charset="-122"/>
                </a:rPr>
                <a:t>0~4</a:t>
              </a:r>
              <a:r>
                <a:rPr lang="ko-KR" altLang="en-US" sz="1400" dirty="0">
                  <a:solidFill>
                    <a:srgbClr val="565656"/>
                  </a:solidFill>
                  <a:latin typeface="Malgun Gothic" pitchFamily="34" charset="0"/>
                  <a:ea typeface="Malgun Gothic" pitchFamily="34" charset="-122"/>
                </a:rPr>
                <a:t>점을 부여하고</a:t>
              </a:r>
              <a:r>
                <a:rPr lang="en-US" altLang="ko-KR" sz="1400" dirty="0">
                  <a:solidFill>
                    <a:srgbClr val="565656"/>
                  </a:solidFill>
                  <a:latin typeface="Malgun Gothic" pitchFamily="34" charset="0"/>
                  <a:ea typeface="Malgun Gothic" pitchFamily="34" charset="-122"/>
                </a:rPr>
                <a:t>, </a:t>
              </a:r>
              <a:r>
                <a:rPr lang="ko-KR" altLang="en-US" sz="1400" dirty="0">
                  <a:solidFill>
                    <a:srgbClr val="565656"/>
                  </a:solidFill>
                  <a:latin typeface="Malgun Gothic" pitchFamily="34" charset="0"/>
                  <a:ea typeface="Malgun Gothic" pitchFamily="34" charset="-122"/>
                </a:rPr>
                <a:t>각 단계의 확률과 점수를 </a:t>
              </a:r>
              <a:r>
                <a:rPr lang="ko-KR" altLang="en-US" sz="1400" dirty="0" err="1">
                  <a:solidFill>
                    <a:srgbClr val="565656"/>
                  </a:solidFill>
                  <a:latin typeface="Malgun Gothic" pitchFamily="34" charset="0"/>
                  <a:ea typeface="Malgun Gothic" pitchFamily="34" charset="-122"/>
                </a:rPr>
                <a:t>가중합하여</a:t>
              </a:r>
              <a:r>
                <a:rPr lang="ko-KR" altLang="en-US" sz="1400" dirty="0">
                  <a:solidFill>
                    <a:srgbClr val="565656"/>
                  </a:solidFill>
                  <a:latin typeface="Malgun Gothic" pitchFamily="34" charset="0"/>
                  <a:ea typeface="Malgun Gothic" pitchFamily="34" charset="-122"/>
                </a:rPr>
                <a:t> </a:t>
              </a:r>
              <a:r>
                <a:rPr lang="ko-KR" altLang="en-US" sz="1400" dirty="0" err="1">
                  <a:solidFill>
                    <a:srgbClr val="565656"/>
                  </a:solidFill>
                  <a:latin typeface="Malgun Gothic" pitchFamily="34" charset="0"/>
                  <a:ea typeface="Malgun Gothic" pitchFamily="34" charset="-122"/>
                </a:rPr>
                <a:t>기대값을</a:t>
              </a:r>
              <a:r>
                <a:rPr lang="ko-KR" altLang="en-US" sz="1400" dirty="0">
                  <a:solidFill>
                    <a:srgbClr val="565656"/>
                  </a:solidFill>
                  <a:latin typeface="Malgun Gothic" pitchFamily="34" charset="0"/>
                  <a:ea typeface="Malgun Gothic" pitchFamily="34" charset="-122"/>
                </a:rPr>
                <a:t> 계산한다</a:t>
              </a:r>
              <a:r>
                <a:rPr lang="en-US" altLang="ko-KR" sz="1400" dirty="0">
                  <a:solidFill>
                    <a:srgbClr val="565656"/>
                  </a:solidFill>
                  <a:latin typeface="Malgun Gothic" pitchFamily="34" charset="0"/>
                  <a:ea typeface="Malgun Gothic" pitchFamily="34" charset="-122"/>
                </a:rPr>
                <a:t>. </a:t>
              </a:r>
              <a:r>
                <a:rPr lang="ko-KR" altLang="en-US" sz="1400" dirty="0">
                  <a:solidFill>
                    <a:srgbClr val="565656"/>
                  </a:solidFill>
                  <a:latin typeface="Malgun Gothic" pitchFamily="34" charset="0"/>
                  <a:ea typeface="Malgun Gothic" pitchFamily="34" charset="-122"/>
                </a:rPr>
                <a:t>이후 </a:t>
              </a:r>
              <a:r>
                <a:rPr lang="ko-KR" altLang="en-US" sz="1400" dirty="0" err="1">
                  <a:solidFill>
                    <a:srgbClr val="565656"/>
                  </a:solidFill>
                  <a:latin typeface="Malgun Gothic" pitchFamily="34" charset="0"/>
                  <a:ea typeface="Malgun Gothic" pitchFamily="34" charset="-122"/>
                </a:rPr>
                <a:t>기대값을</a:t>
              </a:r>
              <a:r>
                <a:rPr lang="ko-KR" altLang="en-US" sz="1400" dirty="0">
                  <a:solidFill>
                    <a:srgbClr val="565656"/>
                  </a:solidFill>
                  <a:latin typeface="Malgun Gothic" pitchFamily="34" charset="0"/>
                  <a:ea typeface="Malgun Gothic" pitchFamily="34" charset="-122"/>
                </a:rPr>
                <a:t> </a:t>
              </a:r>
              <a:r>
                <a:rPr lang="en-US" altLang="ko-KR" sz="1400" dirty="0">
                  <a:solidFill>
                    <a:srgbClr val="565656"/>
                  </a:solidFill>
                  <a:latin typeface="Malgun Gothic" pitchFamily="34" charset="0"/>
                  <a:ea typeface="Malgun Gothic" pitchFamily="34" charset="-122"/>
                </a:rPr>
                <a:t>0~1 </a:t>
              </a:r>
              <a:r>
                <a:rPr lang="ko-KR" altLang="en-US" sz="1400" dirty="0">
                  <a:solidFill>
                    <a:srgbClr val="565656"/>
                  </a:solidFill>
                  <a:latin typeface="Malgun Gothic" pitchFamily="34" charset="0"/>
                  <a:ea typeface="Malgun Gothic" pitchFamily="34" charset="-122"/>
                </a:rPr>
                <a:t>범위로 </a:t>
              </a:r>
              <a:r>
                <a:rPr lang="ko-KR" altLang="en-US" sz="1400" dirty="0" err="1">
                  <a:solidFill>
                    <a:srgbClr val="565656"/>
                  </a:solidFill>
                  <a:latin typeface="Malgun Gothic" pitchFamily="34" charset="0"/>
                  <a:ea typeface="Malgun Gothic" pitchFamily="34" charset="-122"/>
                </a:rPr>
                <a:t>정규화한</a:t>
              </a:r>
              <a:r>
                <a:rPr lang="ko-KR" altLang="en-US" sz="1400" dirty="0">
                  <a:solidFill>
                    <a:srgbClr val="565656"/>
                  </a:solidFill>
                  <a:latin typeface="Malgun Gothic" pitchFamily="34" charset="0"/>
                  <a:ea typeface="Malgun Gothic" pitchFamily="34" charset="-122"/>
                </a:rPr>
                <a:t> 뒤 </a:t>
              </a:r>
              <a:r>
                <a:rPr lang="en-US" altLang="ko-KR" sz="1400" dirty="0">
                  <a:solidFill>
                    <a:srgbClr val="565656"/>
                  </a:solidFill>
                  <a:latin typeface="Malgun Gothic" pitchFamily="34" charset="0"/>
                  <a:ea typeface="Malgun Gothic" pitchFamily="34" charset="-122"/>
                </a:rPr>
                <a:t>100</a:t>
              </a:r>
              <a:r>
                <a:rPr lang="ko-KR" altLang="en-US" sz="1400" dirty="0">
                  <a:solidFill>
                    <a:srgbClr val="565656"/>
                  </a:solidFill>
                  <a:latin typeface="Malgun Gothic" pitchFamily="34" charset="0"/>
                  <a:ea typeface="Malgun Gothic" pitchFamily="34" charset="-122"/>
                </a:rPr>
                <a:t>을 곱하여 최종 </a:t>
              </a:r>
              <a:r>
                <a:rPr lang="ko-KR" altLang="en-US" sz="1400" dirty="0" err="1">
                  <a:solidFill>
                    <a:srgbClr val="565656"/>
                  </a:solidFill>
                  <a:latin typeface="Malgun Gothic" pitchFamily="34" charset="0"/>
                  <a:ea typeface="Malgun Gothic" pitchFamily="34" charset="-122"/>
                </a:rPr>
                <a:t>위기점수</a:t>
              </a:r>
              <a:r>
                <a:rPr lang="en-US" altLang="ko-KR" sz="1400" dirty="0">
                  <a:solidFill>
                    <a:srgbClr val="565656"/>
                  </a:solidFill>
                  <a:latin typeface="Malgun Gothic" pitchFamily="34" charset="0"/>
                  <a:ea typeface="Malgun Gothic" pitchFamily="34" charset="-122"/>
                </a:rPr>
                <a:t>(0~100)</a:t>
              </a:r>
              <a:r>
                <a:rPr lang="ko-KR" altLang="en-US" sz="1400" dirty="0">
                  <a:solidFill>
                    <a:srgbClr val="565656"/>
                  </a:solidFill>
                  <a:latin typeface="Malgun Gothic" pitchFamily="34" charset="0"/>
                  <a:ea typeface="Malgun Gothic" pitchFamily="34" charset="-122"/>
                </a:rPr>
                <a:t>를 산출한다</a:t>
              </a:r>
              <a:r>
                <a:rPr lang="en-US" altLang="ko-KR" sz="1400" dirty="0">
                  <a:solidFill>
                    <a:srgbClr val="565656"/>
                  </a:solidFill>
                  <a:latin typeface="Malgun Gothic" pitchFamily="34" charset="0"/>
                  <a:ea typeface="Malgun Gothic" pitchFamily="34" charset="-122"/>
                </a:rPr>
                <a:t>.</a:t>
              </a:r>
              <a:endParaRPr lang="en-US" altLang="ko-KR" sz="1400" dirty="0"/>
            </a:p>
          </p:txBody>
        </p:sp>
      </p:grpSp>
      <p:sp>
        <p:nvSpPr>
          <p:cNvPr id="3" name="AutoShape 2" descr="생성된 이미지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818762" y="5669918"/>
                <a:ext cx="4630627" cy="76309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위기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점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수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단</m:t>
                          </m:r>
                          <m:r>
                            <a:rPr lang="ko-KR" altLang="en-US" i="1" smtClean="0">
                              <a:latin typeface="Cambria Math" panose="02040503050406030204" pitchFamily="18" charset="0"/>
                            </a:rPr>
                            <m:t>계</m:t>
                          </m:r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값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 </m:t>
                          </m:r>
                          <m:r>
                            <a:rPr lang="ko-KR" alt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확</m:t>
                          </m:r>
                          <m:r>
                            <a:rPr lang="ko-KR" alt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률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÷4×100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762" y="5669918"/>
                <a:ext cx="4630627" cy="76309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32" name="Picture 8" descr="Autoregressive Models World. Autoregressive models | by Peech | Medium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2305" y="2672570"/>
            <a:ext cx="3000375" cy="2352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 5"/>
          <p:cNvSpPr/>
          <p:nvPr/>
        </p:nvSpPr>
        <p:spPr>
          <a:xfrm>
            <a:off x="656427" y="1976933"/>
            <a:ext cx="5719040" cy="284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7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</a:rPr>
              <a:t>과업 </a:t>
            </a:r>
            <a:r>
              <a:rPr lang="en-US" altLang="ko-KR" sz="17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</a:rPr>
              <a:t>1</a:t>
            </a:r>
            <a:r>
              <a:rPr lang="ko-KR" altLang="en-US" sz="17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</a:rPr>
              <a:t>과 </a:t>
            </a:r>
            <a:r>
              <a:rPr lang="ko-KR" altLang="en-US" sz="1700" b="1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</a:rPr>
              <a:t>위기점수</a:t>
            </a:r>
            <a:r>
              <a:rPr lang="ko-KR" altLang="en-US" sz="17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</a:rPr>
              <a:t> 산출</a:t>
            </a:r>
            <a:endParaRPr lang="en-US" altLang="ko-KR" sz="1700" dirty="0"/>
          </a:p>
        </p:txBody>
      </p:sp>
      <p:sp>
        <p:nvSpPr>
          <p:cNvPr id="37" name="Shape 4"/>
          <p:cNvSpPr/>
          <p:nvPr/>
        </p:nvSpPr>
        <p:spPr>
          <a:xfrm>
            <a:off x="451451" y="2050662"/>
            <a:ext cx="118388" cy="108727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8" name="Text 9"/>
          <p:cNvSpPr/>
          <p:nvPr/>
        </p:nvSpPr>
        <p:spPr>
          <a:xfrm>
            <a:off x="569839" y="2246389"/>
            <a:ext cx="5719040" cy="10063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ko-KR" altLang="en-US" sz="1400" dirty="0"/>
              <a:t>현재 방법론에서는 </a:t>
            </a:r>
            <a:r>
              <a:rPr lang="en-US" altLang="ko-KR" sz="1400" dirty="0"/>
              <a:t>LLM</a:t>
            </a:r>
            <a:r>
              <a:rPr lang="ko-KR" altLang="en-US" sz="1400" dirty="0"/>
              <a:t>이 위기 단계를 판단한다</a:t>
            </a:r>
            <a:r>
              <a:rPr lang="en-US" altLang="ko-KR" sz="1400" dirty="0"/>
              <a:t>. </a:t>
            </a:r>
            <a:r>
              <a:rPr lang="ko-KR" altLang="en-US" sz="1400" dirty="0"/>
              <a:t>정답 라벨과 정답 </a:t>
            </a:r>
            <a:r>
              <a:rPr lang="ko-KR" altLang="en-US" sz="1400" dirty="0" err="1"/>
              <a:t>위기점수가</a:t>
            </a:r>
            <a:r>
              <a:rPr lang="ko-KR" altLang="en-US" sz="1400" dirty="0"/>
              <a:t> 존재하지 않아 </a:t>
            </a:r>
            <a:r>
              <a:rPr lang="ko-KR" altLang="en-US" sz="1400" dirty="0" err="1"/>
              <a:t>지도학습</a:t>
            </a:r>
            <a:r>
              <a:rPr lang="ko-KR" altLang="en-US" sz="1400" dirty="0"/>
              <a:t> 기반의 별도 모델을 개발할 수 없다</a:t>
            </a:r>
            <a:r>
              <a:rPr lang="en-US" altLang="ko-KR" sz="1400" dirty="0"/>
              <a:t>. </a:t>
            </a:r>
            <a:r>
              <a:rPr lang="ko-KR" altLang="en-US" sz="1400" dirty="0"/>
              <a:t>따라서 </a:t>
            </a:r>
            <a:r>
              <a:rPr lang="en-US" altLang="ko-KR" sz="1400" dirty="0"/>
              <a:t>LLM</a:t>
            </a:r>
            <a:r>
              <a:rPr lang="ko-KR" altLang="en-US" sz="1400" dirty="0"/>
              <a:t>이 단계를 출력할 때 산출하는 확률분포를 활용하여</a:t>
            </a:r>
            <a:r>
              <a:rPr lang="en-US" altLang="ko-KR" sz="1400" dirty="0"/>
              <a:t>, </a:t>
            </a:r>
            <a:r>
              <a:rPr lang="ko-KR" altLang="en-US" sz="1400" dirty="0"/>
              <a:t>그 </a:t>
            </a:r>
            <a:r>
              <a:rPr lang="ko-KR" altLang="en-US" sz="1400" dirty="0" err="1"/>
              <a:t>기대값으로</a:t>
            </a:r>
            <a:r>
              <a:rPr lang="ko-KR" altLang="en-US" sz="1400" dirty="0"/>
              <a:t> </a:t>
            </a:r>
            <a:r>
              <a:rPr lang="ko-KR" altLang="en-US" sz="1400" dirty="0" err="1"/>
              <a:t>위기점수를</a:t>
            </a:r>
            <a:r>
              <a:rPr lang="ko-KR" altLang="en-US" sz="1400" dirty="0"/>
              <a:t> 산출한다</a:t>
            </a:r>
            <a:r>
              <a:rPr lang="en-US" altLang="ko-KR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594192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06005-13DD-F4F0-C12B-178805B4C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86964A6A-9C8B-4703-C8FA-FFA6799E58C0}"/>
              </a:ext>
            </a:extLst>
          </p:cNvPr>
          <p:cNvSpPr txBox="1"/>
          <p:nvPr/>
        </p:nvSpPr>
        <p:spPr>
          <a:xfrm>
            <a:off x="0" y="453187"/>
            <a:ext cx="30003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eesentation 5 Medium" pitchFamily="2" charset="-127"/>
                <a:ea typeface="Freesentation 5 Medium" pitchFamily="2" charset="-127"/>
                <a:cs typeface="Pretendard Light" panose="02000403000000020004" pitchFamily="50" charset="-127"/>
              </a:rPr>
              <a:t>과업별 세부 진행사항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eesentation 5 Medium" pitchFamily="2" charset="-127"/>
              <a:ea typeface="Freesentation 5 Medium" pitchFamily="2" charset="-127"/>
              <a:cs typeface="Pretendard Light" panose="02000403000000020004" pitchFamily="50" charset="-127"/>
            </a:endParaRPr>
          </a:p>
        </p:txBody>
      </p:sp>
      <p:sp>
        <p:nvSpPr>
          <p:cNvPr id="7" name="슬라이드 번호 개체 틀 1">
            <a:extLst>
              <a:ext uri="{FF2B5EF4-FFF2-40B4-BE49-F238E27FC236}">
                <a16:creationId xmlns:a16="http://schemas.microsoft.com/office/drawing/2014/main" id="{CBFF1D73-D4F1-7E9E-6FFD-996E4113B9F3}"/>
              </a:ext>
            </a:extLst>
          </p:cNvPr>
          <p:cNvSpPr txBox="1">
            <a:spLocks/>
          </p:cNvSpPr>
          <p:nvPr/>
        </p:nvSpPr>
        <p:spPr>
          <a:xfrm>
            <a:off x="9442493" y="6488255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10DBAC-22C5-4AD0-A416-546E7904AF50}" type="slidenum"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89D157-DB3E-86D6-1EF1-D7ACE5D3F568}"/>
              </a:ext>
            </a:extLst>
          </p:cNvPr>
          <p:cNvSpPr txBox="1"/>
          <p:nvPr/>
        </p:nvSpPr>
        <p:spPr>
          <a:xfrm>
            <a:off x="123891" y="991182"/>
            <a:ext cx="67110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2000" b="0" spc="0">
                <a:solidFill>
                  <a:srgbClr val="000000"/>
                </a:solidFill>
                <a:latin typeface="+mj-ea"/>
                <a:ea typeface="+mj-ea"/>
                <a:cs typeface="Pretendard SemiBold" panose="02000503000000020004" pitchFamily="2" charset="-127"/>
              </a:defRPr>
            </a:lvl1pPr>
          </a:lstStyle>
          <a:p>
            <a:pPr lvl="0">
              <a:defRPr/>
            </a:pPr>
            <a:r>
              <a:rPr lang="en-US" altLang="ko-KR" dirty="0">
                <a:latin typeface="프리젠테이션 7 Bold"/>
                <a:ea typeface="프리젠테이션 7 Bold"/>
              </a:rPr>
              <a:t>3. </a:t>
            </a:r>
            <a:r>
              <a:rPr lang="ko-KR" altLang="en-US" dirty="0">
                <a:latin typeface="프리젠테이션 7 Bold"/>
                <a:ea typeface="프리젠테이션 7 Bold"/>
              </a:rPr>
              <a:t>방법론 및 모델 선정 배경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75C638-9116-F0D1-73DF-7F7C5F4DEE56}"/>
              </a:ext>
            </a:extLst>
          </p:cNvPr>
          <p:cNvSpPr txBox="1"/>
          <p:nvPr/>
        </p:nvSpPr>
        <p:spPr>
          <a:xfrm>
            <a:off x="312123" y="1550850"/>
            <a:ext cx="3531095" cy="2954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144000" indent="-144000" latinLnBrk="0">
              <a:lnSpc>
                <a:spcPct val="120000"/>
              </a:lnSpc>
              <a:spcBef>
                <a:spcPct val="0"/>
              </a:spcBef>
              <a:spcAft>
                <a:spcPts val="100"/>
              </a:spcAft>
              <a:buClr>
                <a:prstClr val="white">
                  <a:lumMod val="50000"/>
                </a:prstClr>
              </a:buClr>
              <a:buFont typeface="Wingdings" panose="05000000000000000000" pitchFamily="2" charset="2"/>
              <a:buChar char="§"/>
              <a:defRPr sz="1200" spc="0">
                <a:ln>
                  <a:solidFill>
                    <a:srgbClr val="3F4057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Freesentation 4 Regular" pitchFamily="2" charset="-127"/>
                <a:ea typeface="Freesentation 4 Regular" pitchFamily="2" charset="-127"/>
              </a:defRPr>
            </a:lvl1pPr>
          </a:lstStyle>
          <a:p>
            <a:pPr marL="144000" marR="0" lvl="0" indent="-1440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100"/>
              </a:spcAft>
              <a:buClr>
                <a:prstClr val="white">
                  <a:lumMod val="50000"/>
                </a:prst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ko-KR" altLang="en-US" sz="1600" dirty="0" err="1">
                <a:solidFill>
                  <a:srgbClr val="000000">
                    <a:lumMod val="65000"/>
                    <a:lumOff val="35000"/>
                  </a:srgbClr>
                </a:solidFill>
              </a:rPr>
              <a:t>위기점수</a:t>
            </a:r>
            <a:r>
              <a:rPr lang="ko-KR" altLang="en-US" sz="1600" dirty="0">
                <a:solidFill>
                  <a:srgbClr val="000000">
                    <a:lumMod val="65000"/>
                    <a:lumOff val="35000"/>
                  </a:srgbClr>
                </a:solidFill>
              </a:rPr>
              <a:t> 및 단계별 확률 산출 결과</a:t>
            </a:r>
            <a:endParaRPr kumimoji="0" lang="ko-KR" altLang="en-US" sz="1600" b="0" i="0" u="none" strike="noStrike" kern="1200" cap="none" spc="0" normalizeH="0" baseline="0" noProof="0" dirty="0">
              <a:ln>
                <a:solidFill>
                  <a:srgbClr val="3F4057">
                    <a:alpha val="0"/>
                  </a:srgbClr>
                </a:solidFill>
              </a:ln>
              <a:solidFill>
                <a:schemeClr val="tx1"/>
              </a:solidFill>
              <a:effectLst/>
              <a:uLnTx/>
              <a:uFillTx/>
              <a:latin typeface="Freesentation 4 Regular" pitchFamily="2" charset="-127"/>
              <a:ea typeface="Freesentation 4 Regular" pitchFamily="2" charset="-127"/>
              <a:cs typeface="+mn-cs"/>
            </a:endParaRPr>
          </a:p>
        </p:txBody>
      </p:sp>
      <p:sp>
        <p:nvSpPr>
          <p:cNvPr id="3" name="AutoShape 2" descr="생성된 이미지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/>
          <a:srcRect t="9780"/>
          <a:stretch/>
        </p:blipFill>
        <p:spPr>
          <a:xfrm>
            <a:off x="6118084" y="3363970"/>
            <a:ext cx="4102388" cy="2467440"/>
          </a:xfrm>
          <a:prstGeom prst="rect">
            <a:avLst/>
          </a:prstGeom>
        </p:spPr>
      </p:pic>
      <p:sp>
        <p:nvSpPr>
          <p:cNvPr id="25" name="Text 3"/>
          <p:cNvSpPr/>
          <p:nvPr/>
        </p:nvSpPr>
        <p:spPr>
          <a:xfrm>
            <a:off x="312123" y="1846316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8000"/>
              </a:lnSpc>
            </a:pPr>
            <a:r>
              <a:rPr lang="en-US" sz="1450" dirty="0"/>
              <a:t>3</a:t>
            </a:r>
            <a:r>
              <a:rPr lang="ko-KR" altLang="en-US" sz="1450" dirty="0"/>
              <a:t>월 </a:t>
            </a:r>
            <a:r>
              <a:rPr lang="en-US" altLang="ko-KR" sz="1450" dirty="0"/>
              <a:t>21</a:t>
            </a:r>
            <a:r>
              <a:rPr lang="ko-KR" altLang="en-US" sz="1450" dirty="0"/>
              <a:t>일 기준 단계별 산출 결과 </a:t>
            </a:r>
            <a:endParaRPr lang="en-US" sz="1200" dirty="0">
              <a:solidFill>
                <a:srgbClr val="FF0000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0102" y="3715475"/>
            <a:ext cx="3247703" cy="1534136"/>
          </a:xfrm>
          <a:prstGeom prst="rect">
            <a:avLst/>
          </a:prstGeom>
        </p:spPr>
      </p:pic>
      <p:sp>
        <p:nvSpPr>
          <p:cNvPr id="12" name="Text 3"/>
          <p:cNvSpPr/>
          <p:nvPr/>
        </p:nvSpPr>
        <p:spPr>
          <a:xfrm>
            <a:off x="312123" y="2346051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8000"/>
              </a:lnSpc>
            </a:pPr>
            <a:r>
              <a:rPr lang="ko-KR" altLang="en-US" sz="1450" dirty="0"/>
              <a:t>위기 점수 </a:t>
            </a:r>
            <a:r>
              <a:rPr lang="en-US" altLang="ko-KR" sz="1450" dirty="0"/>
              <a:t>= 41.4</a:t>
            </a:r>
            <a:r>
              <a:rPr lang="ko-KR" altLang="en-US" sz="1450" dirty="0"/>
              <a:t>점</a:t>
            </a:r>
            <a:endParaRPr lang="en-U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3695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06005-13DD-F4F0-C12B-178805B4C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86964A6A-9C8B-4703-C8FA-FFA6799E58C0}"/>
              </a:ext>
            </a:extLst>
          </p:cNvPr>
          <p:cNvSpPr txBox="1"/>
          <p:nvPr/>
        </p:nvSpPr>
        <p:spPr>
          <a:xfrm>
            <a:off x="0" y="453187"/>
            <a:ext cx="30003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eesentation 5 Medium" pitchFamily="2" charset="-127"/>
                <a:ea typeface="Freesentation 5 Medium" pitchFamily="2" charset="-127"/>
                <a:cs typeface="Pretendard Light" panose="02000403000000020004" pitchFamily="50" charset="-127"/>
              </a:rPr>
              <a:t>과업별 세부 진행사항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eesentation 5 Medium" pitchFamily="2" charset="-127"/>
              <a:ea typeface="Freesentation 5 Medium" pitchFamily="2" charset="-127"/>
              <a:cs typeface="Pretendard Light" panose="02000403000000020004" pitchFamily="50" charset="-127"/>
            </a:endParaRPr>
          </a:p>
        </p:txBody>
      </p:sp>
      <p:sp>
        <p:nvSpPr>
          <p:cNvPr id="7" name="슬라이드 번호 개체 틀 1">
            <a:extLst>
              <a:ext uri="{FF2B5EF4-FFF2-40B4-BE49-F238E27FC236}">
                <a16:creationId xmlns:a16="http://schemas.microsoft.com/office/drawing/2014/main" id="{CBFF1D73-D4F1-7E9E-6FFD-996E4113B9F3}"/>
              </a:ext>
            </a:extLst>
          </p:cNvPr>
          <p:cNvSpPr txBox="1">
            <a:spLocks/>
          </p:cNvSpPr>
          <p:nvPr/>
        </p:nvSpPr>
        <p:spPr>
          <a:xfrm>
            <a:off x="9442493" y="6488255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10DBAC-22C5-4AD0-A416-546E7904AF50}" type="slidenum"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89D157-DB3E-86D6-1EF1-D7ACE5D3F568}"/>
              </a:ext>
            </a:extLst>
          </p:cNvPr>
          <p:cNvSpPr txBox="1"/>
          <p:nvPr/>
        </p:nvSpPr>
        <p:spPr>
          <a:xfrm>
            <a:off x="123891" y="991182"/>
            <a:ext cx="67110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2000" b="0" spc="0">
                <a:solidFill>
                  <a:srgbClr val="000000"/>
                </a:solidFill>
                <a:latin typeface="+mj-ea"/>
                <a:ea typeface="+mj-ea"/>
                <a:cs typeface="Pretendard SemiBold" panose="02000503000000020004" pitchFamily="2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latin typeface="프리젠테이션 7 Bold"/>
                <a:ea typeface="프리젠테이션 7 Bold"/>
              </a:rPr>
              <a:t>4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프리젠테이션 7 Bold"/>
                <a:ea typeface="프리젠테이션 7 Bold"/>
                <a:cs typeface="Pretendard SemiBold" panose="02000503000000020004" pitchFamily="2" charset="-127"/>
              </a:rPr>
              <a:t>.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프리젠테이션 7 Bold"/>
                <a:ea typeface="프리젠테이션 7 Bold"/>
                <a:cs typeface="Pretendard SemiBold" panose="02000503000000020004" pitchFamily="2" charset="-127"/>
              </a:rPr>
              <a:t>현재 적용 모델 검증 실험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75C638-9116-F0D1-73DF-7F7C5F4DEE56}"/>
              </a:ext>
            </a:extLst>
          </p:cNvPr>
          <p:cNvSpPr txBox="1"/>
          <p:nvPr/>
        </p:nvSpPr>
        <p:spPr>
          <a:xfrm>
            <a:off x="312123" y="1550850"/>
            <a:ext cx="1274067" cy="2954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144000" indent="-144000" latinLnBrk="0">
              <a:lnSpc>
                <a:spcPct val="120000"/>
              </a:lnSpc>
              <a:spcBef>
                <a:spcPct val="0"/>
              </a:spcBef>
              <a:spcAft>
                <a:spcPts val="100"/>
              </a:spcAft>
              <a:buClr>
                <a:prstClr val="white">
                  <a:lumMod val="50000"/>
                </a:prstClr>
              </a:buClr>
              <a:buFont typeface="Wingdings" panose="05000000000000000000" pitchFamily="2" charset="2"/>
              <a:buChar char="§"/>
              <a:defRPr sz="1200" spc="0">
                <a:ln>
                  <a:solidFill>
                    <a:srgbClr val="3F4057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Freesentation 4 Regular" pitchFamily="2" charset="-127"/>
                <a:ea typeface="Freesentation 4 Regular" pitchFamily="2" charset="-127"/>
              </a:defRPr>
            </a:lvl1pPr>
          </a:lstStyle>
          <a:p>
            <a:pPr marL="144000" marR="0" lvl="0" indent="-1440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100"/>
              </a:spcAft>
              <a:buClr>
                <a:prstClr val="white">
                  <a:lumMod val="50000"/>
                </a:prst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ko-KR" altLang="en-US" sz="1600" dirty="0">
                <a:solidFill>
                  <a:srgbClr val="000000">
                    <a:lumMod val="65000"/>
                    <a:lumOff val="35000"/>
                  </a:srgbClr>
                </a:solidFill>
              </a:rPr>
              <a:t>방법론 검증</a:t>
            </a:r>
            <a:endParaRPr kumimoji="0" lang="ko-KR" altLang="en-US" sz="1600" b="0" i="0" u="none" strike="noStrike" kern="1200" cap="none" spc="0" normalizeH="0" baseline="0" noProof="0" dirty="0">
              <a:ln>
                <a:solidFill>
                  <a:srgbClr val="3F4057">
                    <a:alpha val="0"/>
                  </a:srgbClr>
                </a:solidFill>
              </a:ln>
              <a:solidFill>
                <a:schemeClr val="tx1"/>
              </a:solidFill>
              <a:effectLst/>
              <a:uLnTx/>
              <a:uFillTx/>
              <a:latin typeface="Freesentation 4 Regular" pitchFamily="2" charset="-127"/>
              <a:ea typeface="Freesentation 4 Regular" pitchFamily="2" charset="-127"/>
              <a:cs typeface="+mn-cs"/>
            </a:endParaRPr>
          </a:p>
        </p:txBody>
      </p:sp>
      <p:grpSp>
        <p:nvGrpSpPr>
          <p:cNvPr id="15" name="그룹 14"/>
          <p:cNvGrpSpPr/>
          <p:nvPr/>
        </p:nvGrpSpPr>
        <p:grpSpPr>
          <a:xfrm>
            <a:off x="2034130" y="2506190"/>
            <a:ext cx="7551636" cy="3775818"/>
            <a:chOff x="2034130" y="2013150"/>
            <a:chExt cx="7551636" cy="3775818"/>
          </a:xfrm>
        </p:grpSpPr>
        <p:pic>
          <p:nvPicPr>
            <p:cNvPr id="16" name="그림 1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34130" y="2013150"/>
              <a:ext cx="7551636" cy="3775818"/>
            </a:xfrm>
            <a:prstGeom prst="rect">
              <a:avLst/>
            </a:prstGeom>
          </p:spPr>
        </p:pic>
        <p:sp>
          <p:nvSpPr>
            <p:cNvPr id="17" name="설명선 2 16"/>
            <p:cNvSpPr/>
            <p:nvPr/>
          </p:nvSpPr>
          <p:spPr>
            <a:xfrm>
              <a:off x="3746377" y="2192784"/>
              <a:ext cx="1793289" cy="1708275"/>
            </a:xfrm>
            <a:prstGeom prst="borderCallout2">
              <a:avLst>
                <a:gd name="adj1" fmla="val 33540"/>
                <a:gd name="adj2" fmla="val 106059"/>
                <a:gd name="adj3" fmla="val 14524"/>
                <a:gd name="adj4" fmla="val 115840"/>
                <a:gd name="adj5" fmla="val 860"/>
                <a:gd name="adj6" fmla="val 156017"/>
              </a:avLst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6704244" y="2361704"/>
            <a:ext cx="29995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Chronos-2</a:t>
            </a:r>
            <a:r>
              <a:rPr lang="ko-KR" altLang="en-US" dirty="0"/>
              <a:t>모델에 관한 적합성 검증 필요</a:t>
            </a:r>
          </a:p>
        </p:txBody>
      </p:sp>
      <p:sp>
        <p:nvSpPr>
          <p:cNvPr id="19" name="Text 3"/>
          <p:cNvSpPr/>
          <p:nvPr/>
        </p:nvSpPr>
        <p:spPr>
          <a:xfrm>
            <a:off x="445402" y="1877183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8000"/>
              </a:lnSpc>
            </a:pPr>
            <a:r>
              <a:rPr lang="ko-KR" altLang="en-US" sz="1450" dirty="0">
                <a:solidFill>
                  <a:srgbClr val="565656"/>
                </a:solidFill>
                <a:latin typeface="Malgun Gothic" pitchFamily="34" charset="0"/>
                <a:ea typeface="Malgun Gothic" pitchFamily="34" charset="-122"/>
              </a:rPr>
              <a:t>가격 예측 정보가 위기 판단에 실질적으로 기여하는지 확인 필요</a:t>
            </a:r>
          </a:p>
        </p:txBody>
      </p:sp>
    </p:spTree>
    <p:extLst>
      <p:ext uri="{BB962C8B-B14F-4D97-AF65-F5344CB8AC3E}">
        <p14:creationId xmlns:p14="http://schemas.microsoft.com/office/powerpoint/2010/main" val="40115691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06005-13DD-F4F0-C12B-178805B4C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86964A6A-9C8B-4703-C8FA-FFA6799E58C0}"/>
              </a:ext>
            </a:extLst>
          </p:cNvPr>
          <p:cNvSpPr txBox="1"/>
          <p:nvPr/>
        </p:nvSpPr>
        <p:spPr>
          <a:xfrm>
            <a:off x="0" y="453187"/>
            <a:ext cx="30003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eesentation 5 Medium" pitchFamily="2" charset="-127"/>
                <a:ea typeface="Freesentation 5 Medium" pitchFamily="2" charset="-127"/>
                <a:cs typeface="Pretendard Light" panose="02000403000000020004" pitchFamily="50" charset="-127"/>
              </a:rPr>
              <a:t>과업별 세부 진행사항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eesentation 5 Medium" pitchFamily="2" charset="-127"/>
              <a:ea typeface="Freesentation 5 Medium" pitchFamily="2" charset="-127"/>
              <a:cs typeface="Pretendard Light" panose="02000403000000020004" pitchFamily="50" charset="-127"/>
            </a:endParaRPr>
          </a:p>
        </p:txBody>
      </p:sp>
      <p:sp>
        <p:nvSpPr>
          <p:cNvPr id="7" name="슬라이드 번호 개체 틀 1">
            <a:extLst>
              <a:ext uri="{FF2B5EF4-FFF2-40B4-BE49-F238E27FC236}">
                <a16:creationId xmlns:a16="http://schemas.microsoft.com/office/drawing/2014/main" id="{CBFF1D73-D4F1-7E9E-6FFD-996E4113B9F3}"/>
              </a:ext>
            </a:extLst>
          </p:cNvPr>
          <p:cNvSpPr txBox="1">
            <a:spLocks/>
          </p:cNvSpPr>
          <p:nvPr/>
        </p:nvSpPr>
        <p:spPr>
          <a:xfrm>
            <a:off x="9442493" y="6488255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10DBAC-22C5-4AD0-A416-546E7904AF50}" type="slidenum"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89D157-DB3E-86D6-1EF1-D7ACE5D3F568}"/>
              </a:ext>
            </a:extLst>
          </p:cNvPr>
          <p:cNvSpPr txBox="1"/>
          <p:nvPr/>
        </p:nvSpPr>
        <p:spPr>
          <a:xfrm>
            <a:off x="123891" y="991182"/>
            <a:ext cx="67110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2000" b="0" spc="0">
                <a:solidFill>
                  <a:srgbClr val="000000"/>
                </a:solidFill>
                <a:latin typeface="+mj-ea"/>
                <a:ea typeface="+mj-ea"/>
                <a:cs typeface="Pretendard SemiBold" panose="02000503000000020004" pitchFamily="2" charset="-127"/>
              </a:defRPr>
            </a:lvl1pPr>
          </a:lstStyle>
          <a:p>
            <a:pPr lvl="0">
              <a:defRPr/>
            </a:pPr>
            <a:r>
              <a:rPr lang="en-US" altLang="ko-KR" dirty="0">
                <a:latin typeface="프리젠테이션 7 Bold"/>
                <a:ea typeface="프리젠테이션 7 Bold"/>
              </a:rPr>
              <a:t>4. </a:t>
            </a:r>
            <a:r>
              <a:rPr lang="ko-KR" altLang="en-US" dirty="0">
                <a:latin typeface="프리젠테이션 7 Bold"/>
                <a:ea typeface="프리젠테이션 7 Bold"/>
              </a:rPr>
              <a:t>현재 적용 모델 검증 실험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75C638-9116-F0D1-73DF-7F7C5F4DEE56}"/>
              </a:ext>
            </a:extLst>
          </p:cNvPr>
          <p:cNvSpPr txBox="1"/>
          <p:nvPr/>
        </p:nvSpPr>
        <p:spPr>
          <a:xfrm>
            <a:off x="312123" y="1550850"/>
            <a:ext cx="1787028" cy="2954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144000" indent="-144000" latinLnBrk="0">
              <a:lnSpc>
                <a:spcPct val="120000"/>
              </a:lnSpc>
              <a:spcBef>
                <a:spcPct val="0"/>
              </a:spcBef>
              <a:spcAft>
                <a:spcPts val="100"/>
              </a:spcAft>
              <a:buClr>
                <a:prstClr val="white">
                  <a:lumMod val="50000"/>
                </a:prstClr>
              </a:buClr>
              <a:buFont typeface="Wingdings" panose="05000000000000000000" pitchFamily="2" charset="2"/>
              <a:buChar char="§"/>
              <a:defRPr sz="1200" spc="0">
                <a:ln>
                  <a:solidFill>
                    <a:srgbClr val="3F4057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Freesentation 4 Regular" pitchFamily="2" charset="-127"/>
                <a:ea typeface="Freesentation 4 Regular" pitchFamily="2" charset="-127"/>
              </a:defRPr>
            </a:lvl1pPr>
          </a:lstStyle>
          <a:p>
            <a:pPr marL="144000" marR="0" lvl="0" indent="-1440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100"/>
              </a:spcAft>
              <a:buClr>
                <a:prstClr val="white">
                  <a:lumMod val="50000"/>
                </a:prst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ko-KR" altLang="en-US" sz="1600" dirty="0">
                <a:solidFill>
                  <a:srgbClr val="000000">
                    <a:lumMod val="65000"/>
                    <a:lumOff val="35000"/>
                  </a:srgbClr>
                </a:solidFill>
              </a:rPr>
              <a:t>방법론 검증 방법</a:t>
            </a:r>
            <a:endParaRPr kumimoji="0" lang="ko-KR" altLang="en-US" sz="1600" b="0" i="0" u="none" strike="noStrike" kern="1200" cap="none" spc="0" normalizeH="0" baseline="0" noProof="0" dirty="0">
              <a:ln>
                <a:solidFill>
                  <a:srgbClr val="3F4057">
                    <a:alpha val="0"/>
                  </a:srgbClr>
                </a:solidFill>
              </a:ln>
              <a:solidFill>
                <a:schemeClr val="tx1"/>
              </a:solidFill>
              <a:effectLst/>
              <a:uLnTx/>
              <a:uFillTx/>
              <a:latin typeface="Freesentation 4 Regular" pitchFamily="2" charset="-127"/>
              <a:ea typeface="Freesentation 4 Regular" pitchFamily="2" charset="-127"/>
              <a:cs typeface="+mn-cs"/>
            </a:endParaRPr>
          </a:p>
        </p:txBody>
      </p:sp>
      <p:grpSp>
        <p:nvGrpSpPr>
          <p:cNvPr id="19" name="그룹 18"/>
          <p:cNvGrpSpPr/>
          <p:nvPr/>
        </p:nvGrpSpPr>
        <p:grpSpPr>
          <a:xfrm>
            <a:off x="566928" y="2034017"/>
            <a:ext cx="5889851" cy="4444894"/>
            <a:chOff x="566928" y="2034017"/>
            <a:chExt cx="5889851" cy="4444894"/>
          </a:xfrm>
        </p:grpSpPr>
        <p:grpSp>
          <p:nvGrpSpPr>
            <p:cNvPr id="20" name="그룹 19"/>
            <p:cNvGrpSpPr/>
            <p:nvPr/>
          </p:nvGrpSpPr>
          <p:grpSpPr>
            <a:xfrm>
              <a:off x="566928" y="2034017"/>
              <a:ext cx="5889851" cy="4444894"/>
              <a:chOff x="576072" y="2340864"/>
              <a:chExt cx="6025896" cy="4361417"/>
            </a:xfrm>
          </p:grpSpPr>
          <p:sp>
            <p:nvSpPr>
              <p:cNvPr id="24" name="Shape 4"/>
              <p:cNvSpPr/>
              <p:nvPr/>
            </p:nvSpPr>
            <p:spPr>
              <a:xfrm>
                <a:off x="576072" y="2441448"/>
                <a:ext cx="118872" cy="118872"/>
              </a:xfrm>
              <a:prstGeom prst="rect">
                <a:avLst/>
              </a:prstGeom>
              <a:solidFill>
                <a:srgbClr val="1A1A1A"/>
              </a:solidFill>
              <a:ln/>
            </p:spPr>
          </p:sp>
          <p:sp>
            <p:nvSpPr>
              <p:cNvPr id="25" name="Text 5"/>
              <p:cNvSpPr/>
              <p:nvPr/>
            </p:nvSpPr>
            <p:spPr>
              <a:xfrm>
                <a:off x="859536" y="2340864"/>
                <a:ext cx="5742432" cy="31089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ko-KR" altLang="en-US" sz="1700" b="1" dirty="0">
                    <a:solidFill>
                      <a:srgbClr val="1A1A1A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정형 데이터 </a:t>
                </a:r>
                <a:r>
                  <a:rPr lang="en-US" altLang="ko-KR" sz="1700" b="1" dirty="0">
                    <a:solidFill>
                      <a:srgbClr val="1A1A1A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+ </a:t>
                </a:r>
                <a:r>
                  <a:rPr lang="ko-KR" altLang="en-US" sz="1700" b="1" dirty="0">
                    <a:solidFill>
                      <a:srgbClr val="1A1A1A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비정형 데이터</a:t>
                </a:r>
                <a:endParaRPr lang="en-US" altLang="ko-KR" sz="1700" dirty="0"/>
              </a:p>
            </p:txBody>
          </p:sp>
          <p:sp>
            <p:nvSpPr>
              <p:cNvPr id="26" name="Text 6"/>
              <p:cNvSpPr/>
              <p:nvPr/>
            </p:nvSpPr>
            <p:spPr>
              <a:xfrm>
                <a:off x="859536" y="2871724"/>
                <a:ext cx="5742432" cy="6400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10000"/>
                  </a:lnSpc>
                </a:pPr>
                <a:r>
                  <a:rPr lang="ko-KR" altLang="en-US" sz="1400" dirty="0">
                    <a:solidFill>
                      <a:srgbClr val="565656"/>
                    </a:solidFill>
                    <a:latin typeface="Malgun Gothic" pitchFamily="34" charset="0"/>
                    <a:ea typeface="Malgun Gothic" pitchFamily="34" charset="-122"/>
                  </a:rPr>
                  <a:t>정량</a:t>
                </a:r>
                <a:r>
                  <a:rPr lang="en-US" altLang="ko-KR" sz="1400" dirty="0">
                    <a:solidFill>
                      <a:srgbClr val="565656"/>
                    </a:solidFill>
                    <a:latin typeface="Malgun Gothic" pitchFamily="34" charset="0"/>
                    <a:ea typeface="Malgun Gothic" pitchFamily="34" charset="-122"/>
                  </a:rPr>
                  <a:t>·</a:t>
                </a:r>
                <a:r>
                  <a:rPr lang="ko-KR" altLang="en-US" sz="1400" dirty="0">
                    <a:solidFill>
                      <a:srgbClr val="565656"/>
                    </a:solidFill>
                    <a:latin typeface="Malgun Gothic" pitchFamily="34" charset="0"/>
                    <a:ea typeface="Malgun Gothic" pitchFamily="34" charset="-122"/>
                  </a:rPr>
                  <a:t>정성 분석을 거친 </a:t>
                </a:r>
                <a:r>
                  <a:rPr lang="ko-KR" altLang="en-US" sz="1400" dirty="0" err="1">
                    <a:solidFill>
                      <a:srgbClr val="565656"/>
                    </a:solidFill>
                    <a:latin typeface="Malgun Gothic" pitchFamily="34" charset="0"/>
                    <a:ea typeface="Malgun Gothic" pitchFamily="34" charset="-122"/>
                  </a:rPr>
                  <a:t>수급위기</a:t>
                </a:r>
                <a:r>
                  <a:rPr lang="ko-KR" altLang="en-US" sz="1400" dirty="0">
                    <a:solidFill>
                      <a:srgbClr val="565656"/>
                    </a:solidFill>
                    <a:latin typeface="Malgun Gothic" pitchFamily="34" charset="0"/>
                    <a:ea typeface="Malgun Gothic" pitchFamily="34" charset="-122"/>
                  </a:rPr>
                  <a:t> 단계 판정이 보고서에 실려 있어 파이프라인의 </a:t>
                </a:r>
                <a:r>
                  <a:rPr lang="en-US" altLang="ko-KR" sz="1400" dirty="0">
                    <a:solidFill>
                      <a:srgbClr val="565656"/>
                    </a:solidFill>
                    <a:latin typeface="Malgun Gothic" pitchFamily="34" charset="0"/>
                    <a:ea typeface="Malgun Gothic" pitchFamily="34" charset="-122"/>
                  </a:rPr>
                  <a:t>Chronos-2 </a:t>
                </a:r>
                <a:r>
                  <a:rPr lang="ko-KR" altLang="en-US" sz="1400" dirty="0">
                    <a:solidFill>
                      <a:srgbClr val="565656"/>
                    </a:solidFill>
                    <a:latin typeface="Malgun Gothic" pitchFamily="34" charset="0"/>
                    <a:ea typeface="Malgun Gothic" pitchFamily="34" charset="-122"/>
                  </a:rPr>
                  <a:t>도입 타당성을 검증할 수 있음</a:t>
                </a:r>
                <a:endParaRPr lang="en-US" altLang="ko-KR" sz="1400" dirty="0"/>
              </a:p>
            </p:txBody>
          </p:sp>
          <p:sp>
            <p:nvSpPr>
              <p:cNvPr id="27" name="Shape 7"/>
              <p:cNvSpPr/>
              <p:nvPr/>
            </p:nvSpPr>
            <p:spPr>
              <a:xfrm>
                <a:off x="576072" y="3767456"/>
                <a:ext cx="118872" cy="118872"/>
              </a:xfrm>
              <a:prstGeom prst="rect">
                <a:avLst/>
              </a:prstGeom>
              <a:solidFill>
                <a:srgbClr val="1A1A1A"/>
              </a:solidFill>
              <a:ln/>
            </p:spPr>
          </p:sp>
          <p:sp>
            <p:nvSpPr>
              <p:cNvPr id="28" name="Text 8"/>
              <p:cNvSpPr/>
              <p:nvPr/>
            </p:nvSpPr>
            <p:spPr>
              <a:xfrm>
                <a:off x="859536" y="3676395"/>
                <a:ext cx="5742432" cy="31089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ko-KR" altLang="en-US" sz="1700" b="1" dirty="0" err="1">
                    <a:solidFill>
                      <a:srgbClr val="1A1A1A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페로바냐듐</a:t>
                </a:r>
                <a:endParaRPr lang="en-US" sz="1700" dirty="0"/>
              </a:p>
            </p:txBody>
          </p:sp>
          <p:sp>
            <p:nvSpPr>
              <p:cNvPr id="29" name="Text 9"/>
              <p:cNvSpPr/>
              <p:nvPr/>
            </p:nvSpPr>
            <p:spPr>
              <a:xfrm>
                <a:off x="859536" y="5602072"/>
                <a:ext cx="5742432" cy="1100209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10000"/>
                  </a:lnSpc>
                </a:pPr>
                <a:r>
                  <a:rPr lang="en-US" altLang="ko-KR" sz="1400" dirty="0">
                    <a:solidFill>
                      <a:srgbClr val="565656"/>
                    </a:solidFill>
                    <a:latin typeface="Malgun Gothic" pitchFamily="34" charset="0"/>
                    <a:ea typeface="Malgun Gothic" pitchFamily="34" charset="-122"/>
                  </a:rPr>
                  <a:t>4</a:t>
                </a:r>
                <a:r>
                  <a:rPr lang="ko-KR" altLang="en-US" sz="1400" dirty="0">
                    <a:solidFill>
                      <a:srgbClr val="565656"/>
                    </a:solidFill>
                    <a:latin typeface="Malgun Gothic" pitchFamily="34" charset="0"/>
                    <a:ea typeface="Malgun Gothic" pitchFamily="34" charset="-122"/>
                  </a:rPr>
                  <a:t>월 </a:t>
                </a:r>
                <a:r>
                  <a:rPr lang="en-US" altLang="ko-KR" sz="1400" dirty="0">
                    <a:solidFill>
                      <a:srgbClr val="565656"/>
                    </a:solidFill>
                    <a:latin typeface="Malgun Gothic" pitchFamily="34" charset="0"/>
                    <a:ea typeface="Malgun Gothic" pitchFamily="34" charset="-122"/>
                  </a:rPr>
                  <a:t>4</a:t>
                </a:r>
                <a:r>
                  <a:rPr lang="ko-KR" altLang="en-US" sz="1400" dirty="0">
                    <a:solidFill>
                      <a:srgbClr val="565656"/>
                    </a:solidFill>
                    <a:latin typeface="Malgun Gothic" pitchFamily="34" charset="0"/>
                    <a:ea typeface="Malgun Gothic" pitchFamily="34" charset="-122"/>
                  </a:rPr>
                  <a:t>일까지 보합이던 가격이 </a:t>
                </a:r>
                <a:r>
                  <a:rPr lang="en-US" altLang="ko-KR" sz="1400" dirty="0">
                    <a:solidFill>
                      <a:srgbClr val="565656"/>
                    </a:solidFill>
                    <a:latin typeface="Malgun Gothic" pitchFamily="34" charset="0"/>
                    <a:ea typeface="Malgun Gothic" pitchFamily="34" charset="-122"/>
                  </a:rPr>
                  <a:t>11</a:t>
                </a:r>
                <a:r>
                  <a:rPr lang="ko-KR" altLang="en-US" sz="1400" dirty="0">
                    <a:solidFill>
                      <a:srgbClr val="565656"/>
                    </a:solidFill>
                    <a:latin typeface="Malgun Gothic" pitchFamily="34" charset="0"/>
                    <a:ea typeface="Malgun Gothic" pitchFamily="34" charset="-122"/>
                  </a:rPr>
                  <a:t>일 </a:t>
                </a:r>
                <a:r>
                  <a:rPr lang="en-US" altLang="ko-KR" sz="1400" dirty="0">
                    <a:solidFill>
                      <a:srgbClr val="565656"/>
                    </a:solidFill>
                    <a:latin typeface="Malgun Gothic" pitchFamily="34" charset="0"/>
                    <a:ea typeface="Malgun Gothic" pitchFamily="34" charset="-122"/>
                  </a:rPr>
                  <a:t>-2.2%, 18</a:t>
                </a:r>
                <a:r>
                  <a:rPr lang="ko-KR" altLang="en-US" sz="1400" dirty="0">
                    <a:solidFill>
                      <a:srgbClr val="565656"/>
                    </a:solidFill>
                    <a:latin typeface="Malgun Gothic" pitchFamily="34" charset="0"/>
                    <a:ea typeface="Malgun Gothic" pitchFamily="34" charset="-122"/>
                  </a:rPr>
                  <a:t>일 </a:t>
                </a:r>
                <a:r>
                  <a:rPr lang="en-US" altLang="ko-KR" sz="1400" dirty="0">
                    <a:solidFill>
                      <a:srgbClr val="565656"/>
                    </a:solidFill>
                    <a:latin typeface="Malgun Gothic" pitchFamily="34" charset="0"/>
                    <a:ea typeface="Malgun Gothic" pitchFamily="34" charset="-122"/>
                  </a:rPr>
                  <a:t>-4.8%</a:t>
                </a:r>
                <a:r>
                  <a:rPr lang="ko-KR" altLang="en-US" sz="1400" dirty="0">
                    <a:solidFill>
                      <a:srgbClr val="565656"/>
                    </a:solidFill>
                    <a:latin typeface="Malgun Gothic" pitchFamily="34" charset="0"/>
                    <a:ea typeface="Malgun Gothic" pitchFamily="34" charset="-122"/>
                  </a:rPr>
                  <a:t>로 변동 폭이 확대되어 </a:t>
                </a:r>
                <a:r>
                  <a:rPr lang="en-US" altLang="ko-KR" sz="1400" dirty="0">
                    <a:solidFill>
                      <a:srgbClr val="565656"/>
                    </a:solidFill>
                    <a:latin typeface="Malgun Gothic" pitchFamily="34" charset="0"/>
                    <a:ea typeface="Malgun Gothic" pitchFamily="34" charset="-122"/>
                  </a:rPr>
                  <a:t>Chronos-2 </a:t>
                </a:r>
                <a:r>
                  <a:rPr lang="ko-KR" altLang="en-US" sz="1400" dirty="0">
                    <a:solidFill>
                      <a:srgbClr val="565656"/>
                    </a:solidFill>
                    <a:latin typeface="Malgun Gothic" pitchFamily="34" charset="0"/>
                    <a:ea typeface="Malgun Gothic" pitchFamily="34" charset="-122"/>
                  </a:rPr>
                  <a:t>예측이 판정에 도움이 되는지 확인하기 좋은 구간</a:t>
                </a:r>
                <a:endParaRPr lang="en-US" altLang="ko-KR" sz="1400" dirty="0"/>
              </a:p>
            </p:txBody>
          </p:sp>
        </p:grpSp>
        <p:sp>
          <p:nvSpPr>
            <p:cNvPr id="21" name="Shape 7"/>
            <p:cNvSpPr/>
            <p:nvPr/>
          </p:nvSpPr>
          <p:spPr>
            <a:xfrm>
              <a:off x="566928" y="5048856"/>
              <a:ext cx="116188" cy="121147"/>
            </a:xfrm>
            <a:prstGeom prst="rect">
              <a:avLst/>
            </a:prstGeom>
            <a:solidFill>
              <a:srgbClr val="1A1A1A"/>
            </a:solidFill>
            <a:ln/>
          </p:spPr>
        </p:sp>
        <p:sp>
          <p:nvSpPr>
            <p:cNvPr id="22" name="Text 8"/>
            <p:cNvSpPr/>
            <p:nvPr/>
          </p:nvSpPr>
          <p:spPr>
            <a:xfrm>
              <a:off x="768096" y="4989612"/>
              <a:ext cx="5612787" cy="31684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1A1A1A"/>
                  </a:solidFill>
                  <a:latin typeface="Malgun Gothic" pitchFamily="34" charset="0"/>
                  <a:ea typeface="Malgun Gothic" pitchFamily="34" charset="-122"/>
                </a:rPr>
                <a:t>2022.04.</a:t>
              </a:r>
              <a:r>
                <a:rPr lang="en-US" altLang="ko-KR" sz="1700" b="1" dirty="0">
                  <a:solidFill>
                    <a:srgbClr val="1A1A1A"/>
                  </a:solidFill>
                  <a:latin typeface="Malgun Gothic" pitchFamily="34" charset="0"/>
                  <a:ea typeface="Malgun Gothic" pitchFamily="34" charset="-122"/>
                </a:rPr>
                <a:t>11</a:t>
              </a:r>
              <a:r>
                <a:rPr lang="ko-KR" altLang="en-US" sz="1700" b="1" dirty="0">
                  <a:solidFill>
                    <a:srgbClr val="1A1A1A"/>
                  </a:solidFill>
                  <a:latin typeface="Malgun Gothic" pitchFamily="34" charset="0"/>
                  <a:ea typeface="Malgun Gothic" pitchFamily="34" charset="-122"/>
                </a:rPr>
                <a:t>기준 현시점 위기 판단</a:t>
              </a:r>
              <a:endParaRPr lang="en-US" sz="1700" dirty="0"/>
            </a:p>
          </p:txBody>
        </p:sp>
        <p:sp>
          <p:nvSpPr>
            <p:cNvPr id="23" name="Text 9"/>
            <p:cNvSpPr/>
            <p:nvPr/>
          </p:nvSpPr>
          <p:spPr>
            <a:xfrm>
              <a:off x="806611" y="3842752"/>
              <a:ext cx="5612787" cy="112126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ko-KR" altLang="en-US" sz="1400" dirty="0">
                  <a:solidFill>
                    <a:srgbClr val="565656"/>
                  </a:solidFill>
                  <a:latin typeface="Malgun Gothic" pitchFamily="34" charset="0"/>
                  <a:ea typeface="Malgun Gothic" pitchFamily="34" charset="-122"/>
                </a:rPr>
                <a:t>정량 분석만 했을 때와 정성 분석을 더했을 때 진단 결과가 달라 정형</a:t>
              </a:r>
              <a:r>
                <a:rPr lang="en-US" altLang="ko-KR" sz="1400" dirty="0">
                  <a:solidFill>
                    <a:srgbClr val="565656"/>
                  </a:solidFill>
                  <a:latin typeface="Malgun Gothic" pitchFamily="34" charset="0"/>
                  <a:ea typeface="Malgun Gothic" pitchFamily="34" charset="-122"/>
                </a:rPr>
                <a:t>·</a:t>
              </a:r>
              <a:r>
                <a:rPr lang="ko-KR" altLang="en-US" sz="1400" dirty="0">
                  <a:solidFill>
                    <a:srgbClr val="565656"/>
                  </a:solidFill>
                  <a:latin typeface="Malgun Gothic" pitchFamily="34" charset="0"/>
                  <a:ea typeface="Malgun Gothic" pitchFamily="34" charset="-122"/>
                </a:rPr>
                <a:t>비정형 결합 파이프라인의 검증 대상으로 적합함</a:t>
              </a:r>
              <a:endParaRPr lang="en-US" altLang="ko-KR" sz="1400" dirty="0"/>
            </a:p>
          </p:txBody>
        </p:sp>
      </p:grpSp>
      <p:grpSp>
        <p:nvGrpSpPr>
          <p:cNvPr id="30" name="그룹 29"/>
          <p:cNvGrpSpPr/>
          <p:nvPr/>
        </p:nvGrpSpPr>
        <p:grpSpPr>
          <a:xfrm>
            <a:off x="7241457" y="1282768"/>
            <a:ext cx="4665905" cy="5119967"/>
            <a:chOff x="6631648" y="587925"/>
            <a:chExt cx="5215966" cy="5738416"/>
          </a:xfrm>
        </p:grpSpPr>
        <p:sp>
          <p:nvSpPr>
            <p:cNvPr id="32" name="Text 15">
              <a:extLst>
                <a:ext uri="{FF2B5EF4-FFF2-40B4-BE49-F238E27FC236}">
                  <a16:creationId xmlns:a16="http://schemas.microsoft.com/office/drawing/2014/main" id="{3BA26013-182B-689B-9DBB-8ABBCF092935}"/>
                </a:ext>
              </a:extLst>
            </p:cNvPr>
            <p:cNvSpPr/>
            <p:nvPr/>
          </p:nvSpPr>
          <p:spPr>
            <a:xfrm>
              <a:off x="6766560" y="5544651"/>
              <a:ext cx="4471959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50" b="1" dirty="0" err="1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학습</a:t>
              </a:r>
              <a:r>
                <a:rPr lang="ko-KR" altLang="en-US" sz="125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데이터</a:t>
              </a:r>
              <a:r>
                <a:rPr lang="en-US" sz="125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= 89개</a:t>
              </a:r>
              <a:endParaRPr lang="en-US" sz="1250" dirty="0"/>
            </a:p>
          </p:txBody>
        </p:sp>
        <p:grpSp>
          <p:nvGrpSpPr>
            <p:cNvPr id="33" name="그룹 32"/>
            <p:cNvGrpSpPr/>
            <p:nvPr/>
          </p:nvGrpSpPr>
          <p:grpSpPr>
            <a:xfrm>
              <a:off x="6631648" y="587925"/>
              <a:ext cx="5215966" cy="4404120"/>
              <a:chOff x="6617655" y="841248"/>
              <a:chExt cx="5215966" cy="4404120"/>
            </a:xfrm>
          </p:grpSpPr>
          <p:sp>
            <p:nvSpPr>
              <p:cNvPr id="38" name="Text 15"/>
              <p:cNvSpPr/>
              <p:nvPr/>
            </p:nvSpPr>
            <p:spPr>
              <a:xfrm>
                <a:off x="7315200" y="3200400"/>
                <a:ext cx="3931920" cy="11887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6200" b="1" dirty="0">
                    <a:solidFill>
                      <a:srgbClr val="FFFFFF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약 120개</a:t>
                </a:r>
                <a:endParaRPr lang="en-US" sz="6200" dirty="0"/>
              </a:p>
            </p:txBody>
          </p:sp>
          <p:sp>
            <p:nvSpPr>
              <p:cNvPr id="39" name="Text 16"/>
              <p:cNvSpPr/>
              <p:nvPr/>
            </p:nvSpPr>
            <p:spPr>
              <a:xfrm>
                <a:off x="7406640" y="4480560"/>
                <a:ext cx="3749040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2000" dirty="0">
                    <a:solidFill>
                      <a:srgbClr val="FFFFFF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12개월  ×  10년</a:t>
                </a:r>
                <a:endParaRPr lang="en-US" sz="2000" dirty="0"/>
              </a:p>
            </p:txBody>
          </p:sp>
          <p:pic>
            <p:nvPicPr>
              <p:cNvPr id="40" name="그림 39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617655" y="841248"/>
                <a:ext cx="5215966" cy="3809028"/>
              </a:xfrm>
              <a:prstGeom prst="rect">
                <a:avLst/>
              </a:prstGeom>
            </p:spPr>
          </p:pic>
          <p:pic>
            <p:nvPicPr>
              <p:cNvPr id="41" name="그림 40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720840" y="4788128"/>
                <a:ext cx="4770533" cy="457240"/>
              </a:xfrm>
              <a:prstGeom prst="rect">
                <a:avLst/>
              </a:prstGeom>
            </p:spPr>
          </p:pic>
        </p:grpSp>
        <p:sp>
          <p:nvSpPr>
            <p:cNvPr id="34" name="직사각형 33"/>
            <p:cNvSpPr/>
            <p:nvPr/>
          </p:nvSpPr>
          <p:spPr>
            <a:xfrm>
              <a:off x="6766560" y="1642654"/>
              <a:ext cx="4946143" cy="189567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5" name="그룹 34"/>
            <p:cNvGrpSpPr/>
            <p:nvPr/>
          </p:nvGrpSpPr>
          <p:grpSpPr>
            <a:xfrm>
              <a:off x="6768610" y="5220546"/>
              <a:ext cx="4515086" cy="1105795"/>
              <a:chOff x="1168083" y="5373918"/>
              <a:chExt cx="4515086" cy="1105795"/>
            </a:xfrm>
          </p:grpSpPr>
          <p:pic>
            <p:nvPicPr>
              <p:cNvPr id="36" name="그림 35"/>
              <p:cNvPicPr>
                <a:picLocks noChangeAspect="1"/>
              </p:cNvPicPr>
              <p:nvPr/>
            </p:nvPicPr>
            <p:blipFill rotWithShape="1">
              <a:blip r:embed="rId5"/>
              <a:srcRect l="711" t="23580" r="943" b="27607"/>
              <a:stretch/>
            </p:blipFill>
            <p:spPr>
              <a:xfrm>
                <a:off x="1168083" y="5373918"/>
                <a:ext cx="4515086" cy="1054314"/>
              </a:xfrm>
              <a:prstGeom prst="rect">
                <a:avLst/>
              </a:prstGeom>
            </p:spPr>
          </p:pic>
          <p:sp>
            <p:nvSpPr>
              <p:cNvPr id="37" name="직사각형 36"/>
              <p:cNvSpPr/>
              <p:nvPr/>
            </p:nvSpPr>
            <p:spPr>
              <a:xfrm>
                <a:off x="2735580" y="5641608"/>
                <a:ext cx="1516380" cy="838105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264964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06005-13DD-F4F0-C12B-178805B4C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86964A6A-9C8B-4703-C8FA-FFA6799E58C0}"/>
              </a:ext>
            </a:extLst>
          </p:cNvPr>
          <p:cNvSpPr txBox="1"/>
          <p:nvPr/>
        </p:nvSpPr>
        <p:spPr>
          <a:xfrm>
            <a:off x="0" y="453187"/>
            <a:ext cx="30003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eesentation 5 Medium" pitchFamily="2" charset="-127"/>
                <a:ea typeface="Freesentation 5 Medium" pitchFamily="2" charset="-127"/>
                <a:cs typeface="Pretendard Light" panose="02000403000000020004" pitchFamily="50" charset="-127"/>
              </a:rPr>
              <a:t>과업별 세부 진행사항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eesentation 5 Medium" pitchFamily="2" charset="-127"/>
              <a:ea typeface="Freesentation 5 Medium" pitchFamily="2" charset="-127"/>
              <a:cs typeface="Pretendard Light" panose="02000403000000020004" pitchFamily="50" charset="-127"/>
            </a:endParaRPr>
          </a:p>
        </p:txBody>
      </p:sp>
      <p:sp>
        <p:nvSpPr>
          <p:cNvPr id="7" name="슬라이드 번호 개체 틀 1">
            <a:extLst>
              <a:ext uri="{FF2B5EF4-FFF2-40B4-BE49-F238E27FC236}">
                <a16:creationId xmlns:a16="http://schemas.microsoft.com/office/drawing/2014/main" id="{CBFF1D73-D4F1-7E9E-6FFD-996E4113B9F3}"/>
              </a:ext>
            </a:extLst>
          </p:cNvPr>
          <p:cNvSpPr txBox="1">
            <a:spLocks/>
          </p:cNvSpPr>
          <p:nvPr/>
        </p:nvSpPr>
        <p:spPr>
          <a:xfrm>
            <a:off x="9442493" y="6488255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10DBAC-22C5-4AD0-A416-546E7904AF50}" type="slidenum"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89D157-DB3E-86D6-1EF1-D7ACE5D3F568}"/>
              </a:ext>
            </a:extLst>
          </p:cNvPr>
          <p:cNvSpPr txBox="1"/>
          <p:nvPr/>
        </p:nvSpPr>
        <p:spPr>
          <a:xfrm>
            <a:off x="123891" y="991182"/>
            <a:ext cx="67110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2000" b="0" spc="0">
                <a:solidFill>
                  <a:srgbClr val="000000"/>
                </a:solidFill>
                <a:latin typeface="+mj-ea"/>
                <a:ea typeface="+mj-ea"/>
                <a:cs typeface="Pretendard SemiBold" panose="02000503000000020004" pitchFamily="2" charset="-127"/>
              </a:defRPr>
            </a:lvl1pPr>
          </a:lstStyle>
          <a:p>
            <a:pPr lvl="0">
              <a:defRPr/>
            </a:pPr>
            <a:r>
              <a:rPr lang="en-US" altLang="ko-KR" dirty="0">
                <a:latin typeface="프리젠테이션 7 Bold"/>
                <a:ea typeface="프리젠테이션 7 Bold"/>
              </a:rPr>
              <a:t>4. </a:t>
            </a:r>
            <a:r>
              <a:rPr lang="ko-KR" altLang="en-US" dirty="0">
                <a:latin typeface="프리젠테이션 7 Bold"/>
                <a:ea typeface="프리젠테이션 7 Bold"/>
              </a:rPr>
              <a:t>현재 적용 모델 검증 실험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75C638-9116-F0D1-73DF-7F7C5F4DEE56}"/>
              </a:ext>
            </a:extLst>
          </p:cNvPr>
          <p:cNvSpPr txBox="1"/>
          <p:nvPr/>
        </p:nvSpPr>
        <p:spPr>
          <a:xfrm>
            <a:off x="312123" y="1550850"/>
            <a:ext cx="555921" cy="2954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144000" indent="-144000" latinLnBrk="0">
              <a:lnSpc>
                <a:spcPct val="120000"/>
              </a:lnSpc>
              <a:spcBef>
                <a:spcPct val="0"/>
              </a:spcBef>
              <a:spcAft>
                <a:spcPts val="100"/>
              </a:spcAft>
              <a:buClr>
                <a:prstClr val="white">
                  <a:lumMod val="50000"/>
                </a:prstClr>
              </a:buClr>
              <a:buFont typeface="Wingdings" panose="05000000000000000000" pitchFamily="2" charset="2"/>
              <a:buChar char="§"/>
              <a:defRPr sz="1200" spc="0">
                <a:ln>
                  <a:solidFill>
                    <a:srgbClr val="3F4057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Freesentation 4 Regular" pitchFamily="2" charset="-127"/>
                <a:ea typeface="Freesentation 4 Regular" pitchFamily="2" charset="-127"/>
              </a:defRPr>
            </a:lvl1pPr>
          </a:lstStyle>
          <a:p>
            <a:pPr marL="144000" marR="0" lvl="0" indent="-1440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100"/>
              </a:spcAft>
              <a:buClr>
                <a:prstClr val="white">
                  <a:lumMod val="50000"/>
                </a:prst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ko-KR" altLang="en-US" sz="1600" dirty="0">
                <a:solidFill>
                  <a:srgbClr val="000000">
                    <a:lumMod val="65000"/>
                    <a:lumOff val="35000"/>
                  </a:srgbClr>
                </a:solidFill>
              </a:rPr>
              <a:t>검증</a:t>
            </a:r>
            <a:endParaRPr kumimoji="0" lang="ko-KR" altLang="en-US" sz="1600" b="0" i="0" u="none" strike="noStrike" kern="1200" cap="none" spc="0" normalizeH="0" baseline="0" noProof="0" dirty="0">
              <a:ln>
                <a:solidFill>
                  <a:srgbClr val="3F4057">
                    <a:alpha val="0"/>
                  </a:srgbClr>
                </a:solidFill>
              </a:ln>
              <a:solidFill>
                <a:schemeClr val="tx1"/>
              </a:solidFill>
              <a:effectLst/>
              <a:uLnTx/>
              <a:uFillTx/>
              <a:latin typeface="Freesentation 4 Regular" pitchFamily="2" charset="-127"/>
              <a:ea typeface="Freesentation 4 Regular" pitchFamily="2" charset="-127"/>
              <a:cs typeface="+mn-cs"/>
            </a:endParaRPr>
          </a:p>
        </p:txBody>
      </p:sp>
      <p:sp>
        <p:nvSpPr>
          <p:cNvPr id="10" name="Text 3"/>
          <p:cNvSpPr/>
          <p:nvPr/>
        </p:nvSpPr>
        <p:spPr>
          <a:xfrm>
            <a:off x="312123" y="1846316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8000"/>
              </a:lnSpc>
            </a:pPr>
            <a:r>
              <a:rPr lang="ko-KR" altLang="en-US" sz="1450" dirty="0"/>
              <a:t>정형 데이터와 비정형 데이터만 </a:t>
            </a:r>
            <a:r>
              <a:rPr lang="en-US" altLang="ko-KR" sz="1450" dirty="0"/>
              <a:t>LLM</a:t>
            </a:r>
            <a:r>
              <a:rPr lang="ko-KR" altLang="en-US" sz="1450" dirty="0"/>
              <a:t>에 넣어 </a:t>
            </a:r>
            <a:r>
              <a:rPr lang="en-US" altLang="ko-KR" sz="1450" dirty="0"/>
              <a:t>4</a:t>
            </a:r>
            <a:r>
              <a:rPr lang="ko-KR" altLang="en-US" sz="1450" dirty="0"/>
              <a:t>월 </a:t>
            </a:r>
            <a:r>
              <a:rPr lang="en-US" altLang="ko-KR" sz="1450" dirty="0"/>
              <a:t>11</a:t>
            </a:r>
            <a:r>
              <a:rPr lang="ko-KR" altLang="en-US" sz="1450" dirty="0"/>
              <a:t>일 기준 위기 단계를 진단</a:t>
            </a:r>
            <a:endParaRPr lang="en-US" sz="1450" dirty="0"/>
          </a:p>
        </p:txBody>
      </p:sp>
      <p:grpSp>
        <p:nvGrpSpPr>
          <p:cNvPr id="13" name="그룹 12"/>
          <p:cNvGrpSpPr/>
          <p:nvPr/>
        </p:nvGrpSpPr>
        <p:grpSpPr>
          <a:xfrm>
            <a:off x="868044" y="2570077"/>
            <a:ext cx="10129192" cy="3567141"/>
            <a:chOff x="548640" y="1808768"/>
            <a:chExt cx="10689879" cy="4206605"/>
          </a:xfrm>
        </p:grpSpPr>
        <p:sp>
          <p:nvSpPr>
            <p:cNvPr id="14" name="Text 15">
              <a:extLst>
                <a:ext uri="{FF2B5EF4-FFF2-40B4-BE49-F238E27FC236}">
                  <a16:creationId xmlns:a16="http://schemas.microsoft.com/office/drawing/2014/main" id="{3BA26013-182B-689B-9DBB-8ABBCF092935}"/>
                </a:ext>
              </a:extLst>
            </p:cNvPr>
            <p:cNvSpPr/>
            <p:nvPr/>
          </p:nvSpPr>
          <p:spPr>
            <a:xfrm>
              <a:off x="6766560" y="5544651"/>
              <a:ext cx="4471959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50" b="1" dirty="0" err="1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학습</a:t>
              </a:r>
              <a:r>
                <a:rPr lang="ko-KR" altLang="en-US" sz="125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데이터</a:t>
              </a:r>
              <a:r>
                <a:rPr lang="en-US" sz="125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= 89개</a:t>
              </a:r>
              <a:endParaRPr lang="en-US" sz="1250" dirty="0"/>
            </a:p>
          </p:txBody>
        </p:sp>
        <p:pic>
          <p:nvPicPr>
            <p:cNvPr id="15" name="그림 1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66928" y="2416956"/>
              <a:ext cx="5243014" cy="3292125"/>
            </a:xfrm>
            <a:prstGeom prst="rect">
              <a:avLst/>
            </a:prstGeom>
          </p:spPr>
        </p:pic>
        <p:pic>
          <p:nvPicPr>
            <p:cNvPr id="16" name="그림 1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39121" y="1808768"/>
              <a:ext cx="4801016" cy="4206605"/>
            </a:xfrm>
            <a:prstGeom prst="rect">
              <a:avLst/>
            </a:prstGeom>
          </p:spPr>
        </p:pic>
        <p:sp>
          <p:nvSpPr>
            <p:cNvPr id="17" name="직사각형 16"/>
            <p:cNvSpPr/>
            <p:nvPr/>
          </p:nvSpPr>
          <p:spPr>
            <a:xfrm>
              <a:off x="548640" y="3852192"/>
              <a:ext cx="5305282" cy="294724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6342172" y="2188098"/>
              <a:ext cx="1188971" cy="294724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7286587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06005-13DD-F4F0-C12B-178805B4C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86964A6A-9C8B-4703-C8FA-FFA6799E58C0}"/>
              </a:ext>
            </a:extLst>
          </p:cNvPr>
          <p:cNvSpPr txBox="1"/>
          <p:nvPr/>
        </p:nvSpPr>
        <p:spPr>
          <a:xfrm>
            <a:off x="0" y="453187"/>
            <a:ext cx="30003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eesentation 5 Medium" pitchFamily="2" charset="-127"/>
                <a:ea typeface="Freesentation 5 Medium" pitchFamily="2" charset="-127"/>
                <a:cs typeface="Pretendard Light" panose="02000403000000020004" pitchFamily="50" charset="-127"/>
              </a:rPr>
              <a:t>과업별 세부 진행사항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eesentation 5 Medium" pitchFamily="2" charset="-127"/>
              <a:ea typeface="Freesentation 5 Medium" pitchFamily="2" charset="-127"/>
              <a:cs typeface="Pretendard Light" panose="02000403000000020004" pitchFamily="50" charset="-127"/>
            </a:endParaRPr>
          </a:p>
        </p:txBody>
      </p:sp>
      <p:sp>
        <p:nvSpPr>
          <p:cNvPr id="7" name="슬라이드 번호 개체 틀 1">
            <a:extLst>
              <a:ext uri="{FF2B5EF4-FFF2-40B4-BE49-F238E27FC236}">
                <a16:creationId xmlns:a16="http://schemas.microsoft.com/office/drawing/2014/main" id="{CBFF1D73-D4F1-7E9E-6FFD-996E4113B9F3}"/>
              </a:ext>
            </a:extLst>
          </p:cNvPr>
          <p:cNvSpPr txBox="1">
            <a:spLocks/>
          </p:cNvSpPr>
          <p:nvPr/>
        </p:nvSpPr>
        <p:spPr>
          <a:xfrm>
            <a:off x="9442493" y="6488255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10DBAC-22C5-4AD0-A416-546E7904AF50}" type="slidenum"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89D157-DB3E-86D6-1EF1-D7ACE5D3F568}"/>
              </a:ext>
            </a:extLst>
          </p:cNvPr>
          <p:cNvSpPr txBox="1"/>
          <p:nvPr/>
        </p:nvSpPr>
        <p:spPr>
          <a:xfrm>
            <a:off x="123891" y="991182"/>
            <a:ext cx="67110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2000" b="0" spc="0">
                <a:solidFill>
                  <a:srgbClr val="000000"/>
                </a:solidFill>
                <a:latin typeface="+mj-ea"/>
                <a:ea typeface="+mj-ea"/>
                <a:cs typeface="Pretendard SemiBold" panose="02000503000000020004" pitchFamily="2" charset="-127"/>
              </a:defRPr>
            </a:lvl1pPr>
          </a:lstStyle>
          <a:p>
            <a:pPr lvl="0">
              <a:defRPr/>
            </a:pPr>
            <a:r>
              <a:rPr lang="en-US" altLang="ko-KR" dirty="0">
                <a:latin typeface="프리젠테이션 7 Bold"/>
                <a:ea typeface="프리젠테이션 7 Bold"/>
              </a:rPr>
              <a:t>4. </a:t>
            </a:r>
            <a:r>
              <a:rPr lang="ko-KR" altLang="en-US" dirty="0">
                <a:latin typeface="프리젠테이션 7 Bold"/>
                <a:ea typeface="프리젠테이션 7 Bold"/>
              </a:rPr>
              <a:t>현재 적용 모델 검증 실험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75C638-9116-F0D1-73DF-7F7C5F4DEE56}"/>
              </a:ext>
            </a:extLst>
          </p:cNvPr>
          <p:cNvSpPr txBox="1"/>
          <p:nvPr/>
        </p:nvSpPr>
        <p:spPr>
          <a:xfrm>
            <a:off x="312123" y="1550850"/>
            <a:ext cx="555921" cy="2954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144000" indent="-144000" latinLnBrk="0">
              <a:lnSpc>
                <a:spcPct val="120000"/>
              </a:lnSpc>
              <a:spcBef>
                <a:spcPct val="0"/>
              </a:spcBef>
              <a:spcAft>
                <a:spcPts val="100"/>
              </a:spcAft>
              <a:buClr>
                <a:prstClr val="white">
                  <a:lumMod val="50000"/>
                </a:prstClr>
              </a:buClr>
              <a:buFont typeface="Wingdings" panose="05000000000000000000" pitchFamily="2" charset="2"/>
              <a:buChar char="§"/>
              <a:defRPr sz="1200" spc="0">
                <a:ln>
                  <a:solidFill>
                    <a:srgbClr val="3F4057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Freesentation 4 Regular" pitchFamily="2" charset="-127"/>
                <a:ea typeface="Freesentation 4 Regular" pitchFamily="2" charset="-127"/>
              </a:defRPr>
            </a:lvl1pPr>
          </a:lstStyle>
          <a:p>
            <a:pPr marL="144000" marR="0" lvl="0" indent="-1440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100"/>
              </a:spcAft>
              <a:buClr>
                <a:prstClr val="white">
                  <a:lumMod val="50000"/>
                </a:prst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ko-KR" altLang="en-US" sz="1600" noProof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검증</a:t>
            </a:r>
            <a:endParaRPr kumimoji="0" lang="ko-KR" altLang="en-US" sz="1600" b="0" i="0" u="none" strike="noStrike" kern="1200" cap="none" spc="0" normalizeH="0" baseline="0" noProof="0" dirty="0">
              <a:ln>
                <a:solidFill>
                  <a:srgbClr val="3F4057">
                    <a:alpha val="0"/>
                  </a:srgbClr>
                </a:solidFill>
              </a:ln>
              <a:solidFill>
                <a:schemeClr val="tx1"/>
              </a:solidFill>
              <a:effectLst/>
              <a:uLnTx/>
              <a:uFillTx/>
              <a:latin typeface="Freesentation 4 Regular" pitchFamily="2" charset="-127"/>
              <a:ea typeface="Freesentation 4 Regular" pitchFamily="2" charset="-127"/>
              <a:cs typeface="+mn-cs"/>
            </a:endParaRPr>
          </a:p>
        </p:txBody>
      </p:sp>
      <p:sp>
        <p:nvSpPr>
          <p:cNvPr id="12" name="Text 3"/>
          <p:cNvSpPr/>
          <p:nvPr/>
        </p:nvSpPr>
        <p:spPr>
          <a:xfrm>
            <a:off x="312123" y="1846316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8000"/>
              </a:lnSpc>
            </a:pPr>
            <a:r>
              <a:rPr lang="en-US" altLang="ko-KR" sz="1450" dirty="0"/>
              <a:t>Chronos-2 </a:t>
            </a:r>
            <a:r>
              <a:rPr lang="ko-KR" altLang="en-US" sz="1450" dirty="0"/>
              <a:t>예측을 추가로 넣어 동일 시점의 위기 단계를 진단</a:t>
            </a:r>
            <a:endParaRPr lang="en-US" sz="1450" dirty="0"/>
          </a:p>
        </p:txBody>
      </p:sp>
      <p:grpSp>
        <p:nvGrpSpPr>
          <p:cNvPr id="13" name="그룹 12"/>
          <p:cNvGrpSpPr/>
          <p:nvPr/>
        </p:nvGrpSpPr>
        <p:grpSpPr>
          <a:xfrm>
            <a:off x="513097" y="2643819"/>
            <a:ext cx="10680929" cy="3553663"/>
            <a:chOff x="380361" y="1921754"/>
            <a:chExt cx="11081823" cy="4080141"/>
          </a:xfrm>
        </p:grpSpPr>
        <p:sp>
          <p:nvSpPr>
            <p:cNvPr id="14" name="Text 15">
              <a:extLst>
                <a:ext uri="{FF2B5EF4-FFF2-40B4-BE49-F238E27FC236}">
                  <a16:creationId xmlns:a16="http://schemas.microsoft.com/office/drawing/2014/main" id="{3BA26013-182B-689B-9DBB-8ABBCF092935}"/>
                </a:ext>
              </a:extLst>
            </p:cNvPr>
            <p:cNvSpPr/>
            <p:nvPr/>
          </p:nvSpPr>
          <p:spPr>
            <a:xfrm>
              <a:off x="6766560" y="5544651"/>
              <a:ext cx="4471959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50" b="1" dirty="0" err="1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학습</a:t>
              </a:r>
              <a:r>
                <a:rPr lang="ko-KR" altLang="en-US" sz="125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데이터</a:t>
              </a:r>
              <a:r>
                <a:rPr lang="en-US" sz="125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= 89개</a:t>
              </a:r>
              <a:endParaRPr lang="en-US" sz="1250" dirty="0"/>
            </a:p>
          </p:txBody>
        </p:sp>
        <p:pic>
          <p:nvPicPr>
            <p:cNvPr id="15" name="그림 1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16084" y="1921754"/>
              <a:ext cx="5946100" cy="4080141"/>
            </a:xfrm>
            <a:prstGeom prst="rect">
              <a:avLst/>
            </a:prstGeom>
          </p:spPr>
        </p:pic>
        <p:pic>
          <p:nvPicPr>
            <p:cNvPr id="16" name="그림 1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80361" y="2284136"/>
              <a:ext cx="4946988" cy="3260515"/>
            </a:xfrm>
            <a:prstGeom prst="rect">
              <a:avLst/>
            </a:prstGeom>
          </p:spPr>
        </p:pic>
        <p:sp>
          <p:nvSpPr>
            <p:cNvPr id="17" name="직사각형 16"/>
            <p:cNvSpPr/>
            <p:nvPr/>
          </p:nvSpPr>
          <p:spPr>
            <a:xfrm>
              <a:off x="380361" y="3506460"/>
              <a:ext cx="3284796" cy="717917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5516084" y="2284136"/>
              <a:ext cx="975400" cy="217239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6508768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06005-13DD-F4F0-C12B-178805B4C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86964A6A-9C8B-4703-C8FA-FFA6799E58C0}"/>
              </a:ext>
            </a:extLst>
          </p:cNvPr>
          <p:cNvSpPr txBox="1"/>
          <p:nvPr/>
        </p:nvSpPr>
        <p:spPr>
          <a:xfrm>
            <a:off x="0" y="453187"/>
            <a:ext cx="30003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eesentation 5 Medium" pitchFamily="2" charset="-127"/>
                <a:ea typeface="Freesentation 5 Medium" pitchFamily="2" charset="-127"/>
                <a:cs typeface="Pretendard Light" panose="02000403000000020004" pitchFamily="50" charset="-127"/>
              </a:rPr>
              <a:t>과업별 세부 진행사항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eesentation 5 Medium" pitchFamily="2" charset="-127"/>
              <a:ea typeface="Freesentation 5 Medium" pitchFamily="2" charset="-127"/>
              <a:cs typeface="Pretendard Light" panose="02000403000000020004" pitchFamily="50" charset="-127"/>
            </a:endParaRPr>
          </a:p>
        </p:txBody>
      </p:sp>
      <p:sp>
        <p:nvSpPr>
          <p:cNvPr id="7" name="슬라이드 번호 개체 틀 1">
            <a:extLst>
              <a:ext uri="{FF2B5EF4-FFF2-40B4-BE49-F238E27FC236}">
                <a16:creationId xmlns:a16="http://schemas.microsoft.com/office/drawing/2014/main" id="{CBFF1D73-D4F1-7E9E-6FFD-996E4113B9F3}"/>
              </a:ext>
            </a:extLst>
          </p:cNvPr>
          <p:cNvSpPr txBox="1">
            <a:spLocks/>
          </p:cNvSpPr>
          <p:nvPr/>
        </p:nvSpPr>
        <p:spPr>
          <a:xfrm>
            <a:off x="9442493" y="6488255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10DBAC-22C5-4AD0-A416-546E7904AF50}" type="slidenum"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89D157-DB3E-86D6-1EF1-D7ACE5D3F568}"/>
              </a:ext>
            </a:extLst>
          </p:cNvPr>
          <p:cNvSpPr txBox="1"/>
          <p:nvPr/>
        </p:nvSpPr>
        <p:spPr>
          <a:xfrm>
            <a:off x="123891" y="991182"/>
            <a:ext cx="67110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2000" b="0" spc="0">
                <a:solidFill>
                  <a:srgbClr val="000000"/>
                </a:solidFill>
                <a:latin typeface="+mj-ea"/>
                <a:ea typeface="+mj-ea"/>
                <a:cs typeface="Pretendard SemiBold" panose="02000503000000020004" pitchFamily="2" charset="-127"/>
              </a:defRPr>
            </a:lvl1pPr>
          </a:lstStyle>
          <a:p>
            <a:pPr lvl="0">
              <a:defRPr/>
            </a:pPr>
            <a:r>
              <a:rPr lang="en-US" altLang="ko-KR" dirty="0">
                <a:latin typeface="프리젠테이션 7 Bold"/>
                <a:ea typeface="프리젠테이션 7 Bold"/>
              </a:rPr>
              <a:t>4. </a:t>
            </a:r>
            <a:r>
              <a:rPr lang="ko-KR" altLang="en-US" dirty="0">
                <a:latin typeface="프리젠테이션 7 Bold"/>
                <a:ea typeface="프리젠테이션 7 Bold"/>
              </a:rPr>
              <a:t>현재 적용 모델 검증 실험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75C638-9116-F0D1-73DF-7F7C5F4DEE56}"/>
              </a:ext>
            </a:extLst>
          </p:cNvPr>
          <p:cNvSpPr txBox="1"/>
          <p:nvPr/>
        </p:nvSpPr>
        <p:spPr>
          <a:xfrm>
            <a:off x="312123" y="1550850"/>
            <a:ext cx="761106" cy="2954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144000" indent="-144000" latinLnBrk="0">
              <a:lnSpc>
                <a:spcPct val="120000"/>
              </a:lnSpc>
              <a:spcBef>
                <a:spcPct val="0"/>
              </a:spcBef>
              <a:spcAft>
                <a:spcPts val="100"/>
              </a:spcAft>
              <a:buClr>
                <a:prstClr val="white">
                  <a:lumMod val="50000"/>
                </a:prstClr>
              </a:buClr>
              <a:buFont typeface="Wingdings" panose="05000000000000000000" pitchFamily="2" charset="2"/>
              <a:buChar char="§"/>
              <a:defRPr sz="1200" spc="0">
                <a:ln>
                  <a:solidFill>
                    <a:srgbClr val="3F4057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Freesentation 4 Regular" pitchFamily="2" charset="-127"/>
                <a:ea typeface="Freesentation 4 Regular" pitchFamily="2" charset="-127"/>
              </a:defRPr>
            </a:lvl1pPr>
          </a:lstStyle>
          <a:p>
            <a:pPr marL="144000" marR="0" lvl="0" indent="-1440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100"/>
              </a:spcAft>
              <a:buClr>
                <a:prstClr val="white">
                  <a:lumMod val="50000"/>
                </a:prst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ko-KR" altLang="en-US" sz="1600" noProof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문제점</a:t>
            </a:r>
            <a:endParaRPr kumimoji="0" lang="ko-KR" altLang="en-US" sz="1600" b="0" i="0" u="none" strike="noStrike" kern="1200" cap="none" spc="0" normalizeH="0" baseline="0" noProof="0" dirty="0">
              <a:ln>
                <a:solidFill>
                  <a:srgbClr val="3F4057">
                    <a:alpha val="0"/>
                  </a:srgbClr>
                </a:solidFill>
              </a:ln>
              <a:solidFill>
                <a:schemeClr val="tx1"/>
              </a:solidFill>
              <a:effectLst/>
              <a:uLnTx/>
              <a:uFillTx/>
              <a:latin typeface="Freesentation 4 Regular" pitchFamily="2" charset="-127"/>
              <a:ea typeface="Freesentation 4 Regular" pitchFamily="2" charset="-127"/>
              <a:cs typeface="+mn-cs"/>
            </a:endParaRPr>
          </a:p>
        </p:txBody>
      </p:sp>
      <p:sp>
        <p:nvSpPr>
          <p:cNvPr id="10" name="Text 3"/>
          <p:cNvSpPr/>
          <p:nvPr/>
        </p:nvSpPr>
        <p:spPr>
          <a:xfrm>
            <a:off x="330185" y="1852179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8000"/>
              </a:lnSpc>
            </a:pPr>
            <a:r>
              <a:rPr lang="ko-KR" altLang="en-US" sz="1450" dirty="0"/>
              <a:t>요약 방식에 따라 진단 단계가 달라질 수 있으므로</a:t>
            </a:r>
            <a:r>
              <a:rPr lang="en-US" altLang="ko-KR" sz="1450" dirty="0"/>
              <a:t>, </a:t>
            </a:r>
            <a:r>
              <a:rPr lang="ko-KR" altLang="en-US" sz="1450" dirty="0"/>
              <a:t>로컬 </a:t>
            </a:r>
            <a:r>
              <a:rPr lang="en-US" altLang="ko-KR" sz="1450" dirty="0"/>
              <a:t>LLM</a:t>
            </a:r>
            <a:r>
              <a:rPr lang="ko-KR" altLang="en-US" sz="1450" dirty="0"/>
              <a:t>에서도 일관된 판단이 가능하도록 정형화된 프롬프트 구축 필요</a:t>
            </a:r>
            <a:endParaRPr lang="en-US" sz="1450" dirty="0"/>
          </a:p>
        </p:txBody>
      </p:sp>
      <p:grpSp>
        <p:nvGrpSpPr>
          <p:cNvPr id="12" name="그룹 11"/>
          <p:cNvGrpSpPr/>
          <p:nvPr/>
        </p:nvGrpSpPr>
        <p:grpSpPr>
          <a:xfrm>
            <a:off x="821397" y="2467115"/>
            <a:ext cx="10527308" cy="3863404"/>
            <a:chOff x="621792" y="2013149"/>
            <a:chExt cx="10978745" cy="4357481"/>
          </a:xfrm>
        </p:grpSpPr>
        <p:sp>
          <p:nvSpPr>
            <p:cNvPr id="13" name="Text 15">
              <a:extLst>
                <a:ext uri="{FF2B5EF4-FFF2-40B4-BE49-F238E27FC236}">
                  <a16:creationId xmlns:a16="http://schemas.microsoft.com/office/drawing/2014/main" id="{3BA26013-182B-689B-9DBB-8ABBCF092935}"/>
                </a:ext>
              </a:extLst>
            </p:cNvPr>
            <p:cNvSpPr/>
            <p:nvPr/>
          </p:nvSpPr>
          <p:spPr>
            <a:xfrm>
              <a:off x="6766560" y="5544651"/>
              <a:ext cx="4471959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50" b="1" dirty="0" err="1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학습</a:t>
              </a:r>
              <a:r>
                <a:rPr lang="ko-KR" altLang="en-US" sz="125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데이터</a:t>
              </a:r>
              <a:r>
                <a:rPr lang="en-US" sz="125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= 89개</a:t>
              </a:r>
              <a:endParaRPr lang="en-US" sz="1250" dirty="0"/>
            </a:p>
          </p:txBody>
        </p:sp>
        <p:pic>
          <p:nvPicPr>
            <p:cNvPr id="14" name="그림 1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1792" y="2013149"/>
              <a:ext cx="4554306" cy="4048903"/>
            </a:xfrm>
            <a:prstGeom prst="rect">
              <a:avLst/>
            </a:prstGeom>
          </p:spPr>
        </p:pic>
        <p:pic>
          <p:nvPicPr>
            <p:cNvPr id="15" name="그림 1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04540" y="2444247"/>
              <a:ext cx="5195997" cy="3186708"/>
            </a:xfrm>
            <a:prstGeom prst="rect">
              <a:avLst/>
            </a:prstGeom>
          </p:spPr>
        </p:pic>
        <p:sp>
          <p:nvSpPr>
            <p:cNvPr id="16" name="직사각형 15"/>
            <p:cNvSpPr/>
            <p:nvPr/>
          </p:nvSpPr>
          <p:spPr>
            <a:xfrm>
              <a:off x="621792" y="2321727"/>
              <a:ext cx="3284796" cy="1668382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16"/>
            <p:cNvSpPr/>
            <p:nvPr/>
          </p:nvSpPr>
          <p:spPr>
            <a:xfrm>
              <a:off x="6404539" y="2451805"/>
              <a:ext cx="3540505" cy="820388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621792" y="5544651"/>
              <a:ext cx="1569745" cy="502287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8"/>
            <p:cNvSpPr/>
            <p:nvPr/>
          </p:nvSpPr>
          <p:spPr>
            <a:xfrm>
              <a:off x="6404539" y="5042364"/>
              <a:ext cx="2784803" cy="588591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990195" y="6093631"/>
              <a:ext cx="115004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Gemma4-e4b</a:t>
              </a:r>
              <a:endParaRPr lang="ko-KR" altLang="en-US" sz="1200" dirty="0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8648153" y="5795794"/>
              <a:ext cx="70877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err="1"/>
                <a:t>claude</a:t>
              </a:r>
              <a:endParaRPr lang="ko-KR" alt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41371064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06005-13DD-F4F0-C12B-178805B4C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86964A6A-9C8B-4703-C8FA-FFA6799E58C0}"/>
              </a:ext>
            </a:extLst>
          </p:cNvPr>
          <p:cNvSpPr txBox="1"/>
          <p:nvPr/>
        </p:nvSpPr>
        <p:spPr>
          <a:xfrm>
            <a:off x="0" y="453187"/>
            <a:ext cx="30003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eesentation 5 Medium" pitchFamily="2" charset="-127"/>
                <a:ea typeface="Freesentation 5 Medium" pitchFamily="2" charset="-127"/>
                <a:cs typeface="Pretendard Light" panose="02000403000000020004" pitchFamily="50" charset="-127"/>
              </a:rPr>
              <a:t>과업별 세부 진행사항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eesentation 5 Medium" pitchFamily="2" charset="-127"/>
              <a:ea typeface="Freesentation 5 Medium" pitchFamily="2" charset="-127"/>
              <a:cs typeface="Pretendard Light" panose="02000403000000020004" pitchFamily="50" charset="-127"/>
            </a:endParaRPr>
          </a:p>
        </p:txBody>
      </p:sp>
      <p:sp>
        <p:nvSpPr>
          <p:cNvPr id="7" name="슬라이드 번호 개체 틀 1">
            <a:extLst>
              <a:ext uri="{FF2B5EF4-FFF2-40B4-BE49-F238E27FC236}">
                <a16:creationId xmlns:a16="http://schemas.microsoft.com/office/drawing/2014/main" id="{CBFF1D73-D4F1-7E9E-6FFD-996E4113B9F3}"/>
              </a:ext>
            </a:extLst>
          </p:cNvPr>
          <p:cNvSpPr txBox="1">
            <a:spLocks/>
          </p:cNvSpPr>
          <p:nvPr/>
        </p:nvSpPr>
        <p:spPr>
          <a:xfrm>
            <a:off x="9442493" y="6488255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10DBAC-22C5-4AD0-A416-546E7904AF50}" type="slidenum"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89D157-DB3E-86D6-1EF1-D7ACE5D3F568}"/>
              </a:ext>
            </a:extLst>
          </p:cNvPr>
          <p:cNvSpPr txBox="1"/>
          <p:nvPr/>
        </p:nvSpPr>
        <p:spPr>
          <a:xfrm>
            <a:off x="123891" y="991182"/>
            <a:ext cx="67110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2000" b="0" spc="0">
                <a:solidFill>
                  <a:srgbClr val="000000"/>
                </a:solidFill>
                <a:latin typeface="+mj-ea"/>
                <a:ea typeface="+mj-ea"/>
                <a:cs typeface="Pretendard SemiBold" panose="02000503000000020004" pitchFamily="2" charset="-127"/>
              </a:defRPr>
            </a:lvl1pPr>
          </a:lstStyle>
          <a:p>
            <a:pPr lvl="0">
              <a:defRPr/>
            </a:pPr>
            <a:r>
              <a:rPr lang="en-US" altLang="ko-KR" dirty="0">
                <a:latin typeface="프리젠테이션 7 Bold"/>
                <a:ea typeface="프리젠테이션 7 Bold"/>
              </a:rPr>
              <a:t>4. </a:t>
            </a:r>
            <a:r>
              <a:rPr lang="ko-KR" altLang="en-US" dirty="0">
                <a:latin typeface="프리젠테이션 7 Bold"/>
                <a:ea typeface="프리젠테이션 7 Bold"/>
              </a:rPr>
              <a:t>현재 적용 모델 검증 실험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75C638-9116-F0D1-73DF-7F7C5F4DEE56}"/>
              </a:ext>
            </a:extLst>
          </p:cNvPr>
          <p:cNvSpPr txBox="1"/>
          <p:nvPr/>
        </p:nvSpPr>
        <p:spPr>
          <a:xfrm>
            <a:off x="312123" y="1550850"/>
            <a:ext cx="1274067" cy="26795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144000" indent="-144000" latinLnBrk="0">
              <a:lnSpc>
                <a:spcPct val="120000"/>
              </a:lnSpc>
              <a:spcBef>
                <a:spcPct val="0"/>
              </a:spcBef>
              <a:spcAft>
                <a:spcPts val="100"/>
              </a:spcAft>
              <a:buClr>
                <a:prstClr val="white">
                  <a:lumMod val="50000"/>
                </a:prstClr>
              </a:buClr>
              <a:buFont typeface="Wingdings" panose="05000000000000000000" pitchFamily="2" charset="2"/>
              <a:buChar char="§"/>
              <a:defRPr sz="1200" spc="0">
                <a:ln>
                  <a:solidFill>
                    <a:srgbClr val="3F4057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Freesentation 4 Regular" pitchFamily="2" charset="-127"/>
                <a:ea typeface="Freesentation 4 Regular" pitchFamily="2" charset="-127"/>
              </a:defRPr>
            </a:lvl1pPr>
          </a:lstStyle>
          <a:p>
            <a:pPr marL="144000" marR="0" lvl="0" indent="-1440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100"/>
              </a:spcAft>
              <a:buClr>
                <a:prstClr val="white">
                  <a:lumMod val="50000"/>
                </a:prst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ko-KR" altLang="en-US" sz="1600" dirty="0">
                <a:solidFill>
                  <a:srgbClr val="000000">
                    <a:lumMod val="65000"/>
                    <a:lumOff val="35000"/>
                  </a:srgbClr>
                </a:solidFill>
              </a:rPr>
              <a:t>방법론 검증</a:t>
            </a:r>
            <a:endParaRPr kumimoji="0" lang="ko-KR" altLang="en-US" sz="1600" b="0" i="0" u="none" strike="noStrike" kern="1200" cap="none" spc="0" normalizeH="0" baseline="0" noProof="0" dirty="0">
              <a:ln>
                <a:solidFill>
                  <a:srgbClr val="3F4057">
                    <a:alpha val="0"/>
                  </a:srgbClr>
                </a:solidFill>
              </a:ln>
              <a:solidFill>
                <a:schemeClr val="tx1"/>
              </a:solidFill>
              <a:effectLst/>
              <a:uLnTx/>
              <a:uFillTx/>
              <a:latin typeface="Freesentation 4 Regular" pitchFamily="2" charset="-127"/>
              <a:ea typeface="Freesentation 4 Regular" pitchFamily="2" charset="-127"/>
              <a:cs typeface="+mn-cs"/>
            </a:endParaRPr>
          </a:p>
        </p:txBody>
      </p:sp>
      <p:sp>
        <p:nvSpPr>
          <p:cNvPr id="10" name="Text 3"/>
          <p:cNvSpPr/>
          <p:nvPr/>
        </p:nvSpPr>
        <p:spPr>
          <a:xfrm>
            <a:off x="312123" y="193940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8000"/>
              </a:lnSpc>
            </a:pPr>
            <a:r>
              <a:rPr lang="ko-KR" altLang="en-US" sz="1600" dirty="0"/>
              <a:t>정형화된 프롬프트를 통해 안정적인 진단이 이루어지는지 검증</a:t>
            </a:r>
            <a:endParaRPr lang="en-US" sz="1450" dirty="0"/>
          </a:p>
        </p:txBody>
      </p:sp>
      <p:grpSp>
        <p:nvGrpSpPr>
          <p:cNvPr id="12" name="그룹 11"/>
          <p:cNvGrpSpPr/>
          <p:nvPr/>
        </p:nvGrpSpPr>
        <p:grpSpPr>
          <a:xfrm>
            <a:off x="1981579" y="2609821"/>
            <a:ext cx="6985441" cy="3820771"/>
            <a:chOff x="1288404" y="2013150"/>
            <a:chExt cx="8297362" cy="4649553"/>
          </a:xfrm>
        </p:grpSpPr>
        <p:pic>
          <p:nvPicPr>
            <p:cNvPr id="13" name="그림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34130" y="2013150"/>
              <a:ext cx="7551636" cy="3775818"/>
            </a:xfrm>
            <a:prstGeom prst="rect">
              <a:avLst/>
            </a:prstGeom>
          </p:spPr>
        </p:pic>
        <p:sp>
          <p:nvSpPr>
            <p:cNvPr id="14" name="설명선 2 13"/>
            <p:cNvSpPr/>
            <p:nvPr/>
          </p:nvSpPr>
          <p:spPr>
            <a:xfrm>
              <a:off x="3778021" y="3794760"/>
              <a:ext cx="1793289" cy="1708275"/>
            </a:xfrm>
            <a:prstGeom prst="borderCallout2">
              <a:avLst>
                <a:gd name="adj1" fmla="val 18750"/>
                <a:gd name="adj2" fmla="val -8333"/>
                <a:gd name="adj3" fmla="val 18750"/>
                <a:gd name="adj4" fmla="val -16667"/>
                <a:gd name="adj5" fmla="val 118736"/>
                <a:gd name="adj6" fmla="val -75876"/>
              </a:avLst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288404" y="5876173"/>
              <a:ext cx="3865242" cy="7865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정형화된 프롬프트를 통해 안정적인 진단 필요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655519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06005-13DD-F4F0-C12B-178805B4C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86964A6A-9C8B-4703-C8FA-FFA6799E58C0}"/>
              </a:ext>
            </a:extLst>
          </p:cNvPr>
          <p:cNvSpPr txBox="1"/>
          <p:nvPr/>
        </p:nvSpPr>
        <p:spPr>
          <a:xfrm>
            <a:off x="0" y="453187"/>
            <a:ext cx="30003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eesentation 5 Medium" pitchFamily="2" charset="-127"/>
                <a:ea typeface="Freesentation 5 Medium" pitchFamily="2" charset="-127"/>
                <a:cs typeface="Pretendard Light" panose="02000403000000020004" pitchFamily="50" charset="-127"/>
              </a:rPr>
              <a:t>과업별 세부 진행사항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eesentation 5 Medium" pitchFamily="2" charset="-127"/>
              <a:ea typeface="Freesentation 5 Medium" pitchFamily="2" charset="-127"/>
              <a:cs typeface="Pretendard Light" panose="02000403000000020004" pitchFamily="50" charset="-127"/>
            </a:endParaRPr>
          </a:p>
        </p:txBody>
      </p:sp>
      <p:sp>
        <p:nvSpPr>
          <p:cNvPr id="7" name="슬라이드 번호 개체 틀 1">
            <a:extLst>
              <a:ext uri="{FF2B5EF4-FFF2-40B4-BE49-F238E27FC236}">
                <a16:creationId xmlns:a16="http://schemas.microsoft.com/office/drawing/2014/main" id="{CBFF1D73-D4F1-7E9E-6FFD-996E4113B9F3}"/>
              </a:ext>
            </a:extLst>
          </p:cNvPr>
          <p:cNvSpPr txBox="1">
            <a:spLocks/>
          </p:cNvSpPr>
          <p:nvPr/>
        </p:nvSpPr>
        <p:spPr>
          <a:xfrm>
            <a:off x="9442493" y="6488255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10DBAC-22C5-4AD0-A416-546E7904AF50}" type="slidenum"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89D157-DB3E-86D6-1EF1-D7ACE5D3F568}"/>
              </a:ext>
            </a:extLst>
          </p:cNvPr>
          <p:cNvSpPr txBox="1"/>
          <p:nvPr/>
        </p:nvSpPr>
        <p:spPr>
          <a:xfrm>
            <a:off x="123891" y="991182"/>
            <a:ext cx="67110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2000" b="0" spc="0">
                <a:solidFill>
                  <a:srgbClr val="000000"/>
                </a:solidFill>
                <a:latin typeface="+mj-ea"/>
                <a:ea typeface="+mj-ea"/>
                <a:cs typeface="Pretendard SemiBold" panose="02000503000000020004" pitchFamily="2" charset="-127"/>
              </a:defRPr>
            </a:lvl1pPr>
          </a:lstStyle>
          <a:p>
            <a:pPr lvl="0">
              <a:defRPr/>
            </a:pPr>
            <a:r>
              <a:rPr lang="en-US" altLang="ko-KR" dirty="0">
                <a:latin typeface="프리젠테이션 7 Bold"/>
                <a:ea typeface="프리젠테이션 7 Bold"/>
              </a:rPr>
              <a:t>4. </a:t>
            </a:r>
            <a:r>
              <a:rPr lang="ko-KR" altLang="en-US" dirty="0">
                <a:latin typeface="프리젠테이션 7 Bold"/>
                <a:ea typeface="프리젠테이션 7 Bold"/>
              </a:rPr>
              <a:t>현재 적용 모델 검증 실험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75C638-9116-F0D1-73DF-7F7C5F4DEE56}"/>
              </a:ext>
            </a:extLst>
          </p:cNvPr>
          <p:cNvSpPr txBox="1"/>
          <p:nvPr/>
        </p:nvSpPr>
        <p:spPr>
          <a:xfrm>
            <a:off x="312123" y="1550850"/>
            <a:ext cx="555921" cy="2954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144000" indent="-144000" latinLnBrk="0">
              <a:lnSpc>
                <a:spcPct val="120000"/>
              </a:lnSpc>
              <a:spcBef>
                <a:spcPct val="0"/>
              </a:spcBef>
              <a:spcAft>
                <a:spcPts val="100"/>
              </a:spcAft>
              <a:buClr>
                <a:prstClr val="white">
                  <a:lumMod val="50000"/>
                </a:prstClr>
              </a:buClr>
              <a:buFont typeface="Wingdings" panose="05000000000000000000" pitchFamily="2" charset="2"/>
              <a:buChar char="§"/>
              <a:defRPr sz="1200" spc="0">
                <a:ln>
                  <a:solidFill>
                    <a:srgbClr val="3F4057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Freesentation 4 Regular" pitchFamily="2" charset="-127"/>
                <a:ea typeface="Freesentation 4 Regular" pitchFamily="2" charset="-127"/>
              </a:defRPr>
            </a:lvl1pPr>
          </a:lstStyle>
          <a:p>
            <a:pPr marL="144000" marR="0" lvl="0" indent="-1440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100"/>
              </a:spcAft>
              <a:buClr>
                <a:prstClr val="white">
                  <a:lumMod val="50000"/>
                </a:prst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ko-KR" altLang="en-US" sz="1600" noProof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검증</a:t>
            </a:r>
            <a:endParaRPr kumimoji="0" lang="ko-KR" altLang="en-US" sz="1600" b="0" i="0" u="none" strike="noStrike" kern="1200" cap="none" spc="0" normalizeH="0" baseline="0" noProof="0" dirty="0">
              <a:ln>
                <a:solidFill>
                  <a:srgbClr val="3F4057">
                    <a:alpha val="0"/>
                  </a:srgbClr>
                </a:solidFill>
              </a:ln>
              <a:solidFill>
                <a:schemeClr val="tx1"/>
              </a:solidFill>
              <a:effectLst/>
              <a:uLnTx/>
              <a:uFillTx/>
              <a:latin typeface="Freesentation 4 Regular" pitchFamily="2" charset="-127"/>
              <a:ea typeface="Freesentation 4 Regular" pitchFamily="2" charset="-127"/>
              <a:cs typeface="+mn-cs"/>
            </a:endParaRPr>
          </a:p>
        </p:txBody>
      </p:sp>
      <p:sp>
        <p:nvSpPr>
          <p:cNvPr id="10" name="Text 3"/>
          <p:cNvSpPr/>
          <p:nvPr/>
        </p:nvSpPr>
        <p:spPr>
          <a:xfrm>
            <a:off x="312123" y="1846316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8000"/>
              </a:lnSpc>
            </a:pPr>
            <a:r>
              <a:rPr lang="ko-KR" altLang="en-US" sz="1600" dirty="0"/>
              <a:t>정형화된 프롬프트를 통해 안정적인 진단이 이루어지는지 검증</a:t>
            </a:r>
            <a:endParaRPr lang="en-US" sz="1450" dirty="0"/>
          </a:p>
        </p:txBody>
      </p:sp>
      <p:grpSp>
        <p:nvGrpSpPr>
          <p:cNvPr id="12" name="그룹 11"/>
          <p:cNvGrpSpPr/>
          <p:nvPr/>
        </p:nvGrpSpPr>
        <p:grpSpPr>
          <a:xfrm>
            <a:off x="478748" y="2598982"/>
            <a:ext cx="10851895" cy="3842563"/>
            <a:chOff x="211003" y="2183306"/>
            <a:chExt cx="11275073" cy="4261204"/>
          </a:xfrm>
        </p:grpSpPr>
        <p:pic>
          <p:nvPicPr>
            <p:cNvPr id="13" name="그림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41625" y="2183306"/>
              <a:ext cx="5044451" cy="3873602"/>
            </a:xfrm>
            <a:prstGeom prst="rect">
              <a:avLst/>
            </a:prstGeom>
          </p:spPr>
        </p:pic>
        <p:sp>
          <p:nvSpPr>
            <p:cNvPr id="14" name="Text 15">
              <a:extLst>
                <a:ext uri="{FF2B5EF4-FFF2-40B4-BE49-F238E27FC236}">
                  <a16:creationId xmlns:a16="http://schemas.microsoft.com/office/drawing/2014/main" id="{3BA26013-182B-689B-9DBB-8ABBCF092935}"/>
                </a:ext>
              </a:extLst>
            </p:cNvPr>
            <p:cNvSpPr/>
            <p:nvPr/>
          </p:nvSpPr>
          <p:spPr>
            <a:xfrm>
              <a:off x="573024" y="5552209"/>
              <a:ext cx="4471959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50" b="1" dirty="0" err="1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학습</a:t>
              </a:r>
              <a:r>
                <a:rPr lang="ko-KR" altLang="en-US" sz="125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데이터</a:t>
              </a:r>
              <a:r>
                <a:rPr lang="en-US" sz="125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= 89개</a:t>
              </a:r>
              <a:endParaRPr lang="en-US" sz="1250" dirty="0"/>
            </a:p>
          </p:txBody>
        </p:sp>
        <p:pic>
          <p:nvPicPr>
            <p:cNvPr id="15" name="그림 1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1004" y="2451805"/>
              <a:ext cx="5195997" cy="3186708"/>
            </a:xfrm>
            <a:prstGeom prst="rect">
              <a:avLst/>
            </a:prstGeom>
          </p:spPr>
        </p:pic>
        <p:sp>
          <p:nvSpPr>
            <p:cNvPr id="16" name="직사각형 15"/>
            <p:cNvSpPr/>
            <p:nvPr/>
          </p:nvSpPr>
          <p:spPr>
            <a:xfrm>
              <a:off x="211003" y="2459363"/>
              <a:ext cx="3540505" cy="820388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16"/>
            <p:cNvSpPr/>
            <p:nvPr/>
          </p:nvSpPr>
          <p:spPr>
            <a:xfrm>
              <a:off x="211003" y="5049922"/>
              <a:ext cx="2784803" cy="588591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8" name="그림 17"/>
            <p:cNvPicPr>
              <a:picLocks noChangeAspect="1"/>
            </p:cNvPicPr>
            <p:nvPr/>
          </p:nvPicPr>
          <p:blipFill rotWithShape="1">
            <a:blip r:embed="rId5"/>
            <a:srcRect l="33472" t="38725" r="58483" b="45183"/>
            <a:stretch/>
          </p:blipFill>
          <p:spPr>
            <a:xfrm>
              <a:off x="5631705" y="3689145"/>
              <a:ext cx="585216" cy="585216"/>
            </a:xfrm>
            <a:prstGeom prst="rect">
              <a:avLst/>
            </a:prstGeom>
          </p:spPr>
        </p:pic>
        <p:sp>
          <p:nvSpPr>
            <p:cNvPr id="19" name="직사각형 18"/>
            <p:cNvSpPr/>
            <p:nvPr/>
          </p:nvSpPr>
          <p:spPr>
            <a:xfrm>
              <a:off x="6441625" y="2191836"/>
              <a:ext cx="5044451" cy="2691060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/>
            <p:cNvSpPr/>
            <p:nvPr/>
          </p:nvSpPr>
          <p:spPr>
            <a:xfrm>
              <a:off x="6441625" y="5552209"/>
              <a:ext cx="2214695" cy="504699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454617" y="5725945"/>
              <a:ext cx="70877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err="1"/>
                <a:t>claude</a:t>
              </a:r>
              <a:endParaRPr lang="ko-KR" altLang="en-US" sz="1200" dirty="0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8388825" y="6137332"/>
              <a:ext cx="1499571" cy="3071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Gemma4-e4b</a:t>
              </a:r>
              <a:endParaRPr lang="ko-KR" alt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6360518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06005-13DD-F4F0-C12B-178805B4C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86964A6A-9C8B-4703-C8FA-FFA6799E58C0}"/>
              </a:ext>
            </a:extLst>
          </p:cNvPr>
          <p:cNvSpPr txBox="1"/>
          <p:nvPr/>
        </p:nvSpPr>
        <p:spPr>
          <a:xfrm>
            <a:off x="0" y="453187"/>
            <a:ext cx="30003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eesentation 5 Medium" pitchFamily="2" charset="-127"/>
                <a:ea typeface="Freesentation 5 Medium" pitchFamily="2" charset="-127"/>
                <a:cs typeface="Pretendard Light" panose="02000403000000020004" pitchFamily="50" charset="-127"/>
              </a:rPr>
              <a:t>과업별 세부 진행사항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eesentation 5 Medium" pitchFamily="2" charset="-127"/>
              <a:ea typeface="Freesentation 5 Medium" pitchFamily="2" charset="-127"/>
              <a:cs typeface="Pretendard Light" panose="02000403000000020004" pitchFamily="50" charset="-127"/>
            </a:endParaRPr>
          </a:p>
        </p:txBody>
      </p:sp>
      <p:sp>
        <p:nvSpPr>
          <p:cNvPr id="7" name="슬라이드 번호 개체 틀 1">
            <a:extLst>
              <a:ext uri="{FF2B5EF4-FFF2-40B4-BE49-F238E27FC236}">
                <a16:creationId xmlns:a16="http://schemas.microsoft.com/office/drawing/2014/main" id="{CBFF1D73-D4F1-7E9E-6FFD-996E4113B9F3}"/>
              </a:ext>
            </a:extLst>
          </p:cNvPr>
          <p:cNvSpPr txBox="1">
            <a:spLocks/>
          </p:cNvSpPr>
          <p:nvPr/>
        </p:nvSpPr>
        <p:spPr>
          <a:xfrm>
            <a:off x="9442493" y="6488255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10DBAC-22C5-4AD0-A416-546E7904AF50}" type="slidenum"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89D157-DB3E-86D6-1EF1-D7ACE5D3F568}"/>
              </a:ext>
            </a:extLst>
          </p:cNvPr>
          <p:cNvSpPr txBox="1"/>
          <p:nvPr/>
        </p:nvSpPr>
        <p:spPr>
          <a:xfrm>
            <a:off x="123891" y="991182"/>
            <a:ext cx="67110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2000" b="0" spc="0">
                <a:solidFill>
                  <a:srgbClr val="000000"/>
                </a:solidFill>
                <a:latin typeface="+mj-ea"/>
                <a:ea typeface="+mj-ea"/>
                <a:cs typeface="Pretendard SemiBold" panose="02000503000000020004" pitchFamily="2" charset="-127"/>
              </a:defRPr>
            </a:lvl1pPr>
          </a:lstStyle>
          <a:p>
            <a:pPr lvl="0">
              <a:defRPr/>
            </a:pPr>
            <a:r>
              <a:rPr lang="en-US" altLang="ko-KR" dirty="0">
                <a:latin typeface="프리젠테이션 7 Bold"/>
                <a:ea typeface="프리젠테이션 7 Bold"/>
              </a:rPr>
              <a:t>4. </a:t>
            </a:r>
            <a:r>
              <a:rPr lang="ko-KR" altLang="en-US" dirty="0">
                <a:latin typeface="프리젠테이션 7 Bold"/>
                <a:ea typeface="프리젠테이션 7 Bold"/>
              </a:rPr>
              <a:t>현재 적용 모델 검증 실험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75C638-9116-F0D1-73DF-7F7C5F4DEE56}"/>
              </a:ext>
            </a:extLst>
          </p:cNvPr>
          <p:cNvSpPr txBox="1"/>
          <p:nvPr/>
        </p:nvSpPr>
        <p:spPr>
          <a:xfrm>
            <a:off x="312123" y="1550850"/>
            <a:ext cx="3537507" cy="2954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144000" indent="-144000" latinLnBrk="0">
              <a:lnSpc>
                <a:spcPct val="120000"/>
              </a:lnSpc>
              <a:spcBef>
                <a:spcPct val="0"/>
              </a:spcBef>
              <a:spcAft>
                <a:spcPts val="100"/>
              </a:spcAft>
              <a:buClr>
                <a:prstClr val="white">
                  <a:lumMod val="50000"/>
                </a:prstClr>
              </a:buClr>
              <a:buFont typeface="Wingdings" panose="05000000000000000000" pitchFamily="2" charset="2"/>
              <a:buChar char="§"/>
              <a:defRPr sz="1200" spc="0">
                <a:ln>
                  <a:solidFill>
                    <a:srgbClr val="3F4057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Freesentation 4 Regular" pitchFamily="2" charset="-127"/>
                <a:ea typeface="Freesentation 4 Regular" pitchFamily="2" charset="-127"/>
              </a:defRPr>
            </a:lvl1pPr>
          </a:lstStyle>
          <a:p>
            <a:pPr marL="144000" marR="0" lvl="0" indent="-1440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100"/>
              </a:spcAft>
              <a:buClr>
                <a:prstClr val="white">
                  <a:lumMod val="50000"/>
                </a:prst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altLang="ko-KR" sz="1600" dirty="0">
                <a:solidFill>
                  <a:srgbClr val="000000">
                    <a:lumMod val="65000"/>
                    <a:lumOff val="35000"/>
                  </a:srgbClr>
                </a:solidFill>
              </a:rPr>
              <a:t>5</a:t>
            </a:r>
            <a:r>
              <a:rPr lang="ko-KR" altLang="en-US" sz="1600" dirty="0" err="1">
                <a:solidFill>
                  <a:srgbClr val="000000">
                    <a:lumMod val="65000"/>
                    <a:lumOff val="35000"/>
                  </a:srgbClr>
                </a:solidFill>
              </a:rPr>
              <a:t>대광종</a:t>
            </a:r>
            <a:r>
              <a:rPr lang="en-US" altLang="ko-KR" sz="1600" dirty="0">
                <a:solidFill>
                  <a:srgbClr val="000000">
                    <a:lumMod val="65000"/>
                    <a:lumOff val="35000"/>
                  </a:srgbClr>
                </a:solidFill>
              </a:rPr>
              <a:t>(</a:t>
            </a:r>
            <a:r>
              <a:rPr lang="ko-KR" altLang="en-US" sz="1600" dirty="0">
                <a:solidFill>
                  <a:srgbClr val="000000">
                    <a:lumMod val="65000"/>
                    <a:lumOff val="35000"/>
                  </a:srgbClr>
                </a:solidFill>
              </a:rPr>
              <a:t>니켈</a:t>
            </a:r>
            <a:r>
              <a:rPr lang="en-US" altLang="ko-KR" sz="1600" dirty="0">
                <a:solidFill>
                  <a:srgbClr val="000000">
                    <a:lumMod val="65000"/>
                    <a:lumOff val="35000"/>
                  </a:srgbClr>
                </a:solidFill>
              </a:rPr>
              <a:t>)</a:t>
            </a:r>
            <a:r>
              <a:rPr lang="ko-KR" altLang="en-US" sz="1600" dirty="0">
                <a:solidFill>
                  <a:srgbClr val="000000">
                    <a:lumMod val="65000"/>
                    <a:lumOff val="35000"/>
                  </a:srgbClr>
                </a:solidFill>
              </a:rPr>
              <a:t>에 대한 검증 및 방법</a:t>
            </a:r>
            <a:endParaRPr kumimoji="0" lang="ko-KR" altLang="en-US" sz="1600" b="0" i="0" u="none" strike="noStrike" kern="1200" cap="none" spc="0" normalizeH="0" baseline="0" noProof="0" dirty="0">
              <a:ln>
                <a:solidFill>
                  <a:srgbClr val="3F4057">
                    <a:alpha val="0"/>
                  </a:srgbClr>
                </a:solidFill>
              </a:ln>
              <a:solidFill>
                <a:schemeClr val="tx1"/>
              </a:solidFill>
              <a:effectLst/>
              <a:uLnTx/>
              <a:uFillTx/>
              <a:latin typeface="Freesentation 4 Regular" pitchFamily="2" charset="-127"/>
              <a:ea typeface="Freesentation 4 Regular" pitchFamily="2" charset="-127"/>
              <a:cs typeface="+mn-cs"/>
            </a:endParaRPr>
          </a:p>
        </p:txBody>
      </p:sp>
      <p:sp>
        <p:nvSpPr>
          <p:cNvPr id="10" name="Text 3"/>
          <p:cNvSpPr/>
          <p:nvPr/>
        </p:nvSpPr>
        <p:spPr>
          <a:xfrm>
            <a:off x="455430" y="193940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8000"/>
              </a:lnSpc>
            </a:pPr>
            <a:r>
              <a:rPr lang="en-US" altLang="ko-KR" sz="1600" dirty="0"/>
              <a:t>5</a:t>
            </a:r>
            <a:r>
              <a:rPr lang="ko-KR" altLang="en-US" sz="1600" dirty="0"/>
              <a:t>대 광종으로 확장했을 때 동일한 판정 품질이 유지되는지 검증</a:t>
            </a:r>
            <a:endParaRPr lang="en-US" sz="1450" dirty="0"/>
          </a:p>
        </p:txBody>
      </p:sp>
      <p:grpSp>
        <p:nvGrpSpPr>
          <p:cNvPr id="12" name="그룹 11"/>
          <p:cNvGrpSpPr/>
          <p:nvPr/>
        </p:nvGrpSpPr>
        <p:grpSpPr>
          <a:xfrm>
            <a:off x="455430" y="2489699"/>
            <a:ext cx="6001349" cy="3989211"/>
            <a:chOff x="566928" y="2034017"/>
            <a:chExt cx="5889851" cy="4444894"/>
          </a:xfrm>
        </p:grpSpPr>
        <p:grpSp>
          <p:nvGrpSpPr>
            <p:cNvPr id="13" name="그룹 12"/>
            <p:cNvGrpSpPr/>
            <p:nvPr/>
          </p:nvGrpSpPr>
          <p:grpSpPr>
            <a:xfrm>
              <a:off x="566928" y="2034017"/>
              <a:ext cx="5889851" cy="4444894"/>
              <a:chOff x="576072" y="2340864"/>
              <a:chExt cx="6025896" cy="4361417"/>
            </a:xfrm>
          </p:grpSpPr>
          <p:sp>
            <p:nvSpPr>
              <p:cNvPr id="19" name="Shape 4"/>
              <p:cNvSpPr/>
              <p:nvPr/>
            </p:nvSpPr>
            <p:spPr>
              <a:xfrm>
                <a:off x="576072" y="2441448"/>
                <a:ext cx="118872" cy="118872"/>
              </a:xfrm>
              <a:prstGeom prst="rect">
                <a:avLst/>
              </a:prstGeom>
              <a:solidFill>
                <a:srgbClr val="1A1A1A"/>
              </a:solidFill>
              <a:ln/>
            </p:spPr>
          </p:sp>
          <p:sp>
            <p:nvSpPr>
              <p:cNvPr id="20" name="Text 5"/>
              <p:cNvSpPr/>
              <p:nvPr/>
            </p:nvSpPr>
            <p:spPr>
              <a:xfrm>
                <a:off x="859536" y="2340864"/>
                <a:ext cx="5742432" cy="31089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ko-KR" altLang="en-US" sz="1700" b="1" dirty="0">
                    <a:solidFill>
                      <a:srgbClr val="1A1A1A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러</a:t>
                </a:r>
                <a:r>
                  <a:rPr lang="en-US" altLang="ko-KR" sz="1700" b="1" dirty="0">
                    <a:solidFill>
                      <a:srgbClr val="1A1A1A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-</a:t>
                </a:r>
                <a:r>
                  <a:rPr lang="ko-KR" altLang="en-US" sz="1700" b="1" dirty="0">
                    <a:solidFill>
                      <a:srgbClr val="1A1A1A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우 전쟁 이후 시점 진단</a:t>
                </a:r>
                <a:endParaRPr lang="en-US" altLang="ko-KR" sz="1700" dirty="0"/>
              </a:p>
            </p:txBody>
          </p:sp>
          <p:sp>
            <p:nvSpPr>
              <p:cNvPr id="21" name="Text 6"/>
              <p:cNvSpPr/>
              <p:nvPr/>
            </p:nvSpPr>
            <p:spPr>
              <a:xfrm>
                <a:off x="859536" y="2871724"/>
                <a:ext cx="5742432" cy="6400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10000"/>
                  </a:lnSpc>
                </a:pPr>
                <a:endParaRPr lang="en-US" altLang="ko-KR" sz="1400" dirty="0"/>
              </a:p>
            </p:txBody>
          </p:sp>
          <p:sp>
            <p:nvSpPr>
              <p:cNvPr id="22" name="Shape 7"/>
              <p:cNvSpPr/>
              <p:nvPr/>
            </p:nvSpPr>
            <p:spPr>
              <a:xfrm>
                <a:off x="576072" y="3767456"/>
                <a:ext cx="118872" cy="118872"/>
              </a:xfrm>
              <a:prstGeom prst="rect">
                <a:avLst/>
              </a:prstGeom>
              <a:solidFill>
                <a:srgbClr val="1A1A1A"/>
              </a:solidFill>
              <a:ln/>
            </p:spPr>
          </p:sp>
          <p:sp>
            <p:nvSpPr>
              <p:cNvPr id="23" name="Text 8"/>
              <p:cNvSpPr/>
              <p:nvPr/>
            </p:nvSpPr>
            <p:spPr>
              <a:xfrm>
                <a:off x="859536" y="3676395"/>
                <a:ext cx="5742432" cy="31089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700" b="1" dirty="0" err="1"/>
                  <a:t>Komis</a:t>
                </a:r>
                <a:r>
                  <a:rPr lang="en-US" sz="1700" b="1" dirty="0"/>
                  <a:t> </a:t>
                </a:r>
                <a:r>
                  <a:rPr lang="ko-KR" altLang="en-US" sz="1700" b="1" dirty="0"/>
                  <a:t>주간광물동향</a:t>
                </a:r>
                <a:endParaRPr lang="en-US" sz="1700" b="1" dirty="0"/>
              </a:p>
            </p:txBody>
          </p:sp>
          <p:sp>
            <p:nvSpPr>
              <p:cNvPr id="24" name="Text 9"/>
              <p:cNvSpPr/>
              <p:nvPr/>
            </p:nvSpPr>
            <p:spPr>
              <a:xfrm>
                <a:off x="859536" y="5602072"/>
                <a:ext cx="5742432" cy="1100209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10000"/>
                  </a:lnSpc>
                </a:pPr>
                <a:endParaRPr lang="en-US" altLang="ko-KR" sz="1400" dirty="0"/>
              </a:p>
            </p:txBody>
          </p:sp>
        </p:grpSp>
        <p:sp>
          <p:nvSpPr>
            <p:cNvPr id="14" name="Shape 7"/>
            <p:cNvSpPr/>
            <p:nvPr/>
          </p:nvSpPr>
          <p:spPr>
            <a:xfrm>
              <a:off x="566928" y="5048856"/>
              <a:ext cx="116188" cy="121147"/>
            </a:xfrm>
            <a:prstGeom prst="rect">
              <a:avLst/>
            </a:prstGeom>
            <a:solidFill>
              <a:srgbClr val="1A1A1A"/>
            </a:solidFill>
            <a:ln/>
          </p:spPr>
        </p:sp>
        <p:sp>
          <p:nvSpPr>
            <p:cNvPr id="15" name="Text 8"/>
            <p:cNvSpPr/>
            <p:nvPr/>
          </p:nvSpPr>
          <p:spPr>
            <a:xfrm>
              <a:off x="768096" y="4989612"/>
              <a:ext cx="5612787" cy="31684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700" b="1" dirty="0">
                  <a:solidFill>
                    <a:srgbClr val="1A1A1A"/>
                  </a:solidFill>
                  <a:latin typeface="Malgun Gothic" pitchFamily="34" charset="0"/>
                  <a:ea typeface="Malgun Gothic" pitchFamily="34" charset="-122"/>
                </a:rPr>
                <a:t>러</a:t>
              </a:r>
              <a:r>
                <a:rPr lang="en-US" altLang="ko-KR" sz="1700" b="1" dirty="0">
                  <a:solidFill>
                    <a:srgbClr val="1A1A1A"/>
                  </a:solidFill>
                  <a:latin typeface="Malgun Gothic" pitchFamily="34" charset="0"/>
                  <a:ea typeface="Malgun Gothic" pitchFamily="34" charset="-122"/>
                </a:rPr>
                <a:t>-</a:t>
              </a:r>
              <a:r>
                <a:rPr lang="ko-KR" altLang="en-US" sz="1700" b="1" dirty="0">
                  <a:solidFill>
                    <a:srgbClr val="1A1A1A"/>
                  </a:solidFill>
                  <a:latin typeface="Malgun Gothic" pitchFamily="34" charset="0"/>
                  <a:ea typeface="Malgun Gothic" pitchFamily="34" charset="-122"/>
                </a:rPr>
                <a:t>우 전쟁 시점을 기준으로 약 </a:t>
              </a:r>
              <a:r>
                <a:rPr lang="en-US" altLang="ko-KR" sz="1700" b="1" dirty="0">
                  <a:solidFill>
                    <a:srgbClr val="1A1A1A"/>
                  </a:solidFill>
                  <a:latin typeface="Malgun Gothic" pitchFamily="34" charset="0"/>
                  <a:ea typeface="Malgun Gothic" pitchFamily="34" charset="-122"/>
                </a:rPr>
                <a:t>6</a:t>
              </a:r>
              <a:r>
                <a:rPr lang="ko-KR" altLang="en-US" sz="1700" b="1" dirty="0">
                  <a:solidFill>
                    <a:srgbClr val="1A1A1A"/>
                  </a:solidFill>
                  <a:latin typeface="Malgun Gothic" pitchFamily="34" charset="0"/>
                  <a:ea typeface="Malgun Gothic" pitchFamily="34" charset="-122"/>
                </a:rPr>
                <a:t>개월 </a:t>
              </a:r>
              <a:r>
                <a:rPr lang="ko-KR" altLang="en-US" sz="1700" b="1" dirty="0" err="1">
                  <a:solidFill>
                    <a:srgbClr val="1A1A1A"/>
                  </a:solidFill>
                  <a:latin typeface="Malgun Gothic" pitchFamily="34" charset="0"/>
                  <a:ea typeface="Malgun Gothic" pitchFamily="34" charset="-122"/>
                </a:rPr>
                <a:t>위기진단</a:t>
              </a:r>
              <a:r>
                <a:rPr lang="en-US" altLang="ko-KR" sz="1700" b="1" dirty="0">
                  <a:solidFill>
                    <a:srgbClr val="1A1A1A"/>
                  </a:solidFill>
                  <a:latin typeface="Malgun Gothic" pitchFamily="34" charset="0"/>
                  <a:ea typeface="Malgun Gothic" pitchFamily="34" charset="-122"/>
                </a:rPr>
                <a:t>(</a:t>
              </a:r>
              <a:r>
                <a:rPr lang="ko-KR" altLang="en-US" sz="1700" b="1" dirty="0">
                  <a:solidFill>
                    <a:srgbClr val="1A1A1A"/>
                  </a:solidFill>
                  <a:latin typeface="Malgun Gothic" pitchFamily="34" charset="0"/>
                  <a:ea typeface="Malgun Gothic" pitchFamily="34" charset="-122"/>
                </a:rPr>
                <a:t>니켈</a:t>
              </a:r>
              <a:r>
                <a:rPr lang="en-US" altLang="ko-KR" sz="1700" b="1" dirty="0">
                  <a:solidFill>
                    <a:srgbClr val="1A1A1A"/>
                  </a:solidFill>
                  <a:latin typeface="Malgun Gothic" pitchFamily="34" charset="0"/>
                  <a:ea typeface="Malgun Gothic" pitchFamily="34" charset="-122"/>
                </a:rPr>
                <a:t>)</a:t>
              </a:r>
              <a:endParaRPr lang="en-US" sz="1700" dirty="0"/>
            </a:p>
          </p:txBody>
        </p:sp>
        <p:sp>
          <p:nvSpPr>
            <p:cNvPr id="16" name="Text 9"/>
            <p:cNvSpPr/>
            <p:nvPr/>
          </p:nvSpPr>
          <p:spPr>
            <a:xfrm>
              <a:off x="676655" y="5179631"/>
              <a:ext cx="5612787" cy="112126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ko-KR" altLang="en-US" sz="1400" dirty="0">
                  <a:solidFill>
                    <a:srgbClr val="565656"/>
                  </a:solidFill>
                  <a:latin typeface="Malgun Gothic" pitchFamily="34" charset="0"/>
                  <a:ea typeface="Malgun Gothic" pitchFamily="34" charset="-122"/>
                </a:rPr>
                <a:t>러</a:t>
              </a:r>
              <a:r>
                <a:rPr lang="en-US" altLang="ko-KR" sz="1400" dirty="0">
                  <a:solidFill>
                    <a:srgbClr val="565656"/>
                  </a:solidFill>
                  <a:latin typeface="Malgun Gothic" pitchFamily="34" charset="0"/>
                  <a:ea typeface="Malgun Gothic" pitchFamily="34" charset="-122"/>
                </a:rPr>
                <a:t>-</a:t>
              </a:r>
              <a:r>
                <a:rPr lang="ko-KR" altLang="en-US" sz="1400" dirty="0">
                  <a:solidFill>
                    <a:srgbClr val="565656"/>
                  </a:solidFill>
                  <a:latin typeface="Malgun Gothic" pitchFamily="34" charset="0"/>
                  <a:ea typeface="Malgun Gothic" pitchFamily="34" charset="-122"/>
                </a:rPr>
                <a:t>우 전쟁 발발 시점을 포함한 </a:t>
              </a:r>
              <a:r>
                <a:rPr lang="en-US" altLang="ko-KR" sz="1400" dirty="0">
                  <a:solidFill>
                    <a:srgbClr val="565656"/>
                  </a:solidFill>
                  <a:latin typeface="Malgun Gothic" pitchFamily="34" charset="0"/>
                  <a:ea typeface="Malgun Gothic" pitchFamily="34" charset="-122"/>
                </a:rPr>
                <a:t>6</a:t>
              </a:r>
              <a:r>
                <a:rPr lang="ko-KR" altLang="en-US" sz="1400" dirty="0">
                  <a:solidFill>
                    <a:srgbClr val="565656"/>
                  </a:solidFill>
                  <a:latin typeface="Malgun Gothic" pitchFamily="34" charset="0"/>
                  <a:ea typeface="Malgun Gothic" pitchFamily="34" charset="-122"/>
                </a:rPr>
                <a:t>개월 구간</a:t>
              </a:r>
              <a:r>
                <a:rPr lang="en-US" altLang="ko-KR" sz="1400" dirty="0">
                  <a:solidFill>
                    <a:srgbClr val="565656"/>
                  </a:solidFill>
                  <a:latin typeface="Malgun Gothic" pitchFamily="34" charset="0"/>
                  <a:ea typeface="Malgun Gothic" pitchFamily="34" charset="-122"/>
                </a:rPr>
                <a:t>(2021-12 ~ 2022-05)</a:t>
              </a:r>
              <a:r>
                <a:rPr lang="ko-KR" altLang="en-US" sz="1400" dirty="0">
                  <a:solidFill>
                    <a:srgbClr val="565656"/>
                  </a:solidFill>
                  <a:latin typeface="Malgun Gothic" pitchFamily="34" charset="0"/>
                  <a:ea typeface="Malgun Gothic" pitchFamily="34" charset="-122"/>
                </a:rPr>
                <a:t>에 대해 주간 단위로 진단하여</a:t>
              </a:r>
              <a:r>
                <a:rPr lang="en-US" altLang="ko-KR" sz="1400" dirty="0">
                  <a:solidFill>
                    <a:srgbClr val="565656"/>
                  </a:solidFill>
                  <a:latin typeface="Malgun Gothic" pitchFamily="34" charset="0"/>
                  <a:ea typeface="Malgun Gothic" pitchFamily="34" charset="-122"/>
                </a:rPr>
                <a:t>, </a:t>
              </a:r>
              <a:r>
                <a:rPr lang="ko-KR" altLang="en-US" sz="1400" dirty="0">
                  <a:solidFill>
                    <a:srgbClr val="565656"/>
                  </a:solidFill>
                  <a:latin typeface="Malgun Gothic" pitchFamily="34" charset="0"/>
                  <a:ea typeface="Malgun Gothic" pitchFamily="34" charset="-122"/>
                </a:rPr>
                <a:t>위기 상승 국면과 평시 국면을 모두 판별하는지 확인</a:t>
              </a:r>
              <a:endParaRPr lang="en-US" altLang="ko-KR" sz="1400" dirty="0"/>
            </a:p>
          </p:txBody>
        </p:sp>
        <p:sp>
          <p:nvSpPr>
            <p:cNvPr id="17" name="Text 9"/>
            <p:cNvSpPr/>
            <p:nvPr/>
          </p:nvSpPr>
          <p:spPr>
            <a:xfrm>
              <a:off x="683116" y="2303282"/>
              <a:ext cx="5612787" cy="112126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ko-KR" altLang="en-US" sz="1400" dirty="0">
                  <a:solidFill>
                    <a:srgbClr val="565656"/>
                  </a:solidFill>
                  <a:latin typeface="Malgun Gothic" pitchFamily="34" charset="0"/>
                  <a:ea typeface="Malgun Gothic" pitchFamily="34" charset="-122"/>
                </a:rPr>
                <a:t>러</a:t>
              </a:r>
              <a:r>
                <a:rPr lang="en-US" altLang="ko-KR" sz="1400" dirty="0">
                  <a:solidFill>
                    <a:srgbClr val="565656"/>
                  </a:solidFill>
                  <a:latin typeface="Malgun Gothic" pitchFamily="34" charset="0"/>
                  <a:ea typeface="Malgun Gothic" pitchFamily="34" charset="-122"/>
                </a:rPr>
                <a:t>-</a:t>
              </a:r>
              <a:r>
                <a:rPr lang="ko-KR" altLang="en-US" sz="1400" dirty="0">
                  <a:solidFill>
                    <a:srgbClr val="565656"/>
                  </a:solidFill>
                  <a:latin typeface="Malgun Gothic" pitchFamily="34" charset="0"/>
                  <a:ea typeface="Malgun Gothic" pitchFamily="34" charset="-122"/>
                </a:rPr>
                <a:t>우 전쟁 이후 위기 단계가 빈번하게 발생하고 있으나</a:t>
              </a:r>
              <a:r>
                <a:rPr lang="en-US" altLang="ko-KR" sz="1400" dirty="0">
                  <a:solidFill>
                    <a:srgbClr val="565656"/>
                  </a:solidFill>
                  <a:latin typeface="Malgun Gothic" pitchFamily="34" charset="0"/>
                  <a:ea typeface="Malgun Gothic" pitchFamily="34" charset="-122"/>
                </a:rPr>
                <a:t>, </a:t>
              </a:r>
              <a:r>
                <a:rPr lang="ko-KR" altLang="en-US" sz="1400" dirty="0">
                  <a:solidFill>
                    <a:srgbClr val="565656"/>
                  </a:solidFill>
                  <a:latin typeface="Malgun Gothic" pitchFamily="34" charset="0"/>
                  <a:ea typeface="Malgun Gothic" pitchFamily="34" charset="-122"/>
                </a:rPr>
                <a:t>현재 위기 진단 기준이 다소 포괄적으로 묶여 있어 보다 세분화된 기준 마련이 필요</a:t>
              </a:r>
              <a:endParaRPr lang="en-US" altLang="ko-KR" sz="1400" dirty="0"/>
            </a:p>
          </p:txBody>
        </p:sp>
        <p:sp>
          <p:nvSpPr>
            <p:cNvPr id="18" name="Text 9"/>
            <p:cNvSpPr/>
            <p:nvPr/>
          </p:nvSpPr>
          <p:spPr>
            <a:xfrm>
              <a:off x="676656" y="3707650"/>
              <a:ext cx="5612787" cy="112126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ko-KR" altLang="en-US" sz="1400" dirty="0">
                  <a:solidFill>
                    <a:srgbClr val="565656"/>
                  </a:solidFill>
                  <a:latin typeface="Malgun Gothic" pitchFamily="34" charset="0"/>
                  <a:ea typeface="Malgun Gothic" pitchFamily="34" charset="-122"/>
                </a:rPr>
                <a:t>현재 과업 </a:t>
              </a:r>
              <a:r>
                <a:rPr lang="en-US" altLang="ko-KR" sz="1400" dirty="0">
                  <a:solidFill>
                    <a:srgbClr val="565656"/>
                  </a:solidFill>
                  <a:latin typeface="Malgun Gothic" pitchFamily="34" charset="0"/>
                  <a:ea typeface="Malgun Gothic" pitchFamily="34" charset="-122"/>
                </a:rPr>
                <a:t>1</a:t>
              </a:r>
              <a:r>
                <a:rPr lang="ko-KR" altLang="en-US" sz="1400" dirty="0">
                  <a:solidFill>
                    <a:srgbClr val="565656"/>
                  </a:solidFill>
                  <a:latin typeface="Malgun Gothic" pitchFamily="34" charset="0"/>
                  <a:ea typeface="Malgun Gothic" pitchFamily="34" charset="-122"/>
                </a:rPr>
                <a:t>은 주간 단위의 현시점 위기 진단을 목표로 하므로</a:t>
              </a:r>
              <a:r>
                <a:rPr lang="en-US" altLang="ko-KR" sz="1400" dirty="0">
                  <a:solidFill>
                    <a:srgbClr val="565656"/>
                  </a:solidFill>
                  <a:latin typeface="Malgun Gothic" pitchFamily="34" charset="0"/>
                  <a:ea typeface="Malgun Gothic" pitchFamily="34" charset="-122"/>
                </a:rPr>
                <a:t>, </a:t>
              </a:r>
              <a:r>
                <a:rPr lang="ko-KR" altLang="en-US" sz="1400" dirty="0">
                  <a:solidFill>
                    <a:srgbClr val="565656"/>
                  </a:solidFill>
                  <a:latin typeface="Malgun Gothic" pitchFamily="34" charset="0"/>
                  <a:ea typeface="Malgun Gothic" pitchFamily="34" charset="-122"/>
                </a:rPr>
                <a:t>해당 시점의 비정형 데이터를 활용했을 때 위기 단계를 정확하게 진단할 수 있는지 검증할 필요가 있음</a:t>
              </a:r>
              <a:endParaRPr lang="en-US" altLang="ko-KR" sz="1400" dirty="0"/>
            </a:p>
          </p:txBody>
        </p:sp>
      </p:grpSp>
      <p:grpSp>
        <p:nvGrpSpPr>
          <p:cNvPr id="25" name="그룹 24"/>
          <p:cNvGrpSpPr/>
          <p:nvPr/>
        </p:nvGrpSpPr>
        <p:grpSpPr>
          <a:xfrm>
            <a:off x="7125817" y="1264419"/>
            <a:ext cx="3779840" cy="4931880"/>
            <a:chOff x="7686256" y="1058039"/>
            <a:chExt cx="3779840" cy="4931880"/>
          </a:xfrm>
        </p:grpSpPr>
        <p:pic>
          <p:nvPicPr>
            <p:cNvPr id="33" name="그림 3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920922" y="4214305"/>
              <a:ext cx="1828958" cy="1775614"/>
            </a:xfrm>
            <a:prstGeom prst="rect">
              <a:avLst/>
            </a:prstGeom>
          </p:spPr>
        </p:pic>
        <p:pic>
          <p:nvPicPr>
            <p:cNvPr id="27" name="그림 2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686256" y="1503055"/>
              <a:ext cx="3779840" cy="787910"/>
            </a:xfrm>
            <a:prstGeom prst="rect">
              <a:avLst/>
            </a:prstGeom>
          </p:spPr>
        </p:pic>
        <p:pic>
          <p:nvPicPr>
            <p:cNvPr id="28" name="그림 2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734469" y="2691659"/>
              <a:ext cx="3683414" cy="893267"/>
            </a:xfrm>
            <a:prstGeom prst="rect">
              <a:avLst/>
            </a:prstGeom>
          </p:spPr>
        </p:pic>
        <p:sp>
          <p:nvSpPr>
            <p:cNvPr id="29" name="TextBox 28"/>
            <p:cNvSpPr txBox="1"/>
            <p:nvPr/>
          </p:nvSpPr>
          <p:spPr>
            <a:xfrm>
              <a:off x="9173577" y="1058039"/>
              <a:ext cx="8487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/>
                <a:t>2</a:t>
              </a:r>
              <a:r>
                <a:rPr lang="ko-KR" altLang="en-US" sz="1200" b="1" dirty="0"/>
                <a:t>월 </a:t>
              </a:r>
              <a:r>
                <a:rPr lang="en-US" altLang="ko-KR" sz="1200" b="1" dirty="0"/>
                <a:t>28</a:t>
              </a:r>
              <a:r>
                <a:rPr lang="ko-KR" altLang="en-US" sz="1200" b="1" dirty="0"/>
                <a:t>일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9173577" y="2371622"/>
              <a:ext cx="8487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/>
                <a:t>3</a:t>
              </a:r>
              <a:r>
                <a:rPr lang="ko-KR" altLang="en-US" sz="1200" b="1" dirty="0"/>
                <a:t>월 </a:t>
              </a:r>
              <a:r>
                <a:rPr lang="en-US" altLang="ko-KR" sz="1200" b="1" dirty="0"/>
                <a:t>21</a:t>
              </a:r>
              <a:r>
                <a:rPr lang="ko-KR" altLang="en-US" sz="1200" b="1" dirty="0"/>
                <a:t>일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666467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06005-13DD-F4F0-C12B-178805B4C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86964A6A-9C8B-4703-C8FA-FFA6799E58C0}"/>
              </a:ext>
            </a:extLst>
          </p:cNvPr>
          <p:cNvSpPr txBox="1"/>
          <p:nvPr/>
        </p:nvSpPr>
        <p:spPr>
          <a:xfrm>
            <a:off x="0" y="453187"/>
            <a:ext cx="30003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eesentation 5 Medium" pitchFamily="2" charset="-127"/>
                <a:ea typeface="Freesentation 5 Medium" pitchFamily="2" charset="-127"/>
                <a:cs typeface="Pretendard Light" panose="02000403000000020004" pitchFamily="50" charset="-127"/>
              </a:rPr>
              <a:t>과업별 세부 진행사항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eesentation 5 Medium" pitchFamily="2" charset="-127"/>
              <a:ea typeface="Freesentation 5 Medium" pitchFamily="2" charset="-127"/>
              <a:cs typeface="Pretendard Light" panose="02000403000000020004" pitchFamily="50" charset="-127"/>
            </a:endParaRPr>
          </a:p>
        </p:txBody>
      </p:sp>
      <p:sp>
        <p:nvSpPr>
          <p:cNvPr id="7" name="슬라이드 번호 개체 틀 1">
            <a:extLst>
              <a:ext uri="{FF2B5EF4-FFF2-40B4-BE49-F238E27FC236}">
                <a16:creationId xmlns:a16="http://schemas.microsoft.com/office/drawing/2014/main" id="{CBFF1D73-D4F1-7E9E-6FFD-996E4113B9F3}"/>
              </a:ext>
            </a:extLst>
          </p:cNvPr>
          <p:cNvSpPr txBox="1">
            <a:spLocks/>
          </p:cNvSpPr>
          <p:nvPr/>
        </p:nvSpPr>
        <p:spPr>
          <a:xfrm>
            <a:off x="9442493" y="6488255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10DBAC-22C5-4AD0-A416-546E7904AF50}" type="slidenum"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89D157-DB3E-86D6-1EF1-D7ACE5D3F568}"/>
              </a:ext>
            </a:extLst>
          </p:cNvPr>
          <p:cNvSpPr txBox="1"/>
          <p:nvPr/>
        </p:nvSpPr>
        <p:spPr>
          <a:xfrm>
            <a:off x="123891" y="991182"/>
            <a:ext cx="67110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2000" b="0" spc="0">
                <a:solidFill>
                  <a:srgbClr val="000000"/>
                </a:solidFill>
                <a:latin typeface="+mj-ea"/>
                <a:ea typeface="+mj-ea"/>
                <a:cs typeface="Pretendard SemiBold" panose="02000503000000020004" pitchFamily="2" charset="-127"/>
              </a:defRPr>
            </a:lvl1pPr>
          </a:lstStyle>
          <a:p>
            <a:pPr lvl="0">
              <a:defRPr/>
            </a:pPr>
            <a:r>
              <a:rPr lang="en-US" altLang="ko-KR" dirty="0">
                <a:latin typeface="프리젠테이션 7 Bold"/>
                <a:ea typeface="프리젠테이션 7 Bold"/>
              </a:rPr>
              <a:t>4. </a:t>
            </a:r>
            <a:r>
              <a:rPr lang="ko-KR" altLang="en-US" dirty="0">
                <a:latin typeface="프리젠테이션 7 Bold"/>
                <a:ea typeface="프리젠테이션 7 Bold"/>
              </a:rPr>
              <a:t>현재 적용 모델 검증 실험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75C638-9116-F0D1-73DF-7F7C5F4DEE56}"/>
              </a:ext>
            </a:extLst>
          </p:cNvPr>
          <p:cNvSpPr txBox="1"/>
          <p:nvPr/>
        </p:nvSpPr>
        <p:spPr>
          <a:xfrm>
            <a:off x="312123" y="1550850"/>
            <a:ext cx="966290" cy="2954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144000" indent="-144000" latinLnBrk="0">
              <a:lnSpc>
                <a:spcPct val="120000"/>
              </a:lnSpc>
              <a:spcBef>
                <a:spcPct val="0"/>
              </a:spcBef>
              <a:spcAft>
                <a:spcPts val="100"/>
              </a:spcAft>
              <a:buClr>
                <a:prstClr val="white">
                  <a:lumMod val="50000"/>
                </a:prstClr>
              </a:buClr>
              <a:buFont typeface="Wingdings" panose="05000000000000000000" pitchFamily="2" charset="2"/>
              <a:buChar char="§"/>
              <a:defRPr sz="1200" spc="0">
                <a:ln>
                  <a:solidFill>
                    <a:srgbClr val="3F4057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Freesentation 4 Regular" pitchFamily="2" charset="-127"/>
                <a:ea typeface="Freesentation 4 Regular" pitchFamily="2" charset="-127"/>
              </a:defRPr>
            </a:lvl1pPr>
          </a:lstStyle>
          <a:p>
            <a:pPr marL="144000" marR="0" lvl="0" indent="-1440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100"/>
              </a:spcAft>
              <a:buClr>
                <a:prstClr val="white">
                  <a:lumMod val="50000"/>
                </a:prst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ko-KR" altLang="en-US" sz="1600" dirty="0">
                <a:solidFill>
                  <a:srgbClr val="000000">
                    <a:lumMod val="65000"/>
                    <a:lumOff val="35000"/>
                  </a:srgbClr>
                </a:solidFill>
              </a:rPr>
              <a:t>검증결과</a:t>
            </a:r>
            <a:endParaRPr kumimoji="0" lang="ko-KR" altLang="en-US" sz="1600" b="0" i="0" u="none" strike="noStrike" kern="1200" cap="none" spc="0" normalizeH="0" baseline="0" noProof="0" dirty="0">
              <a:ln>
                <a:solidFill>
                  <a:srgbClr val="3F4057">
                    <a:alpha val="0"/>
                  </a:srgbClr>
                </a:solidFill>
              </a:ln>
              <a:solidFill>
                <a:schemeClr val="tx1"/>
              </a:solidFill>
              <a:effectLst/>
              <a:uLnTx/>
              <a:uFillTx/>
              <a:latin typeface="Freesentation 4 Regular" pitchFamily="2" charset="-127"/>
              <a:ea typeface="Freesentation 4 Regular" pitchFamily="2" charset="-127"/>
              <a:cs typeface="+mn-cs"/>
            </a:endParaRPr>
          </a:p>
        </p:txBody>
      </p:sp>
      <p:sp>
        <p:nvSpPr>
          <p:cNvPr id="10" name="Text 3"/>
          <p:cNvSpPr/>
          <p:nvPr/>
        </p:nvSpPr>
        <p:spPr>
          <a:xfrm>
            <a:off x="330185" y="1852179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8000"/>
              </a:lnSpc>
            </a:pPr>
            <a:r>
              <a:rPr lang="ko-KR" altLang="en-US" sz="1450" dirty="0"/>
              <a:t>비정형 내용을 반영해 단계를 판정 </a:t>
            </a:r>
            <a:r>
              <a:rPr lang="en-US" altLang="ko-KR" sz="1200" dirty="0">
                <a:solidFill>
                  <a:srgbClr val="FF0000"/>
                </a:solidFill>
              </a:rPr>
              <a:t>※ </a:t>
            </a:r>
            <a:r>
              <a:rPr lang="ko-KR" altLang="en-US" sz="1200" dirty="0">
                <a:solidFill>
                  <a:srgbClr val="FF0000"/>
                </a:solidFill>
              </a:rPr>
              <a:t>현재 정답으로 활용할 수 있는 위기 진단 단계가 부재하여</a:t>
            </a:r>
            <a:r>
              <a:rPr lang="en-US" altLang="ko-KR" sz="1200" dirty="0">
                <a:solidFill>
                  <a:srgbClr val="FF0000"/>
                </a:solidFill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</a:rPr>
              <a:t>공단 측의 별도 검증이 필요함</a:t>
            </a:r>
            <a:endParaRPr lang="en-US" sz="1200" dirty="0">
              <a:solidFill>
                <a:srgbClr val="FF0000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057" y="2477345"/>
            <a:ext cx="2621237" cy="3696115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3116" y="2877517"/>
            <a:ext cx="5943601" cy="2628271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431038" y="5835924"/>
            <a:ext cx="11253019" cy="652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/>
              <a:t>정형적 정보만으로 판단했을 때와 다르게 위험 점수와 정형적 정보</a:t>
            </a:r>
            <a:r>
              <a:rPr lang="en-US" altLang="ko-KR" sz="1400" dirty="0"/>
              <a:t>(</a:t>
            </a:r>
            <a:r>
              <a:rPr lang="ko-KR" altLang="en-US" sz="1400" dirty="0"/>
              <a:t>가격 변동성</a:t>
            </a:r>
            <a:r>
              <a:rPr lang="en-US" altLang="ko-KR" sz="1400" dirty="0"/>
              <a:t>)</a:t>
            </a:r>
            <a:r>
              <a:rPr lang="ko-KR" altLang="en-US" sz="1400" dirty="0"/>
              <a:t>을 종합 판단해 해당 주 위기 판단을 하는 것을 보임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2724860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06005-13DD-F4F0-C12B-178805B4C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86964A6A-9C8B-4703-C8FA-FFA6799E58C0}"/>
              </a:ext>
            </a:extLst>
          </p:cNvPr>
          <p:cNvSpPr txBox="1"/>
          <p:nvPr/>
        </p:nvSpPr>
        <p:spPr>
          <a:xfrm>
            <a:off x="0" y="453187"/>
            <a:ext cx="30003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eesentation 5 Medium" pitchFamily="2" charset="-127"/>
                <a:ea typeface="Freesentation 5 Medium" pitchFamily="2" charset="-127"/>
                <a:cs typeface="Pretendard Light" panose="02000403000000020004" pitchFamily="50" charset="-127"/>
              </a:rPr>
              <a:t>과업별 세부 진행사항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eesentation 5 Medium" pitchFamily="2" charset="-127"/>
              <a:ea typeface="Freesentation 5 Medium" pitchFamily="2" charset="-127"/>
              <a:cs typeface="Pretendard Light" panose="02000403000000020004" pitchFamily="50" charset="-127"/>
            </a:endParaRPr>
          </a:p>
        </p:txBody>
      </p:sp>
      <p:sp>
        <p:nvSpPr>
          <p:cNvPr id="7" name="슬라이드 번호 개체 틀 1">
            <a:extLst>
              <a:ext uri="{FF2B5EF4-FFF2-40B4-BE49-F238E27FC236}">
                <a16:creationId xmlns:a16="http://schemas.microsoft.com/office/drawing/2014/main" id="{CBFF1D73-D4F1-7E9E-6FFD-996E4113B9F3}"/>
              </a:ext>
            </a:extLst>
          </p:cNvPr>
          <p:cNvSpPr txBox="1">
            <a:spLocks/>
          </p:cNvSpPr>
          <p:nvPr/>
        </p:nvSpPr>
        <p:spPr>
          <a:xfrm>
            <a:off x="9442493" y="6488255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10DBAC-22C5-4AD0-A416-546E7904AF50}" type="slidenum"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89D157-DB3E-86D6-1EF1-D7ACE5D3F568}"/>
              </a:ext>
            </a:extLst>
          </p:cNvPr>
          <p:cNvSpPr txBox="1"/>
          <p:nvPr/>
        </p:nvSpPr>
        <p:spPr>
          <a:xfrm>
            <a:off x="123891" y="991182"/>
            <a:ext cx="67110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2000" b="0" spc="0">
                <a:solidFill>
                  <a:srgbClr val="000000"/>
                </a:solidFill>
                <a:latin typeface="+mj-ea"/>
                <a:ea typeface="+mj-ea"/>
                <a:cs typeface="Pretendard SemiBold" panose="02000503000000020004" pitchFamily="2" charset="-127"/>
              </a:defRPr>
            </a:lvl1pPr>
          </a:lstStyle>
          <a:p>
            <a:pPr lvl="0">
              <a:defRPr/>
            </a:pPr>
            <a:r>
              <a:rPr lang="en-US" altLang="ko-KR" dirty="0">
                <a:latin typeface="프리젠테이션 7 Bold"/>
                <a:ea typeface="프리젠테이션 7 Bold"/>
              </a:rPr>
              <a:t>4. </a:t>
            </a:r>
            <a:r>
              <a:rPr lang="ko-KR" altLang="en-US" dirty="0">
                <a:latin typeface="프리젠테이션 7 Bold"/>
                <a:ea typeface="프리젠테이션 7 Bold"/>
              </a:rPr>
              <a:t>현재 적용 모델 검증 실험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75C638-9116-F0D1-73DF-7F7C5F4DEE56}"/>
              </a:ext>
            </a:extLst>
          </p:cNvPr>
          <p:cNvSpPr txBox="1"/>
          <p:nvPr/>
        </p:nvSpPr>
        <p:spPr>
          <a:xfrm>
            <a:off x="312123" y="1550850"/>
            <a:ext cx="966290" cy="2954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144000" indent="-144000" latinLnBrk="0">
              <a:lnSpc>
                <a:spcPct val="120000"/>
              </a:lnSpc>
              <a:spcBef>
                <a:spcPct val="0"/>
              </a:spcBef>
              <a:spcAft>
                <a:spcPts val="100"/>
              </a:spcAft>
              <a:buClr>
                <a:prstClr val="white">
                  <a:lumMod val="50000"/>
                </a:prstClr>
              </a:buClr>
              <a:buFont typeface="Wingdings" panose="05000000000000000000" pitchFamily="2" charset="2"/>
              <a:buChar char="§"/>
              <a:defRPr sz="1200" spc="0">
                <a:ln>
                  <a:solidFill>
                    <a:srgbClr val="3F4057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Freesentation 4 Regular" pitchFamily="2" charset="-127"/>
                <a:ea typeface="Freesentation 4 Regular" pitchFamily="2" charset="-127"/>
              </a:defRPr>
            </a:lvl1pPr>
          </a:lstStyle>
          <a:p>
            <a:pPr marL="144000" marR="0" lvl="0" indent="-1440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100"/>
              </a:spcAft>
              <a:buClr>
                <a:prstClr val="white">
                  <a:lumMod val="50000"/>
                </a:prst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ko-KR" altLang="en-US" sz="1600" dirty="0">
                <a:solidFill>
                  <a:srgbClr val="000000">
                    <a:lumMod val="65000"/>
                    <a:lumOff val="35000"/>
                  </a:srgbClr>
                </a:solidFill>
              </a:rPr>
              <a:t>검증결과</a:t>
            </a:r>
            <a:endParaRPr kumimoji="0" lang="ko-KR" altLang="en-US" sz="1600" b="0" i="0" u="none" strike="noStrike" kern="1200" cap="none" spc="0" normalizeH="0" baseline="0" noProof="0" dirty="0">
              <a:ln>
                <a:solidFill>
                  <a:srgbClr val="3F4057">
                    <a:alpha val="0"/>
                  </a:srgbClr>
                </a:solidFill>
              </a:ln>
              <a:solidFill>
                <a:schemeClr val="tx1"/>
              </a:solidFill>
              <a:effectLst/>
              <a:uLnTx/>
              <a:uFillTx/>
              <a:latin typeface="Freesentation 4 Regular" pitchFamily="2" charset="-127"/>
              <a:ea typeface="Freesentation 4 Regular" pitchFamily="2" charset="-127"/>
              <a:cs typeface="+mn-cs"/>
            </a:endParaRPr>
          </a:p>
        </p:txBody>
      </p:sp>
      <p:sp>
        <p:nvSpPr>
          <p:cNvPr id="10" name="Text 3"/>
          <p:cNvSpPr/>
          <p:nvPr/>
        </p:nvSpPr>
        <p:spPr>
          <a:xfrm>
            <a:off x="330185" y="1852179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8000"/>
              </a:lnSpc>
            </a:pPr>
            <a:r>
              <a:rPr lang="ko-KR" altLang="en-US" sz="1450" dirty="0"/>
              <a:t>해당 위기에 대한 판단 근거에 대한 정성적 결과</a:t>
            </a:r>
            <a:endParaRPr lang="en-US" sz="1200" dirty="0">
              <a:solidFill>
                <a:srgbClr val="FF0000"/>
              </a:solidFill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485" y="2495040"/>
            <a:ext cx="4811649" cy="2881427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8251" y="2669242"/>
            <a:ext cx="5463515" cy="2424399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30185" y="5699026"/>
            <a:ext cx="11253019" cy="652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/>
              <a:t>2</a:t>
            </a:r>
            <a:r>
              <a:rPr lang="ko-KR" altLang="en-US" sz="1400" dirty="0"/>
              <a:t>월 </a:t>
            </a:r>
            <a:r>
              <a:rPr lang="en-US" altLang="ko-KR" sz="1400" dirty="0"/>
              <a:t>28</a:t>
            </a:r>
            <a:r>
              <a:rPr lang="ko-KR" altLang="en-US" sz="1400" dirty="0"/>
              <a:t>일은 </a:t>
            </a:r>
            <a:r>
              <a:rPr lang="ko-KR" altLang="en-US" sz="1400" dirty="0" err="1"/>
              <a:t>발령기준</a:t>
            </a:r>
            <a:r>
              <a:rPr lang="ko-KR" altLang="en-US" sz="1400" dirty="0"/>
              <a:t> </a:t>
            </a:r>
            <a:r>
              <a:rPr lang="en-US" altLang="ko-KR" sz="1400" dirty="0"/>
              <a:t>3</a:t>
            </a:r>
            <a:r>
              <a:rPr lang="ko-KR" altLang="en-US" sz="1400" dirty="0"/>
              <a:t>조건에 따라 정형</a:t>
            </a:r>
            <a:r>
              <a:rPr lang="en-US" altLang="ko-KR" sz="1400" dirty="0"/>
              <a:t>·</a:t>
            </a:r>
            <a:r>
              <a:rPr lang="ko-KR" altLang="en-US" sz="1400" dirty="0"/>
              <a:t>비정형을 종합해 최종 단계와 근거를 산출함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/>
              <a:t>7</a:t>
            </a:r>
            <a:r>
              <a:rPr lang="ko-KR" altLang="en-US" sz="1400" dirty="0"/>
              <a:t>월 </a:t>
            </a:r>
            <a:r>
              <a:rPr lang="en-US" altLang="ko-KR" sz="1400" dirty="0"/>
              <a:t>25</a:t>
            </a:r>
            <a:r>
              <a:rPr lang="ko-KR" altLang="en-US" sz="1400" dirty="0"/>
              <a:t>일은 가격 변동성이 </a:t>
            </a:r>
            <a:r>
              <a:rPr lang="ko-KR" altLang="en-US" sz="1400" dirty="0" err="1"/>
              <a:t>정상임에도</a:t>
            </a:r>
            <a:r>
              <a:rPr lang="ko-KR" altLang="en-US" sz="1400" dirty="0"/>
              <a:t> 공급차질 확인에 따라 관심으로 상향 판정함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444484" y="4259368"/>
            <a:ext cx="4811649" cy="111709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5714512" y="4162998"/>
            <a:ext cx="5110370" cy="93064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76138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06005-13DD-F4F0-C12B-178805B4C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86964A6A-9C8B-4703-C8FA-FFA6799E58C0}"/>
              </a:ext>
            </a:extLst>
          </p:cNvPr>
          <p:cNvSpPr txBox="1"/>
          <p:nvPr/>
        </p:nvSpPr>
        <p:spPr>
          <a:xfrm>
            <a:off x="0" y="453187"/>
            <a:ext cx="30003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eesentation 5 Medium" pitchFamily="2" charset="-127"/>
                <a:ea typeface="Freesentation 5 Medium" pitchFamily="2" charset="-127"/>
                <a:cs typeface="Pretendard Light" panose="02000403000000020004" pitchFamily="50" charset="-127"/>
              </a:rPr>
              <a:t>과업별 세부 진행사항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eesentation 5 Medium" pitchFamily="2" charset="-127"/>
              <a:ea typeface="Freesentation 5 Medium" pitchFamily="2" charset="-127"/>
              <a:cs typeface="Pretendard Light" panose="02000403000000020004" pitchFamily="50" charset="-127"/>
            </a:endParaRPr>
          </a:p>
        </p:txBody>
      </p:sp>
      <p:sp>
        <p:nvSpPr>
          <p:cNvPr id="7" name="슬라이드 번호 개체 틀 1">
            <a:extLst>
              <a:ext uri="{FF2B5EF4-FFF2-40B4-BE49-F238E27FC236}">
                <a16:creationId xmlns:a16="http://schemas.microsoft.com/office/drawing/2014/main" id="{CBFF1D73-D4F1-7E9E-6FFD-996E4113B9F3}"/>
              </a:ext>
            </a:extLst>
          </p:cNvPr>
          <p:cNvSpPr txBox="1">
            <a:spLocks/>
          </p:cNvSpPr>
          <p:nvPr/>
        </p:nvSpPr>
        <p:spPr>
          <a:xfrm>
            <a:off x="9442493" y="6488255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10DBAC-22C5-4AD0-A416-546E7904AF50}" type="slidenum"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89D157-DB3E-86D6-1EF1-D7ACE5D3F568}"/>
              </a:ext>
            </a:extLst>
          </p:cNvPr>
          <p:cNvSpPr txBox="1"/>
          <p:nvPr/>
        </p:nvSpPr>
        <p:spPr>
          <a:xfrm>
            <a:off x="123891" y="991182"/>
            <a:ext cx="67110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2000" b="0" spc="0">
                <a:solidFill>
                  <a:srgbClr val="000000"/>
                </a:solidFill>
                <a:latin typeface="+mj-ea"/>
                <a:ea typeface="+mj-ea"/>
                <a:cs typeface="Pretendard SemiBold" panose="02000503000000020004" pitchFamily="2" charset="-127"/>
              </a:defRPr>
            </a:lvl1pPr>
          </a:lstStyle>
          <a:p>
            <a:pPr lvl="0">
              <a:defRPr/>
            </a:pPr>
            <a:r>
              <a:rPr lang="en-US" altLang="ko-KR" dirty="0">
                <a:latin typeface="프리젠테이션 7 Bold"/>
                <a:ea typeface="프리젠테이션 7 Bold"/>
              </a:rPr>
              <a:t>5. </a:t>
            </a:r>
            <a:r>
              <a:rPr lang="ko-KR" altLang="en-US" dirty="0">
                <a:latin typeface="프리젠테이션 7 Bold"/>
                <a:ea typeface="프리젠테이션 7 Bold"/>
              </a:rPr>
              <a:t>현재 적용 모델 한계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75C638-9116-F0D1-73DF-7F7C5F4DEE56}"/>
              </a:ext>
            </a:extLst>
          </p:cNvPr>
          <p:cNvSpPr txBox="1"/>
          <p:nvPr/>
        </p:nvSpPr>
        <p:spPr>
          <a:xfrm>
            <a:off x="312123" y="1550850"/>
            <a:ext cx="1787028" cy="2954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144000" indent="-144000" latinLnBrk="0">
              <a:lnSpc>
                <a:spcPct val="120000"/>
              </a:lnSpc>
              <a:spcBef>
                <a:spcPct val="0"/>
              </a:spcBef>
              <a:spcAft>
                <a:spcPts val="100"/>
              </a:spcAft>
              <a:buClr>
                <a:prstClr val="white">
                  <a:lumMod val="50000"/>
                </a:prstClr>
              </a:buClr>
              <a:buFont typeface="Wingdings" panose="05000000000000000000" pitchFamily="2" charset="2"/>
              <a:buChar char="§"/>
              <a:defRPr sz="1200" spc="0">
                <a:ln>
                  <a:solidFill>
                    <a:srgbClr val="3F4057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Freesentation 4 Regular" pitchFamily="2" charset="-127"/>
                <a:ea typeface="Freesentation 4 Regular" pitchFamily="2" charset="-127"/>
              </a:defRPr>
            </a:lvl1pPr>
          </a:lstStyle>
          <a:p>
            <a:pPr marL="144000" marR="0" lvl="0" indent="-1440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100"/>
              </a:spcAft>
              <a:buClr>
                <a:prstClr val="white">
                  <a:lumMod val="50000"/>
                </a:prst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ko-KR" altLang="en-US" sz="1600" dirty="0">
                <a:solidFill>
                  <a:srgbClr val="000000">
                    <a:lumMod val="65000"/>
                    <a:lumOff val="35000"/>
                  </a:srgbClr>
                </a:solidFill>
              </a:rPr>
              <a:t>현재 모델 한계점</a:t>
            </a:r>
            <a:endParaRPr kumimoji="0" lang="ko-KR" altLang="en-US" sz="1600" b="0" i="0" u="none" strike="noStrike" kern="1200" cap="none" spc="0" normalizeH="0" baseline="0" noProof="0" dirty="0">
              <a:ln>
                <a:solidFill>
                  <a:srgbClr val="3F4057">
                    <a:alpha val="0"/>
                  </a:srgbClr>
                </a:solidFill>
              </a:ln>
              <a:solidFill>
                <a:schemeClr val="tx1"/>
              </a:solidFill>
              <a:effectLst/>
              <a:uLnTx/>
              <a:uFillTx/>
              <a:latin typeface="Freesentation 4 Regular" pitchFamily="2" charset="-127"/>
              <a:ea typeface="Freesentation 4 Regular" pitchFamily="2" charset="-127"/>
              <a:cs typeface="+mn-cs"/>
            </a:endParaRPr>
          </a:p>
        </p:txBody>
      </p:sp>
      <p:sp>
        <p:nvSpPr>
          <p:cNvPr id="10" name="Text 3"/>
          <p:cNvSpPr/>
          <p:nvPr/>
        </p:nvSpPr>
        <p:spPr>
          <a:xfrm>
            <a:off x="330185" y="1852179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8000"/>
              </a:lnSpc>
            </a:pPr>
            <a:r>
              <a:rPr lang="en-US" sz="1450" dirty="0"/>
              <a:t>5</a:t>
            </a:r>
            <a:r>
              <a:rPr lang="ko-KR" altLang="en-US" sz="1450" dirty="0"/>
              <a:t>대 광종 중 니켈에 대해서 이벤트 기준 약 </a:t>
            </a:r>
            <a:r>
              <a:rPr lang="en-US" altLang="ko-KR" sz="1450" dirty="0"/>
              <a:t>6</a:t>
            </a:r>
            <a:r>
              <a:rPr lang="ko-KR" altLang="en-US" sz="1450" dirty="0"/>
              <a:t>개월 가량의 위기 판단을 진행</a:t>
            </a:r>
            <a:endParaRPr lang="en-US" altLang="ko-KR" sz="1450" dirty="0"/>
          </a:p>
          <a:p>
            <a:pPr>
              <a:lnSpc>
                <a:spcPct val="108000"/>
              </a:lnSpc>
            </a:pPr>
            <a:r>
              <a:rPr lang="ko-KR" altLang="en-US" sz="1450" dirty="0"/>
              <a:t>미래 가격 예측에 대한 정확성을 확보하지 못함 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2" name="Text 9"/>
          <p:cNvSpPr/>
          <p:nvPr/>
        </p:nvSpPr>
        <p:spPr>
          <a:xfrm>
            <a:off x="212935" y="3090296"/>
            <a:ext cx="11253019" cy="652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/>
              <a:t>정답 라벨 부재로 판정 정확도를 정량 평가할 수 없으므로</a:t>
            </a:r>
            <a:r>
              <a:rPr lang="en-US" altLang="ko-KR" sz="1400" dirty="0"/>
              <a:t>, </a:t>
            </a:r>
            <a:r>
              <a:rPr lang="ko-KR" altLang="en-US" sz="1400" dirty="0"/>
              <a:t>공단 검토 의견을 받아 기준을 보완할 예정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/>
              <a:t>현 단계에서는 정답 라벨이 없어 판정의 타당성을 공단 검토로 확인하고</a:t>
            </a:r>
            <a:r>
              <a:rPr lang="en-US" altLang="ko-KR" sz="1400" dirty="0"/>
              <a:t>, </a:t>
            </a:r>
            <a:r>
              <a:rPr lang="ko-KR" altLang="en-US" sz="1400" dirty="0"/>
              <a:t>그 결과를 반영해 조정할 예정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13224376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06005-13DD-F4F0-C12B-178805B4C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86964A6A-9C8B-4703-C8FA-FFA6799E58C0}"/>
              </a:ext>
            </a:extLst>
          </p:cNvPr>
          <p:cNvSpPr txBox="1"/>
          <p:nvPr/>
        </p:nvSpPr>
        <p:spPr>
          <a:xfrm>
            <a:off x="0" y="453187"/>
            <a:ext cx="30003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eesentation 5 Medium" pitchFamily="2" charset="-127"/>
                <a:ea typeface="Freesentation 5 Medium" pitchFamily="2" charset="-127"/>
                <a:cs typeface="Pretendard Light" panose="02000403000000020004" pitchFamily="50" charset="-127"/>
              </a:rPr>
              <a:t>과업별 세부 진행사항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eesentation 5 Medium" pitchFamily="2" charset="-127"/>
              <a:ea typeface="Freesentation 5 Medium" pitchFamily="2" charset="-127"/>
              <a:cs typeface="Pretendard Light" panose="02000403000000020004" pitchFamily="50" charset="-127"/>
            </a:endParaRPr>
          </a:p>
        </p:txBody>
      </p:sp>
      <p:sp>
        <p:nvSpPr>
          <p:cNvPr id="7" name="슬라이드 번호 개체 틀 1">
            <a:extLst>
              <a:ext uri="{FF2B5EF4-FFF2-40B4-BE49-F238E27FC236}">
                <a16:creationId xmlns:a16="http://schemas.microsoft.com/office/drawing/2014/main" id="{CBFF1D73-D4F1-7E9E-6FFD-996E4113B9F3}"/>
              </a:ext>
            </a:extLst>
          </p:cNvPr>
          <p:cNvSpPr txBox="1">
            <a:spLocks/>
          </p:cNvSpPr>
          <p:nvPr/>
        </p:nvSpPr>
        <p:spPr>
          <a:xfrm>
            <a:off x="9442493" y="6488255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10DBAC-22C5-4AD0-A416-546E7904AF50}" type="slidenum"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89D157-DB3E-86D6-1EF1-D7ACE5D3F568}"/>
              </a:ext>
            </a:extLst>
          </p:cNvPr>
          <p:cNvSpPr txBox="1"/>
          <p:nvPr/>
        </p:nvSpPr>
        <p:spPr>
          <a:xfrm>
            <a:off x="123891" y="991182"/>
            <a:ext cx="67110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2000" b="0" spc="0">
                <a:solidFill>
                  <a:srgbClr val="000000"/>
                </a:solidFill>
                <a:latin typeface="+mj-ea"/>
                <a:ea typeface="+mj-ea"/>
                <a:cs typeface="Pretendard SemiBold" panose="02000503000000020004" pitchFamily="2" charset="-127"/>
              </a:defRPr>
            </a:lvl1pPr>
          </a:lstStyle>
          <a:p>
            <a:pPr lvl="0">
              <a:defRPr/>
            </a:pPr>
            <a:r>
              <a:rPr lang="en-US" altLang="ko-KR" dirty="0">
                <a:latin typeface="프리젠테이션 7 Bold"/>
                <a:ea typeface="프리젠테이션 7 Bold"/>
              </a:rPr>
              <a:t>6. </a:t>
            </a:r>
            <a:r>
              <a:rPr lang="ko-KR" altLang="en-US" dirty="0">
                <a:latin typeface="프리젠테이션 7 Bold"/>
                <a:ea typeface="프리젠테이션 7 Bold"/>
              </a:rPr>
              <a:t>차주 계획</a:t>
            </a:r>
          </a:p>
        </p:txBody>
      </p:sp>
      <p:sp>
        <p:nvSpPr>
          <p:cNvPr id="10" name="Text 3"/>
          <p:cNvSpPr/>
          <p:nvPr/>
        </p:nvSpPr>
        <p:spPr>
          <a:xfrm>
            <a:off x="330185" y="1852179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8000"/>
              </a:lnSpc>
            </a:pPr>
            <a:r>
              <a:rPr lang="ko-KR" altLang="en-US" sz="1450" dirty="0"/>
              <a:t>차주 실험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2" name="Text 9"/>
          <p:cNvSpPr/>
          <p:nvPr/>
        </p:nvSpPr>
        <p:spPr>
          <a:xfrm>
            <a:off x="212935" y="2384326"/>
            <a:ext cx="11253019" cy="652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/>
              <a:t>여러 정형 데이터를 추가해 미래 가격 예측에 대한 정확성을 보완할 예정</a:t>
            </a:r>
            <a:endParaRPr lang="en-US" altLang="ko-KR" sz="1400" dirty="0"/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err="1"/>
              <a:t>고시문</a:t>
            </a:r>
            <a:r>
              <a:rPr lang="ko-KR" altLang="en-US" sz="1400" dirty="0"/>
              <a:t> 등을 활용해 비정형적 정보를 추가할 예정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32702790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FE6F6-8FA7-6433-0291-B5D4C6ED3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BA75D50D-C468-523D-E9AA-D6EAFCBDB8EA}"/>
              </a:ext>
            </a:extLst>
          </p:cNvPr>
          <p:cNvSpPr/>
          <p:nvPr/>
        </p:nvSpPr>
        <p:spPr>
          <a:xfrm>
            <a:off x="-14069" y="0"/>
            <a:ext cx="8658665" cy="6858000"/>
          </a:xfrm>
          <a:prstGeom prst="rect">
            <a:avLst/>
          </a:prstGeom>
          <a:gradFill>
            <a:gsLst>
              <a:gs pos="0">
                <a:schemeClr val="tx1">
                  <a:lumMod val="95000"/>
                  <a:lumOff val="5000"/>
                  <a:alpha val="0"/>
                </a:schemeClr>
              </a:gs>
              <a:gs pos="100000">
                <a:schemeClr val="tx1">
                  <a:lumMod val="95000"/>
                  <a:lumOff val="5000"/>
                  <a:alpha val="8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124A6D-E601-1A66-0B46-94FB9BC15904}"/>
              </a:ext>
            </a:extLst>
          </p:cNvPr>
          <p:cNvSpPr txBox="1"/>
          <p:nvPr/>
        </p:nvSpPr>
        <p:spPr>
          <a:xfrm>
            <a:off x="669956" y="1129245"/>
            <a:ext cx="842691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50" charset="-127"/>
              </a:rPr>
              <a:t>AI </a:t>
            </a:r>
            <a:r>
              <a:rPr kumimoji="0" lang="ko-KR" altLang="en-US" sz="4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50" charset="-127"/>
              </a:rPr>
              <a:t>기반 핵심광물</a:t>
            </a:r>
            <a:endParaRPr kumimoji="0" lang="en-US" altLang="ko-KR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프리젠테이션 6 SemiBold" pitchFamily="2" charset="-127"/>
              <a:ea typeface="프리젠테이션 6 SemiBold" pitchFamily="2" charset="-127"/>
              <a:cs typeface="Pretendard SemiBold" panose="0200070300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4000">
                <a:solidFill>
                  <a:prstClr val="white"/>
                </a:solidFill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50" charset="-127"/>
              </a:rPr>
              <a:t>위기진단 및 수요예측 모델 개발</a:t>
            </a:r>
            <a:endParaRPr kumimoji="0" lang="ko-KR" altLang="en-US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프리젠테이션 6 SemiBold" pitchFamily="2" charset="-127"/>
              <a:ea typeface="프리젠테이션 6 SemiBold" pitchFamily="2" charset="-127"/>
              <a:cs typeface="Pretendard SemiBold" panose="02000703000000020004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00E72D8-FC4C-29E4-5B89-1BCC39276DA7}"/>
              </a:ext>
            </a:extLst>
          </p:cNvPr>
          <p:cNvSpPr/>
          <p:nvPr/>
        </p:nvSpPr>
        <p:spPr>
          <a:xfrm>
            <a:off x="708056" y="2541856"/>
            <a:ext cx="5299295" cy="4712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ko-KR" altLang="en-US" sz="1600" dirty="0">
                <a:solidFill>
                  <a:prstClr val="white"/>
                </a:solidFill>
                <a:latin typeface="프리젠테이션 4 Regular" pitchFamily="2" charset="-127"/>
                <a:ea typeface="프리젠테이션 4 Regular" pitchFamily="2" charset="-127"/>
              </a:rPr>
              <a:t>주간보고서 </a:t>
            </a:r>
            <a:r>
              <a:rPr lang="en-US" altLang="ko-KR" sz="1600" dirty="0">
                <a:solidFill>
                  <a:prstClr val="white"/>
                </a:solidFill>
                <a:latin typeface="프리젠테이션 4 Regular" pitchFamily="2" charset="-127"/>
                <a:ea typeface="프리젠테이션 4 Regular" pitchFamily="2" charset="-127"/>
              </a:rPr>
              <a:t>– </a:t>
            </a:r>
            <a:r>
              <a:rPr lang="ko-KR" altLang="en-US" sz="1600" dirty="0">
                <a:solidFill>
                  <a:prstClr val="white"/>
                </a:solidFill>
                <a:latin typeface="프리젠테이션 4 Regular" pitchFamily="2" charset="-127"/>
                <a:ea typeface="프리젠테이션 4 Regular" pitchFamily="2" charset="-127"/>
              </a:rPr>
              <a:t>과업 </a:t>
            </a:r>
            <a:r>
              <a:rPr lang="en-US" altLang="ko-KR" sz="1600" dirty="0">
                <a:solidFill>
                  <a:prstClr val="white"/>
                </a:solidFill>
                <a:latin typeface="프리젠테이션 4 Regular" pitchFamily="2" charset="-127"/>
                <a:ea typeface="프리젠테이션 4 Regular" pitchFamily="2" charset="-127"/>
              </a:rPr>
              <a:t>2) </a:t>
            </a:r>
            <a:r>
              <a:rPr lang="ko-KR" altLang="en-US" sz="1600" dirty="0">
                <a:solidFill>
                  <a:prstClr val="white"/>
                </a:solidFill>
                <a:latin typeface="프리젠테이션 4 Regular" pitchFamily="2" charset="-127"/>
                <a:ea typeface="프리젠테이션 4 Regular" pitchFamily="2" charset="-127"/>
              </a:rPr>
              <a:t>수요예측 모델 개발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33D87FB0-D8EC-90FE-BB35-5BCCA0123EA2}"/>
              </a:ext>
            </a:extLst>
          </p:cNvPr>
          <p:cNvCxnSpPr/>
          <p:nvPr/>
        </p:nvCxnSpPr>
        <p:spPr>
          <a:xfrm>
            <a:off x="789930" y="2541856"/>
            <a:ext cx="5059346" cy="0"/>
          </a:xfrm>
          <a:prstGeom prst="line">
            <a:avLst/>
          </a:prstGeom>
          <a:ln w="3175">
            <a:solidFill>
              <a:schemeClr val="bg1">
                <a:alpha val="39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1560ECF1-35CD-802C-8ABF-6C7C242AB475}"/>
              </a:ext>
            </a:extLst>
          </p:cNvPr>
          <p:cNvCxnSpPr/>
          <p:nvPr/>
        </p:nvCxnSpPr>
        <p:spPr>
          <a:xfrm>
            <a:off x="789930" y="3327449"/>
            <a:ext cx="5059346" cy="0"/>
          </a:xfrm>
          <a:prstGeom prst="line">
            <a:avLst/>
          </a:prstGeom>
          <a:ln w="3175">
            <a:solidFill>
              <a:schemeClr val="bg1">
                <a:alpha val="39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4722079-EA17-05E6-8DF4-175B657C231C}"/>
              </a:ext>
            </a:extLst>
          </p:cNvPr>
          <p:cNvSpPr/>
          <p:nvPr/>
        </p:nvSpPr>
        <p:spPr>
          <a:xfrm>
            <a:off x="708056" y="2866662"/>
            <a:ext cx="5299295" cy="4712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  <a:cs typeface="+mn-cs"/>
              </a:rPr>
              <a:t>2026.08.18.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프리젠테이션 4 Regular" pitchFamily="2" charset="-127"/>
              <a:ea typeface="프리젠테이션 4 Regular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51552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" y="484632"/>
            <a:ext cx="6858000" cy="31089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과업2 · 수입수요 예측모델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932688"/>
            <a:ext cx="11521440" cy="54864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① 과업 목표 및 전체 모델 개발 프로세스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600200"/>
            <a:ext cx="11521440" cy="45720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dirty="0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과업2 </a:t>
            </a:r>
            <a:r>
              <a:rPr sz="1200" b="1" dirty="0" err="1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목표</a:t>
            </a:r>
            <a:r>
              <a:rPr sz="1200" b="1" dirty="0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 : </a:t>
            </a:r>
            <a:r>
              <a:rPr sz="120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니켈</a:t>
            </a:r>
            <a:r>
              <a:rPr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월별</a:t>
            </a:r>
            <a:r>
              <a:rPr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수입액·수입중량을</a:t>
            </a:r>
            <a:r>
              <a:rPr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낙관</a:t>
            </a:r>
            <a:r>
              <a:rPr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/</a:t>
            </a:r>
            <a:r>
              <a:rPr sz="120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중립</a:t>
            </a:r>
            <a:r>
              <a:rPr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/</a:t>
            </a:r>
            <a:r>
              <a:rPr sz="120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비관</a:t>
            </a:r>
            <a:r>
              <a:rPr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시나리오로</a:t>
            </a:r>
            <a:r>
              <a:rPr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예측</a:t>
            </a:r>
            <a:r>
              <a:rPr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— </a:t>
            </a:r>
            <a:r>
              <a:rPr sz="120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정형</a:t>
            </a:r>
            <a:r>
              <a:rPr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(</a:t>
            </a:r>
            <a:r>
              <a:rPr sz="120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통계</a:t>
            </a:r>
            <a:r>
              <a:rPr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) + </a:t>
            </a:r>
            <a:r>
              <a:rPr sz="120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비정형</a:t>
            </a:r>
            <a:r>
              <a:rPr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(LLM) </a:t>
            </a:r>
            <a:r>
              <a:rPr sz="120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결합</a:t>
            </a:r>
            <a:r>
              <a:rPr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sz="120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근거·수식이</a:t>
            </a:r>
            <a:r>
              <a:rPr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설명</a:t>
            </a:r>
            <a:r>
              <a:rPr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가능한</a:t>
            </a:r>
            <a:r>
              <a:rPr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구조</a:t>
            </a:r>
            <a:endParaRPr sz="1200" b="0" dirty="0">
              <a:solidFill>
                <a:srgbClr val="222222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274320" y="2514600"/>
            <a:ext cx="1965960" cy="1371600"/>
          </a:xfrm>
          <a:prstGeom prst="roundRect">
            <a:avLst/>
          </a:prstGeom>
          <a:solidFill>
            <a:srgbClr val="EEF3FA"/>
          </a:solidFill>
          <a:ln w="19050">
            <a:solidFill>
              <a:srgbClr val="2F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2651760"/>
            <a:ext cx="1874519" cy="36576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데이터 구축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3108960"/>
            <a:ext cx="1874519" cy="36576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정형 54·비정형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3252" y="3493008"/>
            <a:ext cx="768096" cy="292608"/>
          </a:xfrm>
          <a:prstGeom prst="roundRect">
            <a:avLst/>
          </a:prstGeom>
          <a:solidFill>
            <a:srgbClr val="2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3252" y="3511296"/>
            <a:ext cx="768096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305430" y="3063240"/>
            <a:ext cx="292608" cy="274320"/>
          </a:xfrm>
          <a:prstGeom prst="rightArrow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663189" y="2514600"/>
            <a:ext cx="1965960" cy="1371600"/>
          </a:xfrm>
          <a:prstGeom prst="roundRect">
            <a:avLst/>
          </a:prstGeom>
          <a:solidFill>
            <a:srgbClr val="EEF3FA"/>
          </a:solidFill>
          <a:ln w="19050">
            <a:solidFill>
              <a:srgbClr val="2F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08909" y="2651760"/>
            <a:ext cx="1874519" cy="36576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통계 기준모델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08909" y="3108960"/>
            <a:ext cx="1874519" cy="36576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VAR+Chronos-2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62122" y="3493008"/>
            <a:ext cx="768096" cy="292608"/>
          </a:xfrm>
          <a:prstGeom prst="roundRect">
            <a:avLst/>
          </a:prstGeom>
          <a:solidFill>
            <a:srgbClr val="2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62122" y="3511296"/>
            <a:ext cx="768096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694301" y="3063240"/>
            <a:ext cx="292608" cy="274320"/>
          </a:xfrm>
          <a:prstGeom prst="rightArrow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052059" y="2514600"/>
            <a:ext cx="1965960" cy="1371600"/>
          </a:xfrm>
          <a:prstGeom prst="roundRect">
            <a:avLst/>
          </a:prstGeom>
          <a:solidFill>
            <a:srgbClr val="EEF3FA"/>
          </a:solidFill>
          <a:ln w="19050">
            <a:solidFill>
              <a:srgbClr val="2F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97779" y="2651760"/>
            <a:ext cx="1874519" cy="36576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LLM 시나리오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97779" y="3108960"/>
            <a:ext cx="1874519" cy="36576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낙관/중립/비관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50992" y="3493008"/>
            <a:ext cx="768096" cy="292608"/>
          </a:xfrm>
          <a:prstGeom prst="roundRect">
            <a:avLst/>
          </a:prstGeom>
          <a:solidFill>
            <a:srgbClr val="2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650992" y="3511296"/>
            <a:ext cx="768096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083170" y="3063240"/>
            <a:ext cx="292608" cy="274320"/>
          </a:xfrm>
          <a:prstGeom prst="rightArrow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440929" y="2514600"/>
            <a:ext cx="1965960" cy="1371600"/>
          </a:xfrm>
          <a:prstGeom prst="roundRect">
            <a:avLst/>
          </a:prstGeom>
          <a:solidFill>
            <a:srgbClr val="EEF3FA"/>
          </a:solidFill>
          <a:ln w="19050">
            <a:solidFill>
              <a:srgbClr val="2F6F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86650" y="2651760"/>
            <a:ext cx="1874519" cy="203133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다기간</a:t>
            </a:r>
            <a:r>
              <a:rPr sz="1200" b="1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ko-KR" altLang="en-US" sz="1200" b="1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목표</a:t>
            </a:r>
            <a:r>
              <a:rPr sz="1200" b="1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1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확장</a:t>
            </a:r>
            <a:endParaRPr lang="en-US" sz="1200" b="1" dirty="0">
              <a:solidFill>
                <a:srgbClr val="222222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486650" y="3108960"/>
            <a:ext cx="1874519" cy="36576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1~12개월·수입중량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39861" y="3493008"/>
            <a:ext cx="768096" cy="292608"/>
          </a:xfrm>
          <a:prstGeom prst="roundRect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039861" y="3511296"/>
            <a:ext cx="768096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진행중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9472040" y="3063240"/>
            <a:ext cx="292608" cy="274320"/>
          </a:xfrm>
          <a:prstGeom prst="rightArrow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9829800" y="2514600"/>
            <a:ext cx="1965960" cy="137160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6E6E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875520" y="2651760"/>
            <a:ext cx="1874519" cy="203133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200" b="1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AI</a:t>
            </a:r>
            <a:r>
              <a:rPr lang="ko-KR" altLang="en-US" sz="1200" b="1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요약설명</a:t>
            </a:r>
            <a:r>
              <a:rPr sz="1200" b="1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200" b="1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확률화</a:t>
            </a:r>
            <a:endParaRPr sz="1200" b="1" dirty="0">
              <a:solidFill>
                <a:srgbClr val="222222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875520" y="3108960"/>
            <a:ext cx="1874519" cy="14927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ko-KR" altLang="en-US" sz="850" b="0" dirty="0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근거 기반 </a:t>
            </a:r>
            <a:r>
              <a:rPr lang="en-US" altLang="ko-KR" sz="850" b="0" dirty="0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lang="ko-KR" altLang="en-US" sz="850" b="0" dirty="0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설명 및</a:t>
            </a:r>
            <a:r>
              <a:rPr sz="850" b="0" dirty="0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850" b="0" dirty="0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시나리오 확률</a:t>
            </a:r>
            <a:endParaRPr sz="850" b="0" dirty="0">
              <a:solidFill>
                <a:srgbClr val="6E6E6E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10428732" y="3493008"/>
            <a:ext cx="768096" cy="292608"/>
          </a:xfrm>
          <a:prstGeom prst="roundRect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428732" y="3511296"/>
            <a:ext cx="768096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후속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4297680"/>
            <a:ext cx="11521440" cy="49391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dirty="0" err="1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현재</a:t>
            </a:r>
            <a:r>
              <a:rPr sz="1200" b="1" dirty="0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1200" b="1" dirty="0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상황</a:t>
            </a:r>
            <a:r>
              <a:rPr sz="1200" b="1" dirty="0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 : </a:t>
            </a:r>
            <a:r>
              <a:rPr sz="11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LLM </a:t>
            </a:r>
            <a:r>
              <a:rPr sz="110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시나리오</a:t>
            </a:r>
            <a:r>
              <a:rPr lang="en-US" sz="110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110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활용</a:t>
            </a:r>
            <a:r>
              <a:rPr sz="11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11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니켈 </a:t>
            </a:r>
            <a:r>
              <a:rPr sz="110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수입액</a:t>
            </a:r>
            <a:r>
              <a:rPr sz="11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1개월</a:t>
            </a:r>
            <a:r>
              <a:rPr lang="en-US" sz="11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11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후 예측</a:t>
            </a:r>
            <a:r>
              <a:rPr lang="en-US" altLang="ko-KR" sz="11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,</a:t>
            </a:r>
            <a:r>
              <a:rPr sz="11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다기간</a:t>
            </a:r>
            <a:r>
              <a:rPr sz="11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1~12개월</a:t>
            </a:r>
            <a:r>
              <a:rPr lang="en-US" sz="11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11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예측</a:t>
            </a:r>
            <a:r>
              <a:rPr sz="11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완료</a:t>
            </a:r>
            <a:r>
              <a:rPr sz="11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. </a:t>
            </a:r>
            <a:r>
              <a:rPr sz="110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수입중량·LLM</a:t>
            </a:r>
            <a:r>
              <a:rPr sz="11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비교</a:t>
            </a:r>
            <a:r>
              <a:rPr sz="11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검증</a:t>
            </a:r>
            <a:r>
              <a:rPr sz="11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완료</a:t>
            </a:r>
            <a:r>
              <a:rPr sz="11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dirty="0" err="1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후속</a:t>
            </a:r>
            <a:r>
              <a:rPr lang="en-US" sz="1200" b="1" dirty="0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1200" b="1" dirty="0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작업</a:t>
            </a:r>
            <a:r>
              <a:rPr sz="1200" b="1" dirty="0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 : </a:t>
            </a:r>
            <a:r>
              <a:rPr sz="11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① </a:t>
            </a:r>
            <a:r>
              <a:rPr sz="110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낙관</a:t>
            </a:r>
            <a:r>
              <a:rPr sz="11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/</a:t>
            </a:r>
            <a:r>
              <a:rPr sz="110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중립</a:t>
            </a:r>
            <a:r>
              <a:rPr sz="11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/</a:t>
            </a:r>
            <a:r>
              <a:rPr sz="110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비관</a:t>
            </a:r>
            <a:r>
              <a:rPr sz="11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자동</a:t>
            </a:r>
            <a:r>
              <a:rPr sz="11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확률</a:t>
            </a:r>
            <a:r>
              <a:rPr sz="11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산출</a:t>
            </a:r>
            <a:r>
              <a:rPr sz="11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(현 best-of-3는 </a:t>
            </a:r>
            <a:r>
              <a:rPr lang="en-US" sz="11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best </a:t>
            </a:r>
            <a:r>
              <a:rPr lang="ko-KR" altLang="en-US" sz="11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시나리오 </a:t>
            </a:r>
            <a:r>
              <a:rPr lang="ko-KR" altLang="en-US" sz="110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선택시</a:t>
            </a:r>
            <a:r>
              <a:rPr lang="ko-KR" altLang="en-US" sz="11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성능</a:t>
            </a:r>
            <a:r>
              <a:rPr sz="11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)  ② </a:t>
            </a:r>
            <a:r>
              <a:rPr lang="en-US" sz="110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1~</a:t>
            </a:r>
            <a:r>
              <a:rPr sz="11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12개월 </a:t>
            </a:r>
            <a:r>
              <a:rPr sz="110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확장</a:t>
            </a:r>
            <a:r>
              <a:rPr sz="11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 ③ </a:t>
            </a:r>
            <a:r>
              <a:rPr sz="110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수입중량</a:t>
            </a:r>
            <a:r>
              <a:rPr sz="11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11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예측 진행</a:t>
            </a:r>
            <a:endParaRPr sz="1100" b="0" dirty="0">
              <a:solidFill>
                <a:srgbClr val="222222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DE923-3832-D5F3-3F5E-28271D95C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E30DEAB-A36B-02A9-D257-8FE2D3279252}"/>
              </a:ext>
            </a:extLst>
          </p:cNvPr>
          <p:cNvSpPr txBox="1"/>
          <p:nvPr/>
        </p:nvSpPr>
        <p:spPr>
          <a:xfrm>
            <a:off x="137160" y="484632"/>
            <a:ext cx="6858000" cy="31089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과업2 · 수입수요 예측모델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B84FE6-520D-03FF-A6C2-9FC5E9EE5E62}"/>
              </a:ext>
            </a:extLst>
          </p:cNvPr>
          <p:cNvSpPr txBox="1"/>
          <p:nvPr/>
        </p:nvSpPr>
        <p:spPr>
          <a:xfrm>
            <a:off x="256032" y="932688"/>
            <a:ext cx="11521440" cy="54864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② 데이터 구성 — 전체 Inventory 및 활용현황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F1417B-C6FA-F9B0-66D5-0CDEE8DA514F}"/>
              </a:ext>
            </a:extLst>
          </p:cNvPr>
          <p:cNvSpPr txBox="1"/>
          <p:nvPr/>
        </p:nvSpPr>
        <p:spPr>
          <a:xfrm>
            <a:off x="365760" y="1417320"/>
            <a:ext cx="6400800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 i="0">
                <a:solidFill>
                  <a:srgbClr val="156082"/>
                </a:solidFill>
                <a:latin typeface="맑은 고딕"/>
              </a:rPr>
              <a:t>▪ </a:t>
            </a:r>
            <a:r>
              <a:rPr sz="1350" b="1" i="0">
                <a:solidFill>
                  <a:srgbClr val="22262B"/>
                </a:solidFill>
                <a:latin typeface="맑은 고딕"/>
              </a:rPr>
              <a:t>예측 대상 : </a:t>
            </a:r>
            <a:r>
              <a:rPr sz="1350" b="0" i="0">
                <a:solidFill>
                  <a:srgbClr val="22262B"/>
                </a:solidFill>
                <a:latin typeface="맑은 고딕"/>
              </a:rPr>
              <a:t>니켈 월별 수입액(USD) = 수입수요의 대리지표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 i="0">
                <a:solidFill>
                  <a:srgbClr val="156082"/>
                </a:solidFill>
                <a:latin typeface="맑은 고딕"/>
              </a:rPr>
              <a:t>▪ </a:t>
            </a:r>
            <a:r>
              <a:rPr sz="1350" b="1" i="0">
                <a:solidFill>
                  <a:srgbClr val="22262B"/>
                </a:solidFill>
                <a:latin typeface="맑은 고딕"/>
              </a:rPr>
              <a:t>데이터 기간 : </a:t>
            </a:r>
            <a:r>
              <a:rPr sz="1350" b="0" i="0">
                <a:solidFill>
                  <a:srgbClr val="22262B"/>
                </a:solidFill>
                <a:latin typeface="맑은 고딕"/>
              </a:rPr>
              <a:t>2013-01 ~ 2026-06 (162개월), 테스트 2023-01~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 i="0">
                <a:solidFill>
                  <a:srgbClr val="156082"/>
                </a:solidFill>
                <a:latin typeface="맑은 고딕"/>
              </a:rPr>
              <a:t>▪ </a:t>
            </a:r>
            <a:r>
              <a:rPr sz="1350" b="1" i="0">
                <a:solidFill>
                  <a:srgbClr val="22262B"/>
                </a:solidFill>
                <a:latin typeface="맑은 고딕"/>
              </a:rPr>
              <a:t>검증 방식 : </a:t>
            </a:r>
            <a:r>
              <a:rPr sz="1350" b="0" i="0">
                <a:solidFill>
                  <a:srgbClr val="22262B"/>
                </a:solidFill>
                <a:latin typeface="맑은 고딕"/>
              </a:rPr>
              <a:t>walk-forward — 시점 t 까지의 데이터로만 t+h 예측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 i="0">
                <a:solidFill>
                  <a:srgbClr val="156082"/>
                </a:solidFill>
                <a:latin typeface="맑은 고딕"/>
              </a:rPr>
              <a:t>▪ </a:t>
            </a:r>
            <a:r>
              <a:rPr sz="1350" b="1" i="0">
                <a:solidFill>
                  <a:srgbClr val="22262B"/>
                </a:solidFill>
                <a:latin typeface="맑은 고딕"/>
              </a:rPr>
              <a:t>공간 : </a:t>
            </a:r>
            <a:r>
              <a:rPr sz="1350" b="0" i="0">
                <a:solidFill>
                  <a:srgbClr val="22262B"/>
                </a:solidFill>
                <a:latin typeface="맑은 고딕"/>
              </a:rPr>
              <a:t>로그공간에서 적합·예측 (비율 안정화)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 i="0">
                <a:solidFill>
                  <a:srgbClr val="156082"/>
                </a:solidFill>
                <a:latin typeface="맑은 고딕"/>
              </a:rPr>
              <a:t>▪ </a:t>
            </a:r>
            <a:r>
              <a:rPr sz="1350" b="1" i="0">
                <a:solidFill>
                  <a:srgbClr val="22262B"/>
                </a:solidFill>
                <a:latin typeface="맑은 고딕"/>
              </a:rPr>
              <a:t>산출 : </a:t>
            </a:r>
            <a:r>
              <a:rPr sz="1350" b="0" i="0">
                <a:solidFill>
                  <a:srgbClr val="22262B"/>
                </a:solidFill>
                <a:latin typeface="맑은 고딕"/>
              </a:rPr>
              <a:t>기준예측 + 시나리오(낙관/중립/비관) + 상황해설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35F226-2F55-855D-3964-FB731A4DF0DA}"/>
              </a:ext>
            </a:extLst>
          </p:cNvPr>
          <p:cNvSpPr txBox="1"/>
          <p:nvPr/>
        </p:nvSpPr>
        <p:spPr>
          <a:xfrm>
            <a:off x="365760" y="4572000"/>
            <a:ext cx="6400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01E60"/>
                </a:solidFill>
                <a:latin typeface="맑은 고딕"/>
              </a:rPr>
              <a:t>핵심 평가지표</a:t>
            </a:r>
          </a:p>
        </p:txBody>
      </p:sp>
      <p:sp>
        <p:nvSpPr>
          <p:cNvPr id="12" name="Rounded Rectangle 10">
            <a:extLst>
              <a:ext uri="{FF2B5EF4-FFF2-40B4-BE49-F238E27FC236}">
                <a16:creationId xmlns:a16="http://schemas.microsoft.com/office/drawing/2014/main" id="{BD3B13BE-A51B-5BDC-130E-D709ADE5CA57}"/>
              </a:ext>
            </a:extLst>
          </p:cNvPr>
          <p:cNvSpPr/>
          <p:nvPr/>
        </p:nvSpPr>
        <p:spPr>
          <a:xfrm>
            <a:off x="365760" y="4983480"/>
            <a:ext cx="3063240" cy="137160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5B8771-B31F-958B-56DA-4E3442668C19}"/>
              </a:ext>
            </a:extLst>
          </p:cNvPr>
          <p:cNvSpPr txBox="1"/>
          <p:nvPr/>
        </p:nvSpPr>
        <p:spPr>
          <a:xfrm>
            <a:off x="365760" y="5205275"/>
            <a:ext cx="3063240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 i="0" dirty="0">
                <a:latin typeface="맑은 고딕"/>
              </a:rPr>
              <a:t>MAPE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FA59CF4-EC12-A8EF-C293-CBAF50FC3723}"/>
              </a:ext>
            </a:extLst>
          </p:cNvPr>
          <p:cNvSpPr txBox="1"/>
          <p:nvPr/>
        </p:nvSpPr>
        <p:spPr>
          <a:xfrm>
            <a:off x="365760" y="5806440"/>
            <a:ext cx="3063240" cy="4663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 dirty="0" err="1">
                <a:solidFill>
                  <a:srgbClr val="6B7280"/>
                </a:solidFill>
                <a:latin typeface="맑은 고딕"/>
              </a:rPr>
              <a:t>평균</a:t>
            </a:r>
            <a:r>
              <a:rPr sz="1100" b="0" i="0" dirty="0">
                <a:solidFill>
                  <a:srgbClr val="6B7280"/>
                </a:solidFill>
                <a:latin typeface="맑은 고딕"/>
              </a:rPr>
              <a:t> </a:t>
            </a:r>
            <a:r>
              <a:rPr sz="1100" b="0" i="0" dirty="0" err="1">
                <a:solidFill>
                  <a:srgbClr val="6B7280"/>
                </a:solidFill>
                <a:latin typeface="맑은 고딕"/>
              </a:rPr>
              <a:t>절대</a:t>
            </a:r>
            <a:r>
              <a:rPr sz="1100" b="0" i="0" dirty="0">
                <a:solidFill>
                  <a:srgbClr val="6B7280"/>
                </a:solidFill>
                <a:latin typeface="맑은 고딕"/>
              </a:rPr>
              <a:t> </a:t>
            </a:r>
            <a:r>
              <a:rPr sz="1100" b="0" i="0" dirty="0" err="1">
                <a:solidFill>
                  <a:srgbClr val="6B7280"/>
                </a:solidFill>
                <a:latin typeface="맑은 고딕"/>
              </a:rPr>
              <a:t>백분율</a:t>
            </a:r>
            <a:r>
              <a:rPr sz="1100" b="0" i="0" dirty="0">
                <a:solidFill>
                  <a:srgbClr val="6B7280"/>
                </a:solidFill>
                <a:latin typeface="맑은 고딕"/>
              </a:rPr>
              <a:t> </a:t>
            </a:r>
            <a:r>
              <a:rPr sz="1100" b="0" i="0" dirty="0" err="1">
                <a:solidFill>
                  <a:srgbClr val="6B7280"/>
                </a:solidFill>
                <a:latin typeface="맑은 고딕"/>
              </a:rPr>
              <a:t>오차</a:t>
            </a:r>
            <a:r>
              <a:rPr sz="1100" b="0" i="0" dirty="0">
                <a:solidFill>
                  <a:srgbClr val="6B7280"/>
                </a:solidFill>
                <a:latin typeface="맑은 고딕"/>
              </a:rPr>
              <a:t> (</a:t>
            </a:r>
            <a:r>
              <a:rPr sz="1100" b="0" i="0" dirty="0" err="1">
                <a:solidFill>
                  <a:srgbClr val="6B7280"/>
                </a:solidFill>
                <a:latin typeface="맑은 고딕"/>
              </a:rPr>
              <a:t>낮을수록</a:t>
            </a:r>
            <a:r>
              <a:rPr sz="1100" b="0" i="0" dirty="0">
                <a:solidFill>
                  <a:srgbClr val="6B7280"/>
                </a:solidFill>
                <a:latin typeface="맑은 고딕"/>
              </a:rPr>
              <a:t> </a:t>
            </a:r>
            <a:r>
              <a:rPr sz="1100" b="0" i="0" dirty="0" err="1">
                <a:solidFill>
                  <a:srgbClr val="6B7280"/>
                </a:solidFill>
                <a:latin typeface="맑은 고딕"/>
              </a:rPr>
              <a:t>정확</a:t>
            </a:r>
            <a:r>
              <a:rPr sz="1100" b="0" i="0" dirty="0">
                <a:solidFill>
                  <a:srgbClr val="6B7280"/>
                </a:solidFill>
                <a:latin typeface="맑은 고딕"/>
              </a:rPr>
              <a:t>)</a:t>
            </a:r>
          </a:p>
        </p:txBody>
      </p:sp>
      <p:sp>
        <p:nvSpPr>
          <p:cNvPr id="15" name="Rounded Rectangle 13">
            <a:extLst>
              <a:ext uri="{FF2B5EF4-FFF2-40B4-BE49-F238E27FC236}">
                <a16:creationId xmlns:a16="http://schemas.microsoft.com/office/drawing/2014/main" id="{34269C41-BD0F-FFBD-47BA-CFAC423ECF9A}"/>
              </a:ext>
            </a:extLst>
          </p:cNvPr>
          <p:cNvSpPr/>
          <p:nvPr/>
        </p:nvSpPr>
        <p:spPr>
          <a:xfrm>
            <a:off x="3611880" y="4983480"/>
            <a:ext cx="3154680" cy="137160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63E5D17-185B-3FA8-6357-0BFDB09848E6}"/>
              </a:ext>
            </a:extLst>
          </p:cNvPr>
          <p:cNvSpPr txBox="1"/>
          <p:nvPr/>
        </p:nvSpPr>
        <p:spPr>
          <a:xfrm>
            <a:off x="3611880" y="5205275"/>
            <a:ext cx="3154680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 i="0" dirty="0">
                <a:latin typeface="맑은 고딕"/>
              </a:rPr>
              <a:t>R²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5E54412-EAC9-5564-F9EA-609C24BE6EAC}"/>
              </a:ext>
            </a:extLst>
          </p:cNvPr>
          <p:cNvSpPr txBox="1"/>
          <p:nvPr/>
        </p:nvSpPr>
        <p:spPr>
          <a:xfrm>
            <a:off x="3611880" y="5806440"/>
            <a:ext cx="3154680" cy="4663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6B7280"/>
                </a:solidFill>
                <a:latin typeface="맑은 고딕"/>
              </a:rPr>
              <a:t>결정계수 (1에 가까울수록 설명력↑)</a:t>
            </a:r>
          </a:p>
        </p:txBody>
      </p:sp>
      <p:sp>
        <p:nvSpPr>
          <p:cNvPr id="18" name="Rounded Rectangle 16">
            <a:extLst>
              <a:ext uri="{FF2B5EF4-FFF2-40B4-BE49-F238E27FC236}">
                <a16:creationId xmlns:a16="http://schemas.microsoft.com/office/drawing/2014/main" id="{1050D34F-6162-02E0-FB1E-B8CEC12C9205}"/>
              </a:ext>
            </a:extLst>
          </p:cNvPr>
          <p:cNvSpPr/>
          <p:nvPr/>
        </p:nvSpPr>
        <p:spPr>
          <a:xfrm>
            <a:off x="7086600" y="1463040"/>
            <a:ext cx="4709160" cy="489204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4B44582-3EA3-537B-2B8E-80AF91B0CCA0}"/>
              </a:ext>
            </a:extLst>
          </p:cNvPr>
          <p:cNvSpPr txBox="1"/>
          <p:nvPr/>
        </p:nvSpPr>
        <p:spPr>
          <a:xfrm>
            <a:off x="7315200" y="1645920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001E60"/>
                </a:solidFill>
                <a:latin typeface="맑은 고딕"/>
              </a:rPr>
              <a:t>walk-forward 개념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B327276-E61C-DB8B-7943-B2FE8D05A30C}"/>
              </a:ext>
            </a:extLst>
          </p:cNvPr>
          <p:cNvSpPr txBox="1"/>
          <p:nvPr/>
        </p:nvSpPr>
        <p:spPr>
          <a:xfrm>
            <a:off x="7315200" y="2148840"/>
            <a:ext cx="4297680" cy="19207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 dirty="0" err="1">
                <a:solidFill>
                  <a:srgbClr val="22262B"/>
                </a:solidFill>
                <a:latin typeface="맑은 고딕"/>
              </a:rPr>
              <a:t>시점</a:t>
            </a:r>
            <a:r>
              <a:rPr sz="1300" b="1" i="0" dirty="0">
                <a:solidFill>
                  <a:srgbClr val="22262B"/>
                </a:solidFill>
                <a:latin typeface="맑은 고딕"/>
              </a:rPr>
              <a:t> 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 dirty="0">
                <a:solidFill>
                  <a:srgbClr val="22262B"/>
                </a:solidFill>
                <a:latin typeface="맑은 고딕"/>
              </a:rPr>
              <a:t>└ </a:t>
            </a:r>
            <a:r>
              <a:rPr sz="1200" b="0" i="0" dirty="0" err="1">
                <a:solidFill>
                  <a:srgbClr val="22262B"/>
                </a:solidFill>
                <a:latin typeface="맑은 고딕"/>
              </a:rPr>
              <a:t>사용</a:t>
            </a:r>
            <a:r>
              <a:rPr sz="1200" b="0" i="0" dirty="0">
                <a:solidFill>
                  <a:srgbClr val="22262B"/>
                </a:solidFill>
                <a:latin typeface="맑은 고딕"/>
              </a:rPr>
              <a:t> </a:t>
            </a:r>
            <a:r>
              <a:rPr sz="1200" b="0" i="0" dirty="0" err="1">
                <a:solidFill>
                  <a:srgbClr val="22262B"/>
                </a:solidFill>
                <a:latin typeface="맑은 고딕"/>
              </a:rPr>
              <a:t>데이터</a:t>
            </a:r>
            <a:r>
              <a:rPr sz="1200" b="0" i="0" dirty="0">
                <a:solidFill>
                  <a:srgbClr val="22262B"/>
                </a:solidFill>
                <a:latin typeface="맑은 고딕"/>
              </a:rPr>
              <a:t>: 2013-01 … t  (</a:t>
            </a:r>
            <a:r>
              <a:rPr sz="1200" b="0" i="0" dirty="0" err="1">
                <a:solidFill>
                  <a:srgbClr val="22262B"/>
                </a:solidFill>
                <a:latin typeface="맑은 고딕"/>
              </a:rPr>
              <a:t>과거만</a:t>
            </a:r>
            <a:r>
              <a:rPr sz="1200" b="0" i="0" dirty="0">
                <a:solidFill>
                  <a:srgbClr val="22262B"/>
                </a:solidFill>
                <a:latin typeface="맑은 고딕"/>
              </a:rPr>
              <a:t>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 dirty="0">
                <a:solidFill>
                  <a:srgbClr val="22262B"/>
                </a:solidFill>
                <a:latin typeface="맑은 고딕"/>
              </a:rPr>
              <a:t>└ </a:t>
            </a:r>
            <a:r>
              <a:rPr sz="1200" b="0" i="0" dirty="0" err="1">
                <a:solidFill>
                  <a:srgbClr val="22262B"/>
                </a:solidFill>
                <a:latin typeface="맑은 고딕"/>
              </a:rPr>
              <a:t>예측</a:t>
            </a:r>
            <a:r>
              <a:rPr sz="1200" b="0" i="0" dirty="0">
                <a:solidFill>
                  <a:srgbClr val="22262B"/>
                </a:solidFill>
                <a:latin typeface="맑은 고딕"/>
              </a:rPr>
              <a:t>: </a:t>
            </a:r>
            <a:r>
              <a:rPr sz="1200" b="0" i="0" dirty="0" err="1">
                <a:solidFill>
                  <a:srgbClr val="22262B"/>
                </a:solidFill>
                <a:latin typeface="맑은 고딕"/>
              </a:rPr>
              <a:t>t+h</a:t>
            </a:r>
            <a:r>
              <a:rPr sz="1200" b="0" i="0" dirty="0">
                <a:solidFill>
                  <a:srgbClr val="22262B"/>
                </a:solidFill>
                <a:latin typeface="맑은 고딕"/>
              </a:rPr>
              <a:t>  (h = 1, 3, 6, 12개월)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600" b="0" i="0" dirty="0">
                <a:solidFill>
                  <a:srgbClr val="22262B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 dirty="0" err="1">
                <a:solidFill>
                  <a:srgbClr val="156082"/>
                </a:solidFill>
                <a:latin typeface="맑은 고딕"/>
              </a:rPr>
              <a:t>미래</a:t>
            </a:r>
            <a:r>
              <a:rPr sz="1300" b="1" i="0" dirty="0">
                <a:solidFill>
                  <a:srgbClr val="156082"/>
                </a:solidFill>
                <a:latin typeface="맑은 고딕"/>
              </a:rPr>
              <a:t> </a:t>
            </a:r>
            <a:r>
              <a:rPr sz="1300" b="1" i="0" dirty="0" err="1">
                <a:solidFill>
                  <a:srgbClr val="156082"/>
                </a:solidFill>
                <a:latin typeface="맑은 고딕"/>
              </a:rPr>
              <a:t>정보</a:t>
            </a:r>
            <a:r>
              <a:rPr sz="1300" b="1" i="0" dirty="0">
                <a:solidFill>
                  <a:srgbClr val="156082"/>
                </a:solidFill>
                <a:latin typeface="맑은 고딕"/>
              </a:rPr>
              <a:t> </a:t>
            </a:r>
            <a:r>
              <a:rPr sz="1300" b="1" i="0" dirty="0" err="1">
                <a:solidFill>
                  <a:srgbClr val="156082"/>
                </a:solidFill>
                <a:latin typeface="맑은 고딕"/>
              </a:rPr>
              <a:t>차단</a:t>
            </a:r>
            <a:endParaRPr sz="1300" b="1" i="0" dirty="0">
              <a:solidFill>
                <a:srgbClr val="156082"/>
              </a:solidFill>
              <a:latin typeface="맑은 고딕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 dirty="0">
                <a:solidFill>
                  <a:srgbClr val="22262B"/>
                </a:solidFill>
                <a:latin typeface="맑은 고딕"/>
              </a:rPr>
              <a:t>· </a:t>
            </a:r>
            <a:r>
              <a:rPr lang="ko-KR" altLang="en-US" sz="1200" dirty="0">
                <a:solidFill>
                  <a:srgbClr val="22262B"/>
                </a:solidFill>
                <a:latin typeface="맑은 고딕"/>
              </a:rPr>
              <a:t>정형</a:t>
            </a:r>
            <a:r>
              <a:rPr sz="1200" b="0" i="0" dirty="0">
                <a:solidFill>
                  <a:srgbClr val="22262B"/>
                </a:solidFill>
                <a:latin typeface="맑은 고딕"/>
              </a:rPr>
              <a:t>·</a:t>
            </a:r>
            <a:r>
              <a:rPr sz="1200" b="0" i="0" dirty="0" err="1">
                <a:solidFill>
                  <a:srgbClr val="22262B"/>
                </a:solidFill>
                <a:latin typeface="맑은 고딕"/>
              </a:rPr>
              <a:t>정성</a:t>
            </a:r>
            <a:r>
              <a:rPr sz="1200" b="0" i="0" dirty="0">
                <a:solidFill>
                  <a:srgbClr val="22262B"/>
                </a:solidFill>
                <a:latin typeface="맑은 고딕"/>
              </a:rPr>
              <a:t> </a:t>
            </a:r>
            <a:r>
              <a:rPr sz="1200" b="0" i="0" dirty="0" err="1">
                <a:solidFill>
                  <a:srgbClr val="22262B"/>
                </a:solidFill>
                <a:latin typeface="맑은 고딕"/>
              </a:rPr>
              <a:t>모두</a:t>
            </a:r>
            <a:r>
              <a:rPr sz="1200" b="0" i="0" dirty="0">
                <a:solidFill>
                  <a:srgbClr val="22262B"/>
                </a:solidFill>
                <a:latin typeface="맑은 고딕"/>
              </a:rPr>
              <a:t> t </a:t>
            </a:r>
            <a:r>
              <a:rPr sz="1200" b="0" i="0" dirty="0" err="1">
                <a:solidFill>
                  <a:srgbClr val="22262B"/>
                </a:solidFill>
                <a:latin typeface="맑은 고딕"/>
              </a:rPr>
              <a:t>까지만</a:t>
            </a:r>
            <a:endParaRPr sz="1200" b="0" i="0" dirty="0">
              <a:solidFill>
                <a:srgbClr val="22262B"/>
              </a:solidFill>
              <a:latin typeface="맑은 고딕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 dirty="0">
                <a:solidFill>
                  <a:srgbClr val="22262B"/>
                </a:solidFill>
                <a:latin typeface="맑은 고딕"/>
              </a:rPr>
              <a:t>· </a:t>
            </a:r>
            <a:r>
              <a:rPr sz="1200" b="0" i="0" dirty="0" err="1">
                <a:solidFill>
                  <a:srgbClr val="22262B"/>
                </a:solidFill>
                <a:latin typeface="맑은 고딕"/>
              </a:rPr>
              <a:t>유사사례</a:t>
            </a:r>
            <a:r>
              <a:rPr sz="1200" b="0" i="0" dirty="0">
                <a:solidFill>
                  <a:srgbClr val="22262B"/>
                </a:solidFill>
                <a:latin typeface="맑은 고딕"/>
              </a:rPr>
              <a:t> </a:t>
            </a:r>
            <a:r>
              <a:rPr sz="1200" b="0" i="0" dirty="0" err="1">
                <a:solidFill>
                  <a:srgbClr val="22262B"/>
                </a:solidFill>
                <a:latin typeface="맑은 고딕"/>
              </a:rPr>
              <a:t>검색</a:t>
            </a:r>
            <a:r>
              <a:rPr sz="1200" b="0" i="0" dirty="0">
                <a:solidFill>
                  <a:srgbClr val="22262B"/>
                </a:solidFill>
                <a:latin typeface="맑은 고딕"/>
              </a:rPr>
              <a:t>: m ≤ t−h, |t−m| ≥ 12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600" b="0" i="0" dirty="0">
                <a:solidFill>
                  <a:srgbClr val="22262B"/>
                </a:solidFill>
                <a:latin typeface="맑은 고딕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656458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" y="484632"/>
            <a:ext cx="6858000" cy="31089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과업2 · 수입수요 예측모델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932688"/>
            <a:ext cx="11521440" cy="54864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② 데이터 구성 — 전체 Inventory 및 활용현황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2768010"/>
              </p:ext>
            </p:extLst>
          </p:nvPr>
        </p:nvGraphicFramePr>
        <p:xfrm>
          <a:off x="274320" y="1645920"/>
          <a:ext cx="5486400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45720" marR="45720" marT="9144" marB="9144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종수</a:t>
                      </a:r>
                    </a:p>
                  </a:txBody>
                  <a:tcPr marL="45720" marR="45720" marT="9144" marB="9144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사용(O)</a:t>
                      </a:r>
                    </a:p>
                  </a:txBody>
                  <a:tcPr marL="45720" marR="45720" marT="9144" marB="9144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활용</a:t>
                      </a:r>
                    </a:p>
                  </a:txBody>
                  <a:tcPr marL="45720" marR="45720" marT="9144" marB="9144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0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정형</a:t>
                      </a:r>
                      <a:r>
                        <a:rPr sz="90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통합데이터셋</a:t>
                      </a:r>
                      <a:endParaRPr sz="900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VAR·Chronos·RAG 입력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└ 미사용</a:t>
                      </a:r>
                    </a:p>
                  </a:txBody>
                  <a:tcPr marL="45720" marR="45720" marT="9144" marB="9144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43</a:t>
                      </a:r>
                    </a:p>
                  </a:txBody>
                  <a:tcPr marL="45720" marR="45720" marT="9144" marB="9144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거시16·파생8 등</a:t>
                      </a:r>
                    </a:p>
                  </a:txBody>
                  <a:tcPr marL="45720" marR="45720" marT="9144" marB="9144" anchor="ctr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0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비정형</a:t>
                      </a:r>
                      <a:r>
                        <a:rPr sz="90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(KOMIS </a:t>
                      </a:r>
                      <a:r>
                        <a:rPr sz="90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텍스트</a:t>
                      </a:r>
                      <a:r>
                        <a:rPr sz="90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월간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LLM </a:t>
                      </a:r>
                      <a:r>
                        <a:rPr sz="90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점수화</a:t>
                      </a:r>
                      <a:r>
                        <a:rPr lang="en-US" sz="90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요약</a:t>
                      </a:r>
                      <a:r>
                        <a:rPr sz="90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→ </a:t>
                      </a:r>
                      <a:r>
                        <a:rPr sz="90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시나리오</a:t>
                      </a:r>
                      <a:endParaRPr sz="900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0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외부</a:t>
                      </a:r>
                      <a:r>
                        <a:rPr sz="90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(GDELT/GTA/SMM)</a:t>
                      </a:r>
                    </a:p>
                  </a:txBody>
                  <a:tcPr marL="45720" marR="45720" marT="9144" marB="9144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</a:t>
                      </a:r>
                    </a:p>
                  </a:txBody>
                  <a:tcPr marL="45720" marR="45720" marT="9144" marB="9144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X</a:t>
                      </a:r>
                    </a:p>
                  </a:txBody>
                  <a:tcPr marL="45720" marR="45720" marT="9144" marB="9144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</a:t>
                      </a:r>
                      <a:r>
                        <a:rPr lang="ko-KR" altLang="en-US" sz="90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</a:t>
                      </a:r>
                      <a:endParaRPr sz="900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45720" marR="45720" marT="9144" marB="9144" anchor="ctr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3794760"/>
            <a:ext cx="5577840" cy="837345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dirty="0" err="1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정형</a:t>
            </a:r>
            <a:r>
              <a:rPr sz="1100" b="1" dirty="0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1" dirty="0" err="1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입력</a:t>
            </a:r>
            <a:r>
              <a:rPr sz="1100" b="1" dirty="0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 11종 :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수입액·LME현물</a:t>
            </a:r>
            <a:r>
              <a:rPr sz="10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/3M/재고·광물종합지수·메이저금속지수·정광비중·수입단가·수입HHI·상위3국비중·수입중량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dirty="0" err="1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미사용</a:t>
            </a:r>
            <a:r>
              <a:rPr sz="1100" b="1" dirty="0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1" dirty="0" err="1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사유</a:t>
            </a:r>
            <a:r>
              <a:rPr sz="1100" b="1" dirty="0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 : </a:t>
            </a:r>
            <a:r>
              <a:rPr sz="100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거시</a:t>
            </a:r>
            <a:r>
              <a:rPr sz="10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16·파생 8종 — </a:t>
            </a:r>
            <a:r>
              <a:rPr sz="100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컴팩트</a:t>
            </a:r>
            <a:r>
              <a:rPr sz="10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모델</a:t>
            </a:r>
            <a:r>
              <a:rPr sz="10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우선</a:t>
            </a:r>
            <a:r>
              <a:rPr sz="10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(</a:t>
            </a:r>
            <a:r>
              <a:rPr sz="100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과적합·다중공선성</a:t>
            </a:r>
            <a:r>
              <a:rPr sz="10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회피</a:t>
            </a:r>
            <a:r>
              <a:rPr sz="10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60" y="1645920"/>
            <a:ext cx="5806440" cy="4480560"/>
          </a:xfrm>
          <a:prstGeom prst="roundRect">
            <a:avLst/>
          </a:prstGeom>
          <a:solidFill>
            <a:srgbClr val="EC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09360" y="1828800"/>
            <a:ext cx="5394960" cy="36576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dirty="0" err="1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비정형데이터</a:t>
            </a:r>
            <a:r>
              <a:rPr sz="1250" b="1" dirty="0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1" dirty="0" err="1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활용</a:t>
            </a:r>
            <a:r>
              <a:rPr sz="1250" b="1" dirty="0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1" dirty="0" err="1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구조</a:t>
            </a:r>
            <a:endParaRPr sz="1250" b="1" dirty="0">
              <a:solidFill>
                <a:srgbClr val="1F4E79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309360" y="2331720"/>
            <a:ext cx="5394960" cy="157113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ko-KR" altLang="en-US" sz="1050" b="1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데이터</a:t>
            </a:r>
            <a:r>
              <a:rPr sz="1050" b="1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: KOMIS </a:t>
            </a:r>
            <a:r>
              <a:rPr sz="1050" b="1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니켈</a:t>
            </a:r>
            <a:r>
              <a:rPr sz="1050" b="1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1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월간</a:t>
            </a:r>
            <a:r>
              <a:rPr sz="1050" b="1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1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시장동향</a:t>
            </a:r>
            <a:r>
              <a:rPr sz="1050" b="1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1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리포트</a:t>
            </a:r>
            <a:r>
              <a:rPr sz="1050" b="1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(</a:t>
            </a:r>
            <a:r>
              <a:rPr sz="1050" b="1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텍스트</a:t>
            </a:r>
            <a:r>
              <a:rPr sz="1050" b="1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① LLM </a:t>
            </a:r>
            <a:r>
              <a:rPr sz="100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점수</a:t>
            </a:r>
            <a:r>
              <a:rPr sz="10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9종 : </a:t>
            </a:r>
            <a:r>
              <a:rPr sz="100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공급리스크·수요전망·가격전망·재고타이트·인니정책·불확실성·수급긴장·순방향·리스크총합</a:t>
            </a:r>
            <a:r>
              <a:rPr sz="10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(0~10)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② </a:t>
            </a:r>
            <a:r>
              <a:rPr sz="100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구조화</a:t>
            </a:r>
            <a:r>
              <a:rPr sz="10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신호</a:t>
            </a:r>
            <a:r>
              <a:rPr sz="10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3종 : </a:t>
            </a:r>
            <a:r>
              <a:rPr sz="100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현물타이트·정책진행단계·물류차질강도</a:t>
            </a:r>
            <a:r>
              <a:rPr sz="10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(0~10)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③ </a:t>
            </a:r>
            <a:r>
              <a:rPr sz="100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활용</a:t>
            </a:r>
            <a:r>
              <a:rPr sz="10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: RAG </a:t>
            </a:r>
            <a:r>
              <a:rPr sz="100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상태벡터</a:t>
            </a:r>
            <a:r>
              <a:rPr sz="10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(35차원) + </a:t>
            </a:r>
            <a:r>
              <a:rPr sz="100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공급DB</a:t>
            </a:r>
            <a:r>
              <a:rPr sz="10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(</a:t>
            </a:r>
            <a:r>
              <a:rPr sz="100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중심보정</a:t>
            </a:r>
            <a:r>
              <a:rPr sz="10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근거</a:t>
            </a:r>
            <a:r>
              <a:rPr sz="10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1" dirty="0">
                <a:solidFill>
                  <a:srgbClr val="2F8F5B"/>
                </a:solidFill>
                <a:latin typeface="맑은 고딕"/>
                <a:ea typeface="맑은 고딕"/>
                <a:cs typeface="맑은 고딕"/>
              </a:rPr>
              <a:t>→ </a:t>
            </a:r>
            <a:r>
              <a:rPr sz="1050" b="1" dirty="0" err="1">
                <a:solidFill>
                  <a:srgbClr val="2F8F5B"/>
                </a:solidFill>
                <a:latin typeface="맑은 고딕"/>
                <a:ea typeface="맑은 고딕"/>
                <a:cs typeface="맑은 고딕"/>
              </a:rPr>
              <a:t>정형</a:t>
            </a:r>
            <a:r>
              <a:rPr lang="en-US" sz="1050" b="1" dirty="0">
                <a:solidFill>
                  <a:srgbClr val="2F8F5B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1050" b="1" dirty="0">
                <a:solidFill>
                  <a:srgbClr val="2F8F5B"/>
                </a:solidFill>
                <a:latin typeface="맑은 고딕"/>
                <a:ea typeface="맑은 고딕"/>
                <a:cs typeface="맑은 고딕"/>
              </a:rPr>
              <a:t>데이터를 활용한</a:t>
            </a:r>
            <a:r>
              <a:rPr sz="1050" b="1" dirty="0">
                <a:solidFill>
                  <a:srgbClr val="2F8F5B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1050" b="1" dirty="0">
                <a:solidFill>
                  <a:srgbClr val="2F8F5B"/>
                </a:solidFill>
                <a:latin typeface="맑은 고딕"/>
                <a:ea typeface="맑은 고딕"/>
                <a:cs typeface="맑은 고딕"/>
              </a:rPr>
              <a:t>＇</a:t>
            </a:r>
            <a:r>
              <a:rPr lang="ko-KR" altLang="en-US" sz="1050" b="1" dirty="0">
                <a:solidFill>
                  <a:srgbClr val="2F8F5B"/>
                </a:solidFill>
                <a:latin typeface="맑은 고딕"/>
                <a:ea typeface="맑은 고딕"/>
                <a:cs typeface="맑은 고딕"/>
              </a:rPr>
              <a:t>예측 값</a:t>
            </a:r>
            <a:r>
              <a:rPr sz="1050" b="1" dirty="0">
                <a:solidFill>
                  <a:srgbClr val="2F8F5B"/>
                </a:solidFill>
                <a:latin typeface="맑은 고딕"/>
                <a:ea typeface="맑은 고딕"/>
                <a:cs typeface="맑은 고딕"/>
              </a:rPr>
              <a:t>＇ </a:t>
            </a:r>
            <a:r>
              <a:rPr sz="1050" b="1" dirty="0" err="1">
                <a:solidFill>
                  <a:srgbClr val="2F8F5B"/>
                </a:solidFill>
                <a:latin typeface="맑은 고딕"/>
                <a:ea typeface="맑은 고딕"/>
                <a:cs typeface="맑은 고딕"/>
              </a:rPr>
              <a:t>위에</a:t>
            </a:r>
            <a:r>
              <a:rPr sz="1050" b="1" dirty="0">
                <a:solidFill>
                  <a:srgbClr val="2F8F5B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1" dirty="0" err="1">
                <a:solidFill>
                  <a:srgbClr val="2F8F5B"/>
                </a:solidFill>
                <a:latin typeface="맑은 고딕"/>
                <a:ea typeface="맑은 고딕"/>
                <a:cs typeface="맑은 고딕"/>
              </a:rPr>
              <a:t>비정형</a:t>
            </a:r>
            <a:r>
              <a:rPr lang="en-US" sz="1050" b="1" dirty="0">
                <a:solidFill>
                  <a:srgbClr val="2F8F5B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1050" b="1" dirty="0">
                <a:solidFill>
                  <a:srgbClr val="2F8F5B"/>
                </a:solidFill>
                <a:latin typeface="맑은 고딕"/>
                <a:ea typeface="맑은 고딕"/>
                <a:cs typeface="맑은 고딕"/>
              </a:rPr>
              <a:t>데이터 및 </a:t>
            </a:r>
            <a:r>
              <a:rPr lang="en-US" altLang="ko-KR" sz="1050" b="1" dirty="0">
                <a:solidFill>
                  <a:srgbClr val="2F8F5B"/>
                </a:solidFill>
                <a:latin typeface="맑은 고딕"/>
                <a:ea typeface="맑은 고딕"/>
                <a:cs typeface="맑은 고딕"/>
              </a:rPr>
              <a:t>LLM</a:t>
            </a:r>
            <a:r>
              <a:rPr lang="ko-KR" altLang="en-US" sz="1050" b="1" dirty="0">
                <a:solidFill>
                  <a:srgbClr val="2F8F5B"/>
                </a:solidFill>
                <a:latin typeface="맑은 고딕"/>
                <a:ea typeface="맑은 고딕"/>
                <a:cs typeface="맑은 고딕"/>
              </a:rPr>
              <a:t>을 활용한</a:t>
            </a:r>
            <a:r>
              <a:rPr sz="1050" b="1" dirty="0">
                <a:solidFill>
                  <a:srgbClr val="2F8F5B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altLang="ko-KR" sz="1050" b="1" dirty="0">
                <a:solidFill>
                  <a:srgbClr val="2F8F5B"/>
                </a:solidFill>
                <a:latin typeface="맑은 고딕"/>
                <a:ea typeface="맑은 고딕"/>
                <a:cs typeface="맑은 고딕"/>
              </a:rPr>
              <a:t>＇</a:t>
            </a:r>
            <a:r>
              <a:rPr lang="ko-KR" altLang="en-US" sz="1050" b="1" dirty="0">
                <a:solidFill>
                  <a:srgbClr val="2F8F5B"/>
                </a:solidFill>
                <a:latin typeface="맑은 고딕"/>
                <a:ea typeface="맑은 고딕"/>
                <a:cs typeface="맑은 고딕"/>
              </a:rPr>
              <a:t>보정</a:t>
            </a:r>
            <a:r>
              <a:rPr lang="en-US" altLang="ko-KR" sz="1050" b="1" dirty="0">
                <a:solidFill>
                  <a:srgbClr val="2F8F5B"/>
                </a:solidFill>
                <a:latin typeface="맑은 고딕"/>
                <a:ea typeface="맑은 고딕"/>
                <a:cs typeface="맑은 고딕"/>
              </a:rPr>
              <a:t>＇</a:t>
            </a:r>
            <a:r>
              <a:rPr lang="ko-KR" altLang="en-US" sz="1050" b="1" dirty="0">
                <a:solidFill>
                  <a:srgbClr val="2F8F5B"/>
                </a:solidFill>
                <a:latin typeface="맑은 고딕"/>
                <a:ea typeface="맑은 고딕"/>
                <a:cs typeface="맑은 고딕"/>
              </a:rPr>
              <a:t>을 진행한 뒤 각 시나리오별 예측 진행</a:t>
            </a:r>
            <a:endParaRPr sz="1050" b="1" dirty="0">
              <a:solidFill>
                <a:srgbClr val="2F8F5B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4F897-D3CE-68E7-1395-C86ABC512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2B6E22C-86C7-EE30-BB6F-E557CFFAC7B8}"/>
              </a:ext>
            </a:extLst>
          </p:cNvPr>
          <p:cNvSpPr txBox="1"/>
          <p:nvPr/>
        </p:nvSpPr>
        <p:spPr>
          <a:xfrm>
            <a:off x="137160" y="484632"/>
            <a:ext cx="6858000" cy="31089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과업2 · 수입수요 예측모델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2E78AB-5263-3FDB-4FC8-BAE91CF8E768}"/>
              </a:ext>
            </a:extLst>
          </p:cNvPr>
          <p:cNvSpPr txBox="1"/>
          <p:nvPr/>
        </p:nvSpPr>
        <p:spPr>
          <a:xfrm>
            <a:off x="256032" y="932688"/>
            <a:ext cx="11521440" cy="54864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② 데이터 구성 — 전체 Inventory 및 활용현황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C2088B4-D303-FF36-2531-2712F08898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7816" y="1819214"/>
            <a:ext cx="4207577" cy="463645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4ECE5FD-B324-3C7B-8BD5-77A888DB44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3428" y="1819214"/>
            <a:ext cx="4310677" cy="463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9798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AC47A-34FE-F765-2B1E-8A6EEC7B4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3ED8BA0-C887-AC99-12A5-E9DED5A693F2}"/>
              </a:ext>
            </a:extLst>
          </p:cNvPr>
          <p:cNvSpPr txBox="1"/>
          <p:nvPr/>
        </p:nvSpPr>
        <p:spPr>
          <a:xfrm>
            <a:off x="137160" y="484632"/>
            <a:ext cx="6858000" cy="31089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과업2 · 수입수요 예측모델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46140C-8413-599B-D7EC-8811056E973E}"/>
              </a:ext>
            </a:extLst>
          </p:cNvPr>
          <p:cNvSpPr txBox="1"/>
          <p:nvPr/>
        </p:nvSpPr>
        <p:spPr>
          <a:xfrm>
            <a:off x="256032" y="932688"/>
            <a:ext cx="11521440" cy="54864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② 데이터 구성 — 전체 Inventory 및 활용현황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3251F7BC-E330-51BD-4FDC-BF2D6625D1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936" y="1454096"/>
            <a:ext cx="4909969" cy="5275888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63C3B488-919B-DF66-E0DE-16132049ED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4259" y="1412629"/>
            <a:ext cx="4603935" cy="5317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2232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7EB658-CEF3-F568-B22F-F4F6E7C35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04A785-2FC7-157D-D056-749B3528441A}"/>
              </a:ext>
            </a:extLst>
          </p:cNvPr>
          <p:cNvSpPr txBox="1"/>
          <p:nvPr/>
        </p:nvSpPr>
        <p:spPr>
          <a:xfrm>
            <a:off x="137160" y="484632"/>
            <a:ext cx="6858000" cy="31089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과업2 · 수입수요 예측모델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CADBE1-AAE3-EECB-26D3-226A059DD30B}"/>
              </a:ext>
            </a:extLst>
          </p:cNvPr>
          <p:cNvSpPr txBox="1"/>
          <p:nvPr/>
        </p:nvSpPr>
        <p:spPr>
          <a:xfrm>
            <a:off x="256032" y="932688"/>
            <a:ext cx="11521440" cy="54864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② 데이터 구성 — 전체 Inventory 및 활용현황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0D9E60D-5379-BE6E-19D4-2037F180DD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9915" y="1406046"/>
            <a:ext cx="5933674" cy="5186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5181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B6929-C125-20DC-0770-6E488D774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C222F19-8FC8-14C7-EB47-B636C5E03D91}"/>
              </a:ext>
            </a:extLst>
          </p:cNvPr>
          <p:cNvSpPr txBox="1"/>
          <p:nvPr/>
        </p:nvSpPr>
        <p:spPr>
          <a:xfrm>
            <a:off x="137160" y="484632"/>
            <a:ext cx="6858000" cy="31089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과업2 · 수입수요 예측모델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534919-DED8-3ACC-F2A8-1894B3D955BB}"/>
              </a:ext>
            </a:extLst>
          </p:cNvPr>
          <p:cNvSpPr txBox="1"/>
          <p:nvPr/>
        </p:nvSpPr>
        <p:spPr>
          <a:xfrm>
            <a:off x="256032" y="932688"/>
            <a:ext cx="11521440" cy="54864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② 데이터 구성 — 전체 Inventory 및 활용현황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A2027DD7-08FB-9C71-DB64-11037B25F3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8109" y="1673967"/>
            <a:ext cx="6417285" cy="4699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36265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16DE5-A38C-0E12-724A-7632BE4AE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26AFC4-DBF1-A989-A363-181A8AF966EF}"/>
              </a:ext>
            </a:extLst>
          </p:cNvPr>
          <p:cNvSpPr txBox="1"/>
          <p:nvPr/>
        </p:nvSpPr>
        <p:spPr>
          <a:xfrm>
            <a:off x="137160" y="484632"/>
            <a:ext cx="6858000" cy="31089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과업2 · 수입수요 예측모델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333552-06B9-5EA0-2A87-747765BF4E49}"/>
              </a:ext>
            </a:extLst>
          </p:cNvPr>
          <p:cNvSpPr txBox="1"/>
          <p:nvPr/>
        </p:nvSpPr>
        <p:spPr>
          <a:xfrm>
            <a:off x="256032" y="932688"/>
            <a:ext cx="11521440" cy="54864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② 데이터 구성 — 전체 Inventory 및 활용현황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C370994-E74D-68FE-B5B0-1CD40FE1B9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027" y="1350802"/>
            <a:ext cx="4124265" cy="537918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9F31B6F-D616-62E0-B0C1-C710219167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2664" y="1659382"/>
            <a:ext cx="4852964" cy="4892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63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8352D-97EC-A7A3-0B4C-03DCC9F31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0C074E5-4D5A-1217-0475-05E48E3B3DBC}"/>
              </a:ext>
            </a:extLst>
          </p:cNvPr>
          <p:cNvSpPr txBox="1"/>
          <p:nvPr/>
        </p:nvSpPr>
        <p:spPr>
          <a:xfrm>
            <a:off x="137160" y="484632"/>
            <a:ext cx="6858000" cy="31089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과업2 · 수입수요 예측모델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D8CBDC-663E-7222-A7D4-66359FEDC474}"/>
              </a:ext>
            </a:extLst>
          </p:cNvPr>
          <p:cNvSpPr txBox="1"/>
          <p:nvPr/>
        </p:nvSpPr>
        <p:spPr>
          <a:xfrm>
            <a:off x="256032" y="932688"/>
            <a:ext cx="11521440" cy="54864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② 데이터 구성 — 전체 Inventory 및 활용현황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EBB69ED-F18B-02A5-4244-B4FFD3756D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5498" y="1353312"/>
            <a:ext cx="3386123" cy="523951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AEAD20C-5023-0C62-BF41-B90BC64866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0518" y="2162412"/>
            <a:ext cx="5134692" cy="376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8399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" y="484632"/>
            <a:ext cx="6858000" cy="31089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과업2 · 수입수요 예측모델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932688"/>
            <a:ext cx="11521440" cy="54864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③ 최초 방법론 및 모델 선정배경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691640"/>
            <a:ext cx="11612880" cy="1325880"/>
          </a:xfrm>
          <a:prstGeom prst="round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819656"/>
            <a:ext cx="3657600" cy="82296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VAR (다변량 시계열)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1810512"/>
            <a:ext cx="7498079" cy="109728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이론 : 수입액·LME가격·재고의 상호 동학을 벡터자기회귀로 포착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선정 이유 : 변수 간 상호작용·레벨·추세를 저차원에서 안정적으로 설명, 통계적 해석 가능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3154680"/>
            <a:ext cx="11612880" cy="1325880"/>
          </a:xfrm>
          <a:prstGeom prst="roundRect">
            <a:avLst/>
          </a:prstGeom>
          <a:solidFill>
            <a:srgbClr val="EC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3282696"/>
            <a:ext cx="3657600" cy="82296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Chronos-2 (시계열 파운데이션)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3273552"/>
            <a:ext cx="7498079" cy="109728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이론</a:t>
            </a:r>
            <a:r>
              <a:rPr sz="105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: </a:t>
            </a:r>
            <a:r>
              <a:rPr sz="105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대규모</a:t>
            </a:r>
            <a:r>
              <a:rPr sz="105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사전학습</a:t>
            </a:r>
            <a:r>
              <a:rPr sz="105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시계열</a:t>
            </a:r>
            <a:r>
              <a:rPr sz="105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트랜스포머</a:t>
            </a:r>
            <a:r>
              <a:rPr sz="105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sz="105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공변량</a:t>
            </a:r>
            <a:r>
              <a:rPr sz="105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8종 </a:t>
            </a:r>
            <a:r>
              <a:rPr sz="105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조건부</a:t>
            </a:r>
            <a:r>
              <a:rPr sz="105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확률예측</a:t>
            </a:r>
            <a:endParaRPr sz="1050" b="0" dirty="0">
              <a:solidFill>
                <a:srgbClr val="222222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선정</a:t>
            </a:r>
            <a:r>
              <a:rPr sz="105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이유</a:t>
            </a:r>
            <a:r>
              <a:rPr sz="105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: </a:t>
            </a:r>
            <a:r>
              <a:rPr sz="105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소표본·비선형·계절을</a:t>
            </a:r>
            <a:r>
              <a:rPr sz="105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사전학습</a:t>
            </a:r>
            <a:r>
              <a:rPr sz="105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지식으로</a:t>
            </a:r>
            <a:r>
              <a:rPr sz="105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보완</a:t>
            </a:r>
            <a:r>
              <a:rPr sz="105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→ VAR와 </a:t>
            </a:r>
            <a:r>
              <a:rPr sz="105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앙상블</a:t>
            </a:r>
            <a:r>
              <a:rPr sz="105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시 </a:t>
            </a:r>
            <a:r>
              <a:rPr sz="105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상호보완</a:t>
            </a:r>
            <a:endParaRPr sz="1050" b="0" dirty="0">
              <a:solidFill>
                <a:srgbClr val="222222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74320" y="4617720"/>
            <a:ext cx="11612880" cy="1325880"/>
          </a:xfrm>
          <a:prstGeom prst="roundRect">
            <a:avLst/>
          </a:prstGeom>
          <a:solidFill>
            <a:srgbClr val="FB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5047955"/>
            <a:ext cx="3657600" cy="218521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dirty="0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LLM (gemma)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4736592"/>
            <a:ext cx="7498079" cy="39607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이론</a:t>
            </a:r>
            <a:r>
              <a:rPr sz="105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: </a:t>
            </a:r>
            <a:r>
              <a:rPr sz="105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비정형</a:t>
            </a:r>
            <a:r>
              <a:rPr sz="105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텍스트를</a:t>
            </a:r>
            <a:r>
              <a:rPr sz="105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계량화하고</a:t>
            </a:r>
            <a:r>
              <a:rPr sz="105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정성</a:t>
            </a:r>
            <a:r>
              <a:rPr sz="105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국면</a:t>
            </a:r>
            <a:r>
              <a:rPr sz="105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(</a:t>
            </a:r>
            <a:r>
              <a:rPr sz="105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공급충격·정책</a:t>
            </a:r>
            <a:r>
              <a:rPr sz="105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)을 </a:t>
            </a:r>
            <a:r>
              <a:rPr sz="105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판단</a:t>
            </a:r>
            <a:endParaRPr sz="1050" b="0" dirty="0">
              <a:solidFill>
                <a:srgbClr val="222222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선정</a:t>
            </a:r>
            <a:r>
              <a:rPr sz="105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이유</a:t>
            </a:r>
            <a:r>
              <a:rPr sz="105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: </a:t>
            </a:r>
            <a:r>
              <a:rPr sz="105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정형이</a:t>
            </a:r>
            <a:r>
              <a:rPr sz="105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못 </a:t>
            </a:r>
            <a:r>
              <a:rPr sz="105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보는</a:t>
            </a:r>
            <a:r>
              <a:rPr sz="105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정성정보</a:t>
            </a:r>
            <a:r>
              <a:rPr sz="105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반영</a:t>
            </a:r>
            <a:r>
              <a:rPr sz="105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6144768"/>
            <a:ext cx="11521440" cy="36576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1" dirty="0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→ </a:t>
            </a:r>
            <a:r>
              <a:rPr sz="950" b="0" i="1" dirty="0" err="1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단일</a:t>
            </a:r>
            <a:r>
              <a:rPr sz="950" b="0" i="1" dirty="0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950" b="0" i="1" dirty="0" err="1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모델이</a:t>
            </a:r>
            <a:r>
              <a:rPr sz="950" b="0" i="1" dirty="0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950" b="0" i="1" dirty="0" err="1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아니라</a:t>
            </a:r>
            <a:r>
              <a:rPr sz="950" b="0" i="1" dirty="0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950" b="0" i="1" dirty="0" err="1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통계</a:t>
            </a:r>
            <a:r>
              <a:rPr sz="950" b="0" i="1" dirty="0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(VAR)·</a:t>
            </a:r>
            <a:r>
              <a:rPr sz="950" b="0" i="1" dirty="0" err="1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딥러닝</a:t>
            </a:r>
            <a:r>
              <a:rPr sz="950" b="0" i="1" dirty="0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(Chronos)·</a:t>
            </a:r>
            <a:r>
              <a:rPr sz="950" b="0" i="1" dirty="0" err="1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LLM을</a:t>
            </a:r>
            <a:r>
              <a:rPr sz="950" b="0" i="1" dirty="0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950" b="0" i="1" dirty="0" err="1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상호보완</a:t>
            </a:r>
            <a:r>
              <a:rPr sz="950" b="0" i="1" dirty="0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950" b="0" i="1" dirty="0" err="1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후보로</a:t>
            </a:r>
            <a:r>
              <a:rPr sz="950" b="0" i="1" dirty="0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950" b="0" i="1" dirty="0" err="1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두고</a:t>
            </a:r>
            <a:r>
              <a:rPr sz="950" b="0" i="1" dirty="0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sz="950" b="0" i="1" dirty="0" err="1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동일</a:t>
            </a:r>
            <a:r>
              <a:rPr sz="950" b="0" i="1" dirty="0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950" b="0" i="1" dirty="0" err="1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데이터로</a:t>
            </a:r>
            <a:r>
              <a:rPr sz="950" b="0" i="1" dirty="0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950" b="0" i="1" dirty="0" err="1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비교검증</a:t>
            </a:r>
            <a:r>
              <a:rPr sz="950" b="0" i="1" dirty="0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(④)</a:t>
            </a:r>
            <a:r>
              <a:rPr sz="950" b="0" i="1" dirty="0" err="1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하여</a:t>
            </a:r>
            <a:r>
              <a:rPr sz="950" b="0" i="1" dirty="0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950" b="0" i="1" dirty="0" err="1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최종</a:t>
            </a:r>
            <a:r>
              <a:rPr sz="950" b="0" i="1" dirty="0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950" b="0" i="1" dirty="0" err="1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구성</a:t>
            </a:r>
            <a:r>
              <a:rPr sz="950" b="0" i="1" dirty="0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950" b="0" i="1" dirty="0" err="1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선정</a:t>
            </a:r>
            <a:r>
              <a:rPr sz="950" b="0" i="1" dirty="0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2C321-39CF-2075-93BF-6BCD5BB2E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C492071-7798-18B3-80F4-BD98AF82EF40}"/>
              </a:ext>
            </a:extLst>
          </p:cNvPr>
          <p:cNvSpPr txBox="1"/>
          <p:nvPr/>
        </p:nvSpPr>
        <p:spPr>
          <a:xfrm>
            <a:off x="137160" y="484632"/>
            <a:ext cx="6858000" cy="31089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과업2 · 수입수요 예측모델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2F11A1-C25D-0164-983F-90DE3E95004E}"/>
              </a:ext>
            </a:extLst>
          </p:cNvPr>
          <p:cNvSpPr txBox="1"/>
          <p:nvPr/>
        </p:nvSpPr>
        <p:spPr>
          <a:xfrm>
            <a:off x="256032" y="932688"/>
            <a:ext cx="11521440" cy="54864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③ 최초 방법론 및 모델 선정배경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EE12009-F652-9D4F-DE6B-F01CFE8DD620}"/>
              </a:ext>
            </a:extLst>
          </p:cNvPr>
          <p:cNvSpPr/>
          <p:nvPr/>
        </p:nvSpPr>
        <p:spPr>
          <a:xfrm>
            <a:off x="414528" y="1481328"/>
            <a:ext cx="11612880" cy="4740178"/>
          </a:xfrm>
          <a:prstGeom prst="roundRect">
            <a:avLst/>
          </a:prstGeom>
          <a:solidFill>
            <a:srgbClr val="EC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8EA02A-EE7F-56AC-B843-EDE47F8F8A43}"/>
              </a:ext>
            </a:extLst>
          </p:cNvPr>
          <p:cNvSpPr txBox="1"/>
          <p:nvPr/>
        </p:nvSpPr>
        <p:spPr>
          <a:xfrm>
            <a:off x="685800" y="1705356"/>
            <a:ext cx="3657600" cy="82296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Chronos-2 (시계열 파운데이션)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1051BC-2B28-94BF-DC21-D95D0BBA19D7}"/>
              </a:ext>
            </a:extLst>
          </p:cNvPr>
          <p:cNvSpPr txBox="1"/>
          <p:nvPr/>
        </p:nvSpPr>
        <p:spPr>
          <a:xfrm>
            <a:off x="3698839" y="1839827"/>
            <a:ext cx="7498079" cy="2974597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altLang="ko-KR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- Chronos-2</a:t>
            </a:r>
            <a:r>
              <a:rPr lang="ko-KR" altLang="en-US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는 </a:t>
            </a:r>
            <a:r>
              <a:rPr lang="en-US" altLang="ko-KR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Amazon</a:t>
            </a:r>
            <a:r>
              <a:rPr lang="ko-KR" altLang="en-US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이 개발한 사전학습 기반 시계열 </a:t>
            </a:r>
            <a:r>
              <a:rPr lang="en-US" altLang="ko-KR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Foundation Model</a:t>
            </a:r>
            <a:r>
              <a:rPr lang="ko-KR" altLang="en-US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로</a:t>
            </a:r>
            <a:r>
              <a:rPr lang="en-US" altLang="ko-KR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별도의 데이터별 </a:t>
            </a:r>
            <a:r>
              <a:rPr lang="ko-KR" altLang="en-US" sz="120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재학습</a:t>
            </a:r>
            <a:r>
              <a:rPr lang="ko-KR" altLang="en-US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없이도</a:t>
            </a:r>
            <a:r>
              <a:rPr lang="en-US" altLang="ko-KR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(unseen data</a:t>
            </a:r>
            <a:r>
              <a:rPr lang="ko-KR" altLang="en-US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에 대한 </a:t>
            </a:r>
            <a:r>
              <a:rPr lang="en-US" altLang="ko-KR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zero-shot forecasting) </a:t>
            </a:r>
            <a:r>
              <a:rPr lang="ko-KR" altLang="en-US" sz="120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단변량</a:t>
            </a:r>
            <a:r>
              <a:rPr lang="en-US" altLang="ko-KR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ko-KR" altLang="en-US" sz="120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다변량</a:t>
            </a:r>
            <a:r>
              <a:rPr lang="ko-KR" altLang="en-US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시계열과 외생변수</a:t>
            </a:r>
            <a:r>
              <a:rPr lang="en-US" altLang="ko-KR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(covariate)</a:t>
            </a:r>
            <a:r>
              <a:rPr lang="ko-KR" altLang="en-US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를 함께 활용하여 미래 값을 예측할 수 있는 모델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endParaRPr lang="en-US" altLang="ko-KR" sz="1200" b="0" dirty="0">
              <a:solidFill>
                <a:srgbClr val="222222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altLang="ko-KR" sz="1200" b="1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- </a:t>
            </a:r>
            <a:r>
              <a:rPr lang="ko-KR" altLang="en-US" sz="1200" b="1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다른 후보 대비 선택 사유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ko-KR" altLang="en-US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   </a:t>
            </a:r>
            <a:r>
              <a:rPr lang="en-US" altLang="ko-KR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- Chronos </a:t>
            </a:r>
            <a:r>
              <a:rPr lang="ko-KR" altLang="en-US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계열의 성능은 단순히 </a:t>
            </a:r>
            <a:r>
              <a:rPr lang="en-US" altLang="ko-KR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Transformer</a:t>
            </a:r>
            <a:r>
              <a:rPr lang="ko-KR" altLang="en-US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라는 구조적 장점만으로 주장되는 것이 아니라 실제 대규모 벤치마크에서 검증되었다</a:t>
            </a:r>
            <a:r>
              <a:rPr lang="en-US" altLang="ko-KR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. </a:t>
            </a:r>
            <a:r>
              <a:rPr lang="ko-KR" altLang="en-US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최초 </a:t>
            </a:r>
            <a:r>
              <a:rPr lang="en-US" altLang="ko-KR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Chronos</a:t>
            </a:r>
            <a:r>
              <a:rPr lang="ko-KR" altLang="en-US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는 </a:t>
            </a:r>
            <a:r>
              <a:rPr lang="en-US" altLang="ko-KR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42</a:t>
            </a:r>
            <a:r>
              <a:rPr lang="ko-KR" altLang="en-US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개 시계열 데이터셋 평가에서 새로운 데이터에 대해 별도의 학습 없이도 기존의 통계</a:t>
            </a:r>
            <a:r>
              <a:rPr lang="en-US" altLang="ko-KR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ko-KR" altLang="en-US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딥러닝 모델과 비슷하거나 일부에서는 더 높은 </a:t>
            </a:r>
            <a:r>
              <a:rPr lang="en-US" altLang="ko-KR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zero-shot </a:t>
            </a:r>
            <a:r>
              <a:rPr lang="ko-KR" altLang="en-US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예측 성능을 나타냈다</a:t>
            </a:r>
            <a:r>
              <a:rPr lang="en-US" altLang="ko-KR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. </a:t>
            </a:r>
            <a:r>
              <a:rPr lang="ko-KR" altLang="en-US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이후 </a:t>
            </a:r>
            <a:r>
              <a:rPr lang="en-US" altLang="ko-KR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Chronos-2</a:t>
            </a:r>
            <a:r>
              <a:rPr lang="ko-KR" altLang="en-US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는 </a:t>
            </a:r>
            <a:r>
              <a:rPr lang="en-US" altLang="ko-KR" sz="120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fev</a:t>
            </a:r>
            <a:r>
              <a:rPr lang="en-US" altLang="ko-KR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-bench, GIFT-Eval, Chronos Benchmark II</a:t>
            </a:r>
            <a:r>
              <a:rPr lang="ko-KR" altLang="en-US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의 세 가지 종합 벤치마크에서 </a:t>
            </a:r>
            <a:r>
              <a:rPr lang="en-US" altLang="ko-KR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state-of-the-art </a:t>
            </a:r>
            <a:r>
              <a:rPr lang="ko-KR" altLang="en-US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수준의 성능을 보고했으며</a:t>
            </a:r>
            <a:r>
              <a:rPr lang="en-US" altLang="ko-KR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특히 외생변수를 사용하는 </a:t>
            </a:r>
            <a:r>
              <a:rPr lang="en-US" altLang="ko-KR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covariate-informed forecasting</a:t>
            </a:r>
            <a:r>
              <a:rPr lang="ko-KR" altLang="en-US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에서 기존 </a:t>
            </a:r>
            <a:r>
              <a:rPr lang="en-US" altLang="ko-KR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baseline</a:t>
            </a:r>
            <a:r>
              <a:rPr lang="ko-KR" altLang="en-US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을 큰 폭으로 상회하였다</a:t>
            </a:r>
            <a:r>
              <a:rPr lang="en-US" altLang="ko-KR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. </a:t>
            </a:r>
            <a:r>
              <a:rPr lang="ko-KR" altLang="en-US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이러한 결과는 </a:t>
            </a:r>
            <a:r>
              <a:rPr lang="en-US" altLang="ko-KR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Chronos-2</a:t>
            </a:r>
            <a:r>
              <a:rPr lang="ko-KR" altLang="en-US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가 다양한 산업</a:t>
            </a:r>
            <a:r>
              <a:rPr lang="en-US" altLang="ko-KR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ko-KR" altLang="en-US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시장 시계열을 통합적으로 처리해야 하는 예측 문제에서 강력한 모델이라고 판단할 수 있는 실험적 근거가 된다</a:t>
            </a:r>
            <a:r>
              <a:rPr lang="en-US" altLang="ko-KR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altLang="ko-KR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   - Ansari et al., *Chronos: Learning the Language of Time Series*, 2024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altLang="ko-KR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   - Ansari et al., *Chronos-2: From Univariate to Universal Forecasting*, 2025.</a:t>
            </a:r>
            <a:endParaRPr sz="1200" b="0" dirty="0">
              <a:solidFill>
                <a:srgbClr val="222222"/>
              </a:solidFill>
              <a:latin typeface="맑은 고딕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26139649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5A04C-6B62-4E29-003A-9F97BED6C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A83434F-4029-E443-D084-12EEA24684AD}"/>
              </a:ext>
            </a:extLst>
          </p:cNvPr>
          <p:cNvSpPr txBox="1"/>
          <p:nvPr/>
        </p:nvSpPr>
        <p:spPr>
          <a:xfrm>
            <a:off x="137160" y="484632"/>
            <a:ext cx="6858000" cy="31089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과업2 · 수입수요 예측모델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D0B275-38AD-42F8-ECD2-668CE948432B}"/>
              </a:ext>
            </a:extLst>
          </p:cNvPr>
          <p:cNvSpPr txBox="1"/>
          <p:nvPr/>
        </p:nvSpPr>
        <p:spPr>
          <a:xfrm>
            <a:off x="256032" y="932688"/>
            <a:ext cx="11521440" cy="54864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③ 최초 방법론 및 모델 선정배경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B7394C5-1796-85A2-F172-2957662C02F5}"/>
              </a:ext>
            </a:extLst>
          </p:cNvPr>
          <p:cNvSpPr/>
          <p:nvPr/>
        </p:nvSpPr>
        <p:spPr>
          <a:xfrm>
            <a:off x="414528" y="1481328"/>
            <a:ext cx="11612880" cy="4892040"/>
          </a:xfrm>
          <a:prstGeom prst="roundRect">
            <a:avLst/>
          </a:prstGeom>
          <a:solidFill>
            <a:srgbClr val="FB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F2A80B-7BF0-E434-9641-174CC1D371A7}"/>
              </a:ext>
            </a:extLst>
          </p:cNvPr>
          <p:cNvSpPr txBox="1"/>
          <p:nvPr/>
        </p:nvSpPr>
        <p:spPr>
          <a:xfrm>
            <a:off x="643128" y="1911563"/>
            <a:ext cx="3657600" cy="218521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dirty="0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LLM (gemma</a:t>
            </a:r>
            <a:r>
              <a:rPr lang="en-US" sz="1300" b="1" dirty="0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4</a:t>
            </a:r>
            <a:r>
              <a:rPr sz="1300" b="1" dirty="0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DF14D31-C66C-D210-A83C-329E1CDA3637}"/>
              </a:ext>
            </a:extLst>
          </p:cNvPr>
          <p:cNvSpPr txBox="1"/>
          <p:nvPr/>
        </p:nvSpPr>
        <p:spPr>
          <a:xfrm>
            <a:off x="3797450" y="1618488"/>
            <a:ext cx="7498079" cy="4577087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marL="171450" indent="-171450"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FontTx/>
              <a:buChar char="-"/>
            </a:pPr>
            <a:r>
              <a:rPr lang="en-US" altLang="ko-KR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Gemma</a:t>
            </a:r>
            <a:r>
              <a:rPr lang="ko-KR" altLang="en-US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는 </a:t>
            </a:r>
            <a:r>
              <a:rPr lang="en-US" altLang="ko-KR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Google DeepMind</a:t>
            </a:r>
            <a:r>
              <a:rPr lang="ko-KR" altLang="en-US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가 </a:t>
            </a:r>
            <a:r>
              <a:rPr lang="en-US" altLang="ko-KR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Gemini </a:t>
            </a:r>
            <a:r>
              <a:rPr lang="ko-KR" altLang="en-US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개발 과정에서 축적한 연구 및 기술을 기반으로 개발한 경량</a:t>
            </a:r>
            <a:r>
              <a:rPr lang="en-US" altLang="ko-KR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ko-KR" altLang="en-US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고성능 </a:t>
            </a:r>
            <a:r>
              <a:rPr lang="en-US" altLang="ko-KR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open-weight </a:t>
            </a:r>
            <a:r>
              <a:rPr lang="ko-KR" altLang="en-US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생성형 언어모델 계열로</a:t>
            </a:r>
            <a:r>
              <a:rPr lang="en-US" altLang="ko-KR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, Transformer </a:t>
            </a:r>
            <a:r>
              <a:rPr lang="ko-KR" altLang="en-US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구조를 기반으로 자연어 이해</a:t>
            </a:r>
            <a:r>
              <a:rPr lang="en-US" altLang="ko-KR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추론</a:t>
            </a:r>
            <a:r>
              <a:rPr lang="en-US" altLang="ko-KR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정보 요약 및 문맥 기반 판단을 수행한다</a:t>
            </a:r>
            <a:r>
              <a:rPr lang="en-US" altLang="ko-KR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. Gemma </a:t>
            </a:r>
            <a:r>
              <a:rPr lang="ko-KR" altLang="en-US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계열은 모델 크기에 비해 높은 추론 성능을 얻는 것을 중요한 설계 목표로 하며</a:t>
            </a:r>
            <a:r>
              <a:rPr lang="en-US" altLang="ko-KR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세대에 따라 </a:t>
            </a:r>
            <a:r>
              <a:rPr lang="en-US" altLang="ko-KR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Grouped-Query Attention, local/global attention, knowledge distillation, </a:t>
            </a:r>
            <a:r>
              <a:rPr lang="ko-KR" altLang="en-US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긴 </a:t>
            </a:r>
            <a:r>
              <a:rPr lang="en-US" altLang="ko-KR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context window </a:t>
            </a:r>
            <a:r>
              <a:rPr lang="ko-KR" altLang="en-US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및 효율적인 </a:t>
            </a:r>
            <a:r>
              <a:rPr lang="en-US" altLang="ko-KR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KV-cache </a:t>
            </a:r>
            <a:r>
              <a:rPr lang="ko-KR" altLang="en-US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구조 등을 적용하여 </a:t>
            </a:r>
            <a:r>
              <a:rPr lang="ko-KR" altLang="en-US" sz="120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계산량과</a:t>
            </a:r>
            <a:r>
              <a:rPr lang="ko-KR" altLang="en-US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메모리 사용량을 줄이면서도 언어 이해 및 추론 성능을 유지하도록 설계되었음</a:t>
            </a:r>
            <a:r>
              <a:rPr lang="en-US" altLang="ko-KR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endParaRPr lang="en-US" altLang="ko-KR" sz="1200" b="0" dirty="0">
              <a:solidFill>
                <a:srgbClr val="222222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altLang="ko-KR" sz="1200" b="1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- </a:t>
            </a:r>
            <a:r>
              <a:rPr lang="ko-KR" altLang="en-US" sz="1200" b="1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다른 후보 대비 선택 사유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lang="ko-KR" altLang="en-US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   </a:t>
            </a:r>
            <a:r>
              <a:rPr lang="en-US" altLang="ko-KR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- Gemma</a:t>
            </a:r>
            <a:r>
              <a:rPr lang="ko-KR" altLang="en-US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의 강점은 상대적으로 작은 파라미터 규모에서도 대형 모델에 근접하는 성능을 보인다는 데 있다</a:t>
            </a:r>
            <a:r>
              <a:rPr lang="en-US" altLang="ko-KR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. </a:t>
            </a:r>
            <a:r>
              <a:rPr lang="ko-KR" altLang="en-US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최초 </a:t>
            </a:r>
            <a:r>
              <a:rPr lang="en-US" altLang="ko-KR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Gemma</a:t>
            </a:r>
            <a:r>
              <a:rPr lang="ko-KR" altLang="en-US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는 </a:t>
            </a:r>
            <a:r>
              <a:rPr lang="en-US" altLang="ko-KR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Google</a:t>
            </a:r>
            <a:r>
              <a:rPr lang="ko-KR" altLang="en-US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의 평가에서 비슷한 규모의 공개 모델들과 비교했을 때 </a:t>
            </a:r>
            <a:r>
              <a:rPr lang="en-US" altLang="ko-KR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18</a:t>
            </a:r>
            <a:r>
              <a:rPr lang="ko-KR" altLang="en-US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개 텍스트 벤치마크 중 </a:t>
            </a:r>
            <a:r>
              <a:rPr lang="en-US" altLang="ko-KR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11</a:t>
            </a:r>
            <a:r>
              <a:rPr lang="ko-KR" altLang="en-US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개에서 우수한 성능을 기록했다</a:t>
            </a:r>
            <a:r>
              <a:rPr lang="en-US" altLang="ko-KR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. Gemma 2</a:t>
            </a:r>
            <a:r>
              <a:rPr lang="ko-KR" altLang="en-US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에서는 </a:t>
            </a:r>
            <a:r>
              <a:rPr lang="en-US" altLang="ko-KR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2B·9B </a:t>
            </a:r>
            <a:r>
              <a:rPr lang="ko-KR" altLang="en-US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모델에 </a:t>
            </a:r>
            <a:r>
              <a:rPr lang="en-US" altLang="ko-KR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knowledge distillation</a:t>
            </a:r>
            <a:r>
              <a:rPr lang="ko-KR" altLang="en-US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을 적용하여 자신보다 </a:t>
            </a:r>
            <a:r>
              <a:rPr lang="en-US" altLang="ko-KR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2~3</a:t>
            </a:r>
            <a:r>
              <a:rPr lang="ko-KR" altLang="en-US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배 큰 모델과 경쟁 가능한 성능을 보고 하였으며</a:t>
            </a:r>
            <a:r>
              <a:rPr lang="en-US" altLang="ko-KR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, Gemma 3 Technical Report</a:t>
            </a:r>
            <a:r>
              <a:rPr lang="ko-KR" altLang="en-US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에서는 </a:t>
            </a:r>
            <a:r>
              <a:rPr lang="en-US" altLang="ko-KR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Gemma 3 4B Instruction-Tuned </a:t>
            </a:r>
            <a:r>
              <a:rPr lang="ko-KR" altLang="en-US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모델이 이전 세대 </a:t>
            </a:r>
            <a:r>
              <a:rPr lang="en-US" altLang="ko-KR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Gemma 2 27B</a:t>
            </a:r>
            <a:r>
              <a:rPr lang="ko-KR" altLang="en-US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와 경쟁 가능한 수준</a:t>
            </a:r>
            <a:r>
              <a:rPr lang="en-US" altLang="ko-KR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, Gemma 3 27B</a:t>
            </a:r>
            <a:r>
              <a:rPr lang="ko-KR" altLang="en-US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는 다양한 벤치마크에서 </a:t>
            </a:r>
            <a:r>
              <a:rPr lang="en-US" altLang="ko-KR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Gemini 1.5 Pro</a:t>
            </a:r>
            <a:r>
              <a:rPr lang="ko-KR" altLang="en-US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와 비교 가능한 수준의 결과를 보였다고 보고하였다</a:t>
            </a:r>
            <a:r>
              <a:rPr lang="en-US" altLang="ko-KR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. </a:t>
            </a:r>
            <a:r>
              <a:rPr lang="ko-KR" altLang="en-US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따라서 제한된 </a:t>
            </a:r>
            <a:r>
              <a:rPr lang="en-US" altLang="ko-KR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GPU·</a:t>
            </a:r>
            <a:r>
              <a:rPr lang="ko-KR" altLang="en-US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서버 환경에서도 높은 수준의 자연어 추론 및 분석 기능을 구현할 수 있다는 점이 </a:t>
            </a:r>
            <a:r>
              <a:rPr lang="en-US" altLang="ko-KR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Gemma</a:t>
            </a:r>
            <a:r>
              <a:rPr lang="ko-KR" altLang="en-US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를 실용적인 </a:t>
            </a:r>
            <a:r>
              <a:rPr lang="en-US" altLang="ko-KR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LLM</a:t>
            </a:r>
            <a:r>
              <a:rPr lang="ko-KR" altLang="en-US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으로 선택할 수 있는 주요 근거이다</a:t>
            </a:r>
            <a:r>
              <a:rPr lang="en-US" altLang="ko-KR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. </a:t>
            </a:r>
            <a:r>
              <a:rPr lang="ko-KR" altLang="en-US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또한 </a:t>
            </a:r>
            <a:r>
              <a:rPr lang="en-US" altLang="ko-KR" sz="1200" dirty="0"/>
              <a:t>Gemma 4</a:t>
            </a:r>
            <a:r>
              <a:rPr lang="ko-KR" altLang="en-US" sz="1200" dirty="0"/>
              <a:t>는 </a:t>
            </a:r>
            <a:r>
              <a:rPr lang="en-US" altLang="ko-KR" sz="1200" dirty="0"/>
              <a:t>Google DeepMind</a:t>
            </a:r>
            <a:r>
              <a:rPr lang="ko-KR" altLang="en-US" sz="1200" dirty="0"/>
              <a:t>가 </a:t>
            </a:r>
            <a:r>
              <a:rPr lang="en-US" altLang="ko-KR" sz="1200" dirty="0"/>
              <a:t>Gemini 3 </a:t>
            </a:r>
            <a:r>
              <a:rPr lang="ko-KR" altLang="en-US" sz="1200" dirty="0"/>
              <a:t>연구 기술을 기반으로 개발한 최신 </a:t>
            </a:r>
            <a:r>
              <a:rPr lang="en-US" altLang="ko-KR" sz="1200" dirty="0"/>
              <a:t>open-weight </a:t>
            </a:r>
            <a:r>
              <a:rPr lang="ko-KR" altLang="en-US" sz="1200" dirty="0"/>
              <a:t>언어모델로</a:t>
            </a:r>
            <a:r>
              <a:rPr lang="en-US" altLang="ko-KR" sz="1200" dirty="0"/>
              <a:t>, </a:t>
            </a:r>
            <a:r>
              <a:rPr lang="ko-KR" altLang="en-US" sz="1200" dirty="0"/>
              <a:t>모델 크기 대비 높은 추론 성능과 </a:t>
            </a:r>
            <a:r>
              <a:rPr lang="en-US" altLang="ko-KR" sz="1200" dirty="0"/>
              <a:t>agentic workflow </a:t>
            </a:r>
            <a:r>
              <a:rPr lang="ko-KR" altLang="en-US" sz="1200" dirty="0"/>
              <a:t>수행 능력을 제공한다</a:t>
            </a:r>
            <a:r>
              <a:rPr lang="en-US" altLang="ko-KR" sz="1200" dirty="0"/>
              <a:t>. </a:t>
            </a:r>
            <a:r>
              <a:rPr lang="ko-KR" altLang="en-US" sz="1200" dirty="0"/>
              <a:t>최대 </a:t>
            </a:r>
            <a:r>
              <a:rPr lang="en-US" altLang="ko-KR" sz="1200" dirty="0"/>
              <a:t>256K </a:t>
            </a:r>
            <a:r>
              <a:rPr lang="ko-KR" altLang="en-US" sz="1200" dirty="0"/>
              <a:t>문맥 길이와 다국어</a:t>
            </a:r>
            <a:r>
              <a:rPr lang="en-US" altLang="ko-KR" sz="1200" dirty="0"/>
              <a:t>·</a:t>
            </a:r>
            <a:r>
              <a:rPr lang="ko-KR" altLang="en-US" sz="1200" dirty="0" err="1"/>
              <a:t>멀티모달</a:t>
            </a:r>
            <a:r>
              <a:rPr lang="ko-KR" altLang="en-US" sz="1200" dirty="0"/>
              <a:t> 처리</a:t>
            </a:r>
            <a:r>
              <a:rPr lang="en-US" altLang="ko-KR" sz="1200" dirty="0"/>
              <a:t>, function calling</a:t>
            </a:r>
            <a:r>
              <a:rPr lang="ko-KR" altLang="en-US" sz="1200" dirty="0"/>
              <a:t>을 지원하여 </a:t>
            </a:r>
            <a:r>
              <a:rPr lang="en-US" altLang="ko-KR" sz="1200" dirty="0"/>
              <a:t>RAG </a:t>
            </a:r>
            <a:r>
              <a:rPr lang="ko-KR" altLang="en-US" sz="1200" dirty="0"/>
              <a:t>기반 정보 해석과 복합적인 의사결정 및 시나리오 생성에 적합하다</a:t>
            </a:r>
            <a:r>
              <a:rPr lang="en-US" altLang="ko-KR" sz="1200" dirty="0"/>
              <a:t>.</a:t>
            </a:r>
            <a:endParaRPr lang="en-US" altLang="ko-KR" sz="1200" b="0" dirty="0">
              <a:solidFill>
                <a:srgbClr val="222222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altLang="ko-KR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   - Gemma Team, *Gemma: Open Models Based on Gemini Research and Technology*, 2024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altLang="ko-KR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   - Gemma Team, *Gemma 2: Improving Open Language Models at a Practical Size*, 2024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altLang="ko-KR" sz="12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   - Gemma Team, *Gemma 3 Technical Report*, 2025.</a:t>
            </a:r>
            <a:endParaRPr sz="1200" b="0" dirty="0">
              <a:solidFill>
                <a:srgbClr val="222222"/>
              </a:solidFill>
              <a:latin typeface="맑은 고딕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94080949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" y="484632"/>
            <a:ext cx="6858000" cy="31089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과업2 · 수입수요 예측모델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932688"/>
            <a:ext cx="11521440" cy="54864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④ </a:t>
            </a:r>
            <a:r>
              <a:rPr sz="2300" b="1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후보</a:t>
            </a:r>
            <a:r>
              <a:rPr sz="2300" b="1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300" b="1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모델·방법론</a:t>
            </a:r>
            <a:r>
              <a:rPr sz="2300" b="1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300" b="1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비교검증</a:t>
            </a:r>
            <a:r>
              <a:rPr sz="2300" b="1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(</a:t>
            </a:r>
            <a:r>
              <a:rPr sz="2300" b="1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동일</a:t>
            </a:r>
            <a:r>
              <a:rPr sz="2300" b="1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300" b="1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데이터·동일</a:t>
            </a:r>
            <a:r>
              <a:rPr sz="2300" b="1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300" b="1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조건</a:t>
            </a:r>
            <a:r>
              <a:rPr sz="2300" b="1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pic>
        <p:nvPicPr>
          <p:cNvPr id="5" name="Picture 4" descr="candid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691640"/>
            <a:ext cx="7406640" cy="367425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63840" y="1737360"/>
            <a:ext cx="4114800" cy="218521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dirty="0" err="1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선정</a:t>
            </a:r>
            <a:r>
              <a:rPr sz="1300" b="1" dirty="0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1" dirty="0" err="1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사유</a:t>
            </a:r>
            <a:endParaRPr sz="1300" b="1" dirty="0">
              <a:solidFill>
                <a:srgbClr val="1F4E79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863840" y="2286000"/>
            <a:ext cx="4114800" cy="113050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105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VAR+Chronos</a:t>
            </a:r>
            <a:r>
              <a:rPr sz="105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앙상블</a:t>
            </a:r>
            <a:r>
              <a:rPr sz="105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(14.30%)이 </a:t>
            </a:r>
            <a:r>
              <a:rPr sz="1050" b="1" dirty="0" err="1">
                <a:solidFill>
                  <a:srgbClr val="2F8F5B"/>
                </a:solidFill>
                <a:latin typeface="맑은 고딕"/>
                <a:ea typeface="맑은 고딕"/>
                <a:cs typeface="맑은 고딕"/>
              </a:rPr>
              <a:t>모든</a:t>
            </a:r>
            <a:r>
              <a:rPr sz="1050" b="1" dirty="0">
                <a:solidFill>
                  <a:srgbClr val="2F8F5B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1" dirty="0" err="1">
                <a:solidFill>
                  <a:srgbClr val="2F8F5B"/>
                </a:solidFill>
                <a:latin typeface="맑은 고딕"/>
                <a:ea typeface="맑은 고딕"/>
                <a:cs typeface="맑은 고딕"/>
              </a:rPr>
              <a:t>단일</a:t>
            </a:r>
            <a:r>
              <a:rPr sz="1050" b="1" dirty="0">
                <a:solidFill>
                  <a:srgbClr val="2F8F5B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1" dirty="0" err="1">
                <a:solidFill>
                  <a:srgbClr val="2F8F5B"/>
                </a:solidFill>
                <a:latin typeface="맑은 고딕"/>
                <a:ea typeface="맑은 고딕"/>
                <a:cs typeface="맑은 고딕"/>
              </a:rPr>
              <a:t>후보</a:t>
            </a:r>
            <a:r>
              <a:rPr sz="1050" b="1" dirty="0">
                <a:solidFill>
                  <a:srgbClr val="2F8F5B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1" dirty="0" err="1">
                <a:solidFill>
                  <a:srgbClr val="2F8F5B"/>
                </a:solidFill>
                <a:latin typeface="맑은 고딕"/>
                <a:ea typeface="맑은 고딕"/>
                <a:cs typeface="맑은 고딕"/>
              </a:rPr>
              <a:t>상회</a:t>
            </a:r>
            <a:endParaRPr sz="1050" b="1" dirty="0">
              <a:solidFill>
                <a:srgbClr val="2F8F5B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· naive 18.2·MA3 16.1 → </a:t>
            </a:r>
            <a:r>
              <a:rPr sz="105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하한</a:t>
            </a:r>
            <a:r>
              <a:rPr sz="105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확인</a:t>
            </a:r>
            <a:endParaRPr sz="1050" b="0" dirty="0">
              <a:solidFill>
                <a:srgbClr val="222222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· best-of-3(6.96%)는 </a:t>
            </a:r>
            <a:r>
              <a:rPr lang="en-US" sz="1050" b="1" dirty="0">
                <a:solidFill>
                  <a:srgbClr val="C0392E"/>
                </a:solidFill>
                <a:latin typeface="맑은 고딕"/>
                <a:ea typeface="맑은 고딕"/>
                <a:cs typeface="맑은 고딕"/>
              </a:rPr>
              <a:t>best</a:t>
            </a:r>
            <a:r>
              <a:rPr lang="ko-KR" altLang="en-US" sz="1050" b="1" dirty="0">
                <a:solidFill>
                  <a:srgbClr val="C0392E"/>
                </a:solidFill>
                <a:latin typeface="맑은 고딕"/>
                <a:ea typeface="맑은 고딕"/>
                <a:cs typeface="맑은 고딕"/>
              </a:rPr>
              <a:t>한 시나리오를 선택한 후 얻는 잠재적 성능</a:t>
            </a:r>
            <a:endParaRPr sz="1050" b="0" dirty="0">
              <a:solidFill>
                <a:srgbClr val="222222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 dirty="0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→ 현 </a:t>
            </a:r>
            <a:r>
              <a:rPr sz="1100" b="1" dirty="0" err="1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구조</a:t>
            </a:r>
            <a:r>
              <a:rPr sz="1100" b="1" dirty="0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 = VAR + Chronos-2 </a:t>
            </a:r>
            <a:r>
              <a:rPr sz="1100" b="1" dirty="0" err="1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앙상블</a:t>
            </a:r>
            <a:r>
              <a:rPr sz="1100" b="1" dirty="0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1" dirty="0" err="1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기준선</a:t>
            </a:r>
            <a:r>
              <a:rPr sz="1100" b="1" dirty="0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 + LLM </a:t>
            </a:r>
            <a:r>
              <a:rPr sz="1100" b="1" dirty="0" err="1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시나리오</a:t>
            </a:r>
            <a:endParaRPr sz="1100" b="1" dirty="0">
              <a:solidFill>
                <a:srgbClr val="1F4E79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6D105-0D53-4424-EF90-E2E61BB9F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6E9D30-C9BD-E8C2-50DD-D66A60861D4C}"/>
              </a:ext>
            </a:extLst>
          </p:cNvPr>
          <p:cNvSpPr txBox="1"/>
          <p:nvPr/>
        </p:nvSpPr>
        <p:spPr>
          <a:xfrm>
            <a:off x="137160" y="484632"/>
            <a:ext cx="6858000" cy="31089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과업2 · 수입수요 예측모델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481860-9FC0-CD25-79EF-355A51D8AFD1}"/>
              </a:ext>
            </a:extLst>
          </p:cNvPr>
          <p:cNvSpPr txBox="1"/>
          <p:nvPr/>
        </p:nvSpPr>
        <p:spPr>
          <a:xfrm>
            <a:off x="256032" y="932688"/>
            <a:ext cx="11521440" cy="54864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④ </a:t>
            </a:r>
            <a:r>
              <a:rPr sz="2300" b="1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후보</a:t>
            </a:r>
            <a:r>
              <a:rPr sz="2300" b="1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300" b="1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모델·방법론</a:t>
            </a:r>
            <a:r>
              <a:rPr sz="2300" b="1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300" b="1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비교검증</a:t>
            </a:r>
            <a:r>
              <a:rPr sz="2300" b="1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(</a:t>
            </a:r>
            <a:r>
              <a:rPr sz="2300" b="1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동일</a:t>
            </a:r>
            <a:r>
              <a:rPr sz="2300" b="1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300" b="1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데이터·동일</a:t>
            </a:r>
            <a:r>
              <a:rPr sz="2300" b="1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300" b="1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조건</a:t>
            </a:r>
            <a:r>
              <a:rPr sz="2300" b="1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2D2B676-1554-C5BC-5ACC-A83EA62E4A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0162" y="2376860"/>
            <a:ext cx="5658640" cy="2695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03712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D5122-860A-13C6-0AFF-EB856DCFB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CA1065F-7A90-ABD7-55CF-7AD774635853}"/>
              </a:ext>
            </a:extLst>
          </p:cNvPr>
          <p:cNvSpPr txBox="1"/>
          <p:nvPr/>
        </p:nvSpPr>
        <p:spPr>
          <a:xfrm>
            <a:off x="137160" y="484632"/>
            <a:ext cx="6858000" cy="31089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과업2 · 수입수요 예측모델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1237D0-9D67-BD4F-C128-2387F18427A3}"/>
              </a:ext>
            </a:extLst>
          </p:cNvPr>
          <p:cNvSpPr txBox="1"/>
          <p:nvPr/>
        </p:nvSpPr>
        <p:spPr>
          <a:xfrm>
            <a:off x="256032" y="932688"/>
            <a:ext cx="11521440" cy="37241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⑤ </a:t>
            </a:r>
            <a:r>
              <a:rPr sz="2300" b="1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현재</a:t>
            </a:r>
            <a:r>
              <a:rPr sz="2300" b="1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300" b="1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적용</a:t>
            </a:r>
            <a:r>
              <a:rPr sz="2300" b="1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300" b="1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모델</a:t>
            </a:r>
            <a:r>
              <a:rPr sz="2300" b="1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300" b="1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구조</a:t>
            </a:r>
            <a:endParaRPr sz="2300" b="1" dirty="0">
              <a:solidFill>
                <a:srgbClr val="222222"/>
              </a:solidFill>
              <a:latin typeface="맑은 고딕"/>
              <a:ea typeface="맑은 고딕"/>
              <a:cs typeface="맑은 고딕"/>
            </a:endParaRPr>
          </a:p>
        </p:txBody>
      </p:sp>
      <p:pic>
        <p:nvPicPr>
          <p:cNvPr id="4" name="Picture 8" descr="f14_2_agents.png">
            <a:extLst>
              <a:ext uri="{FF2B5EF4-FFF2-40B4-BE49-F238E27FC236}">
                <a16:creationId xmlns:a16="http://schemas.microsoft.com/office/drawing/2014/main" id="{234CC056-B2A9-084C-D78E-0BDC4C80CF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029245"/>
            <a:ext cx="5351929" cy="5700758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3006148E-028E-6801-B331-DC4A559BA0FF}"/>
              </a:ext>
            </a:extLst>
          </p:cNvPr>
          <p:cNvSpPr txBox="1"/>
          <p:nvPr/>
        </p:nvSpPr>
        <p:spPr>
          <a:xfrm>
            <a:off x="411480" y="1737360"/>
            <a:ext cx="5029200" cy="15083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1" i="0" dirty="0">
                <a:solidFill>
                  <a:srgbClr val="156082"/>
                </a:solidFill>
                <a:latin typeface="맑은 고딕"/>
              </a:rPr>
              <a:t>▪ </a:t>
            </a:r>
            <a:r>
              <a:rPr sz="1300" b="1" i="0" dirty="0" err="1">
                <a:solidFill>
                  <a:srgbClr val="22262B"/>
                </a:solidFill>
                <a:latin typeface="맑은 고딕"/>
              </a:rPr>
              <a:t>기준예측</a:t>
            </a:r>
            <a:r>
              <a:rPr sz="1300" b="1" i="0" dirty="0">
                <a:solidFill>
                  <a:srgbClr val="22262B"/>
                </a:solidFill>
                <a:latin typeface="맑은 고딕"/>
              </a:rPr>
              <a:t> </a:t>
            </a:r>
            <a:r>
              <a:rPr sz="1300" b="1" i="0" dirty="0" err="1">
                <a:solidFill>
                  <a:srgbClr val="22262B"/>
                </a:solidFill>
                <a:latin typeface="맑은 고딕"/>
              </a:rPr>
              <a:t>에이전트</a:t>
            </a:r>
            <a:r>
              <a:rPr sz="1300" b="1" i="0" dirty="0">
                <a:solidFill>
                  <a:srgbClr val="22262B"/>
                </a:solidFill>
                <a:latin typeface="맑은 고딕"/>
              </a:rPr>
              <a:t> : </a:t>
            </a:r>
            <a:r>
              <a:rPr sz="1300" b="0" i="0" dirty="0">
                <a:solidFill>
                  <a:srgbClr val="22262B"/>
                </a:solidFill>
                <a:latin typeface="맑은 고딕"/>
              </a:rPr>
              <a:t>VAR + Chronos-2 → </a:t>
            </a:r>
            <a:r>
              <a:rPr sz="1300" b="0" i="0" dirty="0" err="1">
                <a:solidFill>
                  <a:srgbClr val="22262B"/>
                </a:solidFill>
                <a:latin typeface="맑은 고딕"/>
              </a:rPr>
              <a:t>평균</a:t>
            </a:r>
            <a:r>
              <a:rPr sz="1300" b="0" i="0" dirty="0">
                <a:solidFill>
                  <a:srgbClr val="22262B"/>
                </a:solidFill>
                <a:latin typeface="맑은 고딕"/>
              </a:rPr>
              <a:t>(base)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1" i="0" dirty="0">
                <a:solidFill>
                  <a:srgbClr val="156082"/>
                </a:solidFill>
                <a:latin typeface="맑은 고딕"/>
              </a:rPr>
              <a:t>▪ </a:t>
            </a:r>
            <a:r>
              <a:rPr sz="1300" b="1" i="0" dirty="0" err="1">
                <a:solidFill>
                  <a:srgbClr val="22262B"/>
                </a:solidFill>
                <a:latin typeface="맑은 고딕"/>
              </a:rPr>
              <a:t>검색</a:t>
            </a:r>
            <a:r>
              <a:rPr sz="1300" b="1" i="0" dirty="0">
                <a:solidFill>
                  <a:srgbClr val="22262B"/>
                </a:solidFill>
                <a:latin typeface="맑은 고딕"/>
              </a:rPr>
              <a:t> </a:t>
            </a:r>
            <a:r>
              <a:rPr sz="1300" b="1" i="0" dirty="0" err="1">
                <a:solidFill>
                  <a:srgbClr val="22262B"/>
                </a:solidFill>
                <a:latin typeface="맑은 고딕"/>
              </a:rPr>
              <a:t>에이전트</a:t>
            </a:r>
            <a:r>
              <a:rPr sz="1300" b="1" i="0" dirty="0">
                <a:solidFill>
                  <a:srgbClr val="22262B"/>
                </a:solidFill>
                <a:latin typeface="맑은 고딕"/>
              </a:rPr>
              <a:t>(RAG) : </a:t>
            </a:r>
            <a:r>
              <a:rPr sz="1300" b="0" i="0" dirty="0" err="1">
                <a:solidFill>
                  <a:srgbClr val="22262B"/>
                </a:solidFill>
                <a:latin typeface="맑은 고딕"/>
              </a:rPr>
              <a:t>상태벡터</a:t>
            </a:r>
            <a:r>
              <a:rPr sz="1300" b="0" i="0" dirty="0">
                <a:solidFill>
                  <a:srgbClr val="22262B"/>
                </a:solidFill>
                <a:latin typeface="맑은 고딕"/>
              </a:rPr>
              <a:t> 35차원, </a:t>
            </a:r>
            <a:r>
              <a:rPr sz="1300" b="0" i="0" dirty="0" err="1">
                <a:solidFill>
                  <a:srgbClr val="22262B"/>
                </a:solidFill>
                <a:latin typeface="맑은 고딕"/>
              </a:rPr>
              <a:t>유사</a:t>
            </a:r>
            <a:r>
              <a:rPr sz="1300" b="0" i="0" dirty="0">
                <a:solidFill>
                  <a:srgbClr val="22262B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22262B"/>
                </a:solidFill>
                <a:latin typeface="맑은 고딕"/>
              </a:rPr>
              <a:t>과거</a:t>
            </a:r>
            <a:r>
              <a:rPr sz="1300" b="0" i="0" dirty="0">
                <a:solidFill>
                  <a:srgbClr val="22262B"/>
                </a:solidFill>
                <a:latin typeface="맑은 고딕"/>
              </a:rPr>
              <a:t> k=5 (</a:t>
            </a:r>
            <a:r>
              <a:rPr sz="1300" b="0" i="0" dirty="0" err="1">
                <a:solidFill>
                  <a:srgbClr val="22262B"/>
                </a:solidFill>
                <a:latin typeface="맑은 고딕"/>
              </a:rPr>
              <a:t>누출</a:t>
            </a:r>
            <a:r>
              <a:rPr sz="1300" b="0" i="0" dirty="0">
                <a:solidFill>
                  <a:srgbClr val="22262B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22262B"/>
                </a:solidFill>
                <a:latin typeface="맑은 고딕"/>
              </a:rPr>
              <a:t>차단</a:t>
            </a:r>
            <a:r>
              <a:rPr sz="1300" b="0" i="0" dirty="0">
                <a:solidFill>
                  <a:srgbClr val="22262B"/>
                </a:solidFill>
                <a:latin typeface="맑은 고딕"/>
              </a:rPr>
              <a:t>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1" i="0" dirty="0">
                <a:solidFill>
                  <a:srgbClr val="156082"/>
                </a:solidFill>
                <a:latin typeface="맑은 고딕"/>
              </a:rPr>
              <a:t>▪ </a:t>
            </a:r>
            <a:r>
              <a:rPr sz="1300" b="1" i="0" dirty="0" err="1">
                <a:solidFill>
                  <a:srgbClr val="22262B"/>
                </a:solidFill>
                <a:latin typeface="맑은 고딕"/>
              </a:rPr>
              <a:t>시나리오</a:t>
            </a:r>
            <a:r>
              <a:rPr sz="1300" b="1" i="0" dirty="0">
                <a:solidFill>
                  <a:srgbClr val="22262B"/>
                </a:solidFill>
                <a:latin typeface="맑은 고딕"/>
              </a:rPr>
              <a:t> </a:t>
            </a:r>
            <a:r>
              <a:rPr sz="1300" b="1" i="0" dirty="0" err="1">
                <a:solidFill>
                  <a:srgbClr val="22262B"/>
                </a:solidFill>
                <a:latin typeface="맑은 고딕"/>
              </a:rPr>
              <a:t>에이전트</a:t>
            </a:r>
            <a:r>
              <a:rPr sz="1300" b="1" i="0" dirty="0">
                <a:solidFill>
                  <a:srgbClr val="22262B"/>
                </a:solidFill>
                <a:latin typeface="맑은 고딕"/>
              </a:rPr>
              <a:t> : </a:t>
            </a:r>
            <a:r>
              <a:rPr sz="1300" b="0" i="0" dirty="0" err="1">
                <a:solidFill>
                  <a:srgbClr val="22262B"/>
                </a:solidFill>
                <a:latin typeface="맑은 고딕"/>
              </a:rPr>
              <a:t>중심보정</a:t>
            </a:r>
            <a:r>
              <a:rPr sz="1300" b="0" i="0" dirty="0">
                <a:solidFill>
                  <a:srgbClr val="22262B"/>
                </a:solidFill>
                <a:latin typeface="맑은 고딕"/>
              </a:rPr>
              <a:t> → </a:t>
            </a:r>
            <a:r>
              <a:rPr sz="1300" b="0" i="0" dirty="0" err="1">
                <a:solidFill>
                  <a:srgbClr val="22262B"/>
                </a:solidFill>
                <a:latin typeface="맑은 고딕"/>
              </a:rPr>
              <a:t>낙관</a:t>
            </a:r>
            <a:r>
              <a:rPr sz="1300" b="0" i="0" dirty="0">
                <a:solidFill>
                  <a:srgbClr val="22262B"/>
                </a:solidFill>
                <a:latin typeface="맑은 고딕"/>
              </a:rPr>
              <a:t>/</a:t>
            </a:r>
            <a:r>
              <a:rPr sz="1300" b="0" i="0" dirty="0" err="1">
                <a:solidFill>
                  <a:srgbClr val="22262B"/>
                </a:solidFill>
                <a:latin typeface="맑은 고딕"/>
              </a:rPr>
              <a:t>중립</a:t>
            </a:r>
            <a:r>
              <a:rPr sz="1300" b="0" i="0" dirty="0">
                <a:solidFill>
                  <a:srgbClr val="22262B"/>
                </a:solidFill>
                <a:latin typeface="맑은 고딕"/>
              </a:rPr>
              <a:t>/</a:t>
            </a:r>
            <a:r>
              <a:rPr sz="1300" b="0" i="0" dirty="0" err="1">
                <a:solidFill>
                  <a:srgbClr val="22262B"/>
                </a:solidFill>
                <a:latin typeface="맑은 고딕"/>
              </a:rPr>
              <a:t>비관</a:t>
            </a:r>
            <a:r>
              <a:rPr sz="1300" b="0" i="0" dirty="0">
                <a:solidFill>
                  <a:srgbClr val="22262B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22262B"/>
                </a:solidFill>
                <a:latin typeface="맑은 고딕"/>
              </a:rPr>
              <a:t>밴드</a:t>
            </a:r>
            <a:r>
              <a:rPr sz="1300" b="0" i="0" dirty="0">
                <a:solidFill>
                  <a:srgbClr val="22262B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22262B"/>
                </a:solidFill>
                <a:latin typeface="맑은 고딕"/>
              </a:rPr>
              <a:t>생성</a:t>
            </a:r>
            <a:endParaRPr sz="1300" b="0" i="0" dirty="0">
              <a:solidFill>
                <a:srgbClr val="22262B"/>
              </a:solidFill>
              <a:latin typeface="맑은 고딕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1" i="0" dirty="0">
                <a:solidFill>
                  <a:srgbClr val="156082"/>
                </a:solidFill>
                <a:latin typeface="맑은 고딕"/>
              </a:rPr>
              <a:t>▪ </a:t>
            </a:r>
            <a:r>
              <a:rPr sz="1300" b="1" i="0" dirty="0" err="1">
                <a:solidFill>
                  <a:srgbClr val="22262B"/>
                </a:solidFill>
                <a:latin typeface="맑은 고딕"/>
              </a:rPr>
              <a:t>금융</a:t>
            </a:r>
            <a:r>
              <a:rPr sz="1300" b="1" i="0" dirty="0">
                <a:solidFill>
                  <a:srgbClr val="22262B"/>
                </a:solidFill>
                <a:latin typeface="맑은 고딕"/>
              </a:rPr>
              <a:t> </a:t>
            </a:r>
            <a:r>
              <a:rPr sz="1300" b="1" i="0" dirty="0" err="1">
                <a:solidFill>
                  <a:srgbClr val="22262B"/>
                </a:solidFill>
                <a:latin typeface="맑은 고딕"/>
              </a:rPr>
              <a:t>해설</a:t>
            </a:r>
            <a:r>
              <a:rPr sz="1300" b="1" i="0" dirty="0">
                <a:solidFill>
                  <a:srgbClr val="22262B"/>
                </a:solidFill>
                <a:latin typeface="맑은 고딕"/>
              </a:rPr>
              <a:t> </a:t>
            </a:r>
            <a:r>
              <a:rPr sz="1300" b="1" i="0" dirty="0" err="1">
                <a:solidFill>
                  <a:srgbClr val="22262B"/>
                </a:solidFill>
                <a:latin typeface="맑은 고딕"/>
              </a:rPr>
              <a:t>에이전트</a:t>
            </a:r>
            <a:r>
              <a:rPr sz="1300" b="1" i="0" dirty="0">
                <a:solidFill>
                  <a:srgbClr val="22262B"/>
                </a:solidFill>
                <a:latin typeface="맑은 고딕"/>
              </a:rPr>
              <a:t> : </a:t>
            </a:r>
            <a:r>
              <a:rPr sz="1300" b="0" i="0" dirty="0" err="1">
                <a:solidFill>
                  <a:srgbClr val="22262B"/>
                </a:solidFill>
                <a:latin typeface="맑은 고딕"/>
              </a:rPr>
              <a:t>월별</a:t>
            </a:r>
            <a:r>
              <a:rPr sz="1300" b="0" i="0" dirty="0">
                <a:solidFill>
                  <a:srgbClr val="22262B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22262B"/>
                </a:solidFill>
                <a:latin typeface="맑은 고딕"/>
              </a:rPr>
              <a:t>상황분류·도메인</a:t>
            </a:r>
            <a:r>
              <a:rPr sz="1300" b="0" i="0" dirty="0">
                <a:solidFill>
                  <a:srgbClr val="22262B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22262B"/>
                </a:solidFill>
                <a:latin typeface="맑은 고딕"/>
              </a:rPr>
              <a:t>요약</a:t>
            </a:r>
            <a:r>
              <a:rPr sz="1300" b="0" i="0" dirty="0">
                <a:solidFill>
                  <a:srgbClr val="22262B"/>
                </a:solidFill>
                <a:latin typeface="맑은 고딕"/>
              </a:rPr>
              <a:t>(gemma</a:t>
            </a:r>
            <a:r>
              <a:rPr lang="en-US" sz="1300" b="0" i="0" dirty="0">
                <a:solidFill>
                  <a:srgbClr val="22262B"/>
                </a:solidFill>
                <a:latin typeface="맑은 고딕"/>
              </a:rPr>
              <a:t>4 : 31b</a:t>
            </a:r>
            <a:r>
              <a:rPr sz="1300" b="0" i="0" dirty="0">
                <a:solidFill>
                  <a:srgbClr val="22262B"/>
                </a:solidFill>
                <a:latin typeface="맑은 고딕"/>
              </a:rPr>
              <a:t>)</a:t>
            </a:r>
          </a:p>
        </p:txBody>
      </p:sp>
      <p:sp>
        <p:nvSpPr>
          <p:cNvPr id="34" name="Rounded Rectangle 10">
            <a:extLst>
              <a:ext uri="{FF2B5EF4-FFF2-40B4-BE49-F238E27FC236}">
                <a16:creationId xmlns:a16="http://schemas.microsoft.com/office/drawing/2014/main" id="{007A5140-CEF0-AA20-8EAB-3A5D59A0A51D}"/>
              </a:ext>
            </a:extLst>
          </p:cNvPr>
          <p:cNvSpPr/>
          <p:nvPr/>
        </p:nvSpPr>
        <p:spPr>
          <a:xfrm>
            <a:off x="411480" y="4709160"/>
            <a:ext cx="5029200" cy="1371600"/>
          </a:xfrm>
          <a:prstGeom prst="roundRect">
            <a:avLst>
              <a:gd name="adj" fmla="val 5000"/>
            </a:avLst>
          </a:prstGeom>
          <a:solidFill>
            <a:srgbClr val="E7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DB3A79F-B2CC-2829-7B7B-51D0C6EAC066}"/>
              </a:ext>
            </a:extLst>
          </p:cNvPr>
          <p:cNvSpPr txBox="1"/>
          <p:nvPr/>
        </p:nvSpPr>
        <p:spPr>
          <a:xfrm>
            <a:off x="594360" y="4846320"/>
            <a:ext cx="46634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 dirty="0" err="1">
                <a:solidFill>
                  <a:srgbClr val="156082"/>
                </a:solidFill>
                <a:latin typeface="맑은 고딕"/>
              </a:rPr>
              <a:t>정성</a:t>
            </a:r>
            <a:r>
              <a:rPr sz="1250" b="1" i="0" dirty="0">
                <a:solidFill>
                  <a:srgbClr val="156082"/>
                </a:solidFill>
                <a:latin typeface="맑은 고딕"/>
              </a:rPr>
              <a:t> </a:t>
            </a:r>
            <a:r>
              <a:rPr sz="1250" b="1" i="0" dirty="0" err="1">
                <a:solidFill>
                  <a:srgbClr val="156082"/>
                </a:solidFill>
                <a:latin typeface="맑은 고딕"/>
              </a:rPr>
              <a:t>신호</a:t>
            </a:r>
            <a:r>
              <a:rPr sz="1250" b="1" i="0" dirty="0">
                <a:solidFill>
                  <a:srgbClr val="156082"/>
                </a:solidFill>
                <a:latin typeface="맑은 고딕"/>
              </a:rPr>
              <a:t> </a:t>
            </a:r>
            <a:r>
              <a:rPr sz="1250" b="1" i="0" dirty="0" err="1">
                <a:solidFill>
                  <a:srgbClr val="156082"/>
                </a:solidFill>
                <a:latin typeface="맑은 고딕"/>
              </a:rPr>
              <a:t>결합</a:t>
            </a:r>
            <a:endParaRPr sz="1250" b="1" i="0" dirty="0">
              <a:solidFill>
                <a:srgbClr val="156082"/>
              </a:solidFill>
              <a:latin typeface="맑은 고딕"/>
            </a:endParaR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 dirty="0">
                <a:solidFill>
                  <a:srgbClr val="22262B"/>
                </a:solidFill>
                <a:latin typeface="맑은 고딕"/>
              </a:rPr>
              <a:t>②③ </a:t>
            </a:r>
            <a:r>
              <a:rPr sz="1150" b="0" i="0" dirty="0" err="1">
                <a:solidFill>
                  <a:srgbClr val="22262B"/>
                </a:solidFill>
                <a:latin typeface="맑은 고딕"/>
              </a:rPr>
              <a:t>정성</a:t>
            </a:r>
            <a:r>
              <a:rPr sz="1150" b="0" i="0" dirty="0">
                <a:solidFill>
                  <a:srgbClr val="22262B"/>
                </a:solidFill>
                <a:latin typeface="맑은 고딕"/>
              </a:rPr>
              <a:t> </a:t>
            </a:r>
            <a:r>
              <a:rPr sz="1150" b="0" i="0" dirty="0" err="1">
                <a:solidFill>
                  <a:srgbClr val="22262B"/>
                </a:solidFill>
                <a:latin typeface="맑은 고딕"/>
              </a:rPr>
              <a:t>데이터</a:t>
            </a:r>
            <a:r>
              <a:rPr sz="1150" b="0" i="0" dirty="0">
                <a:solidFill>
                  <a:srgbClr val="22262B"/>
                </a:solidFill>
                <a:latin typeface="맑은 고딕"/>
              </a:rPr>
              <a:t> → </a:t>
            </a:r>
            <a:r>
              <a:rPr sz="1150" b="0" i="0" dirty="0" err="1">
                <a:solidFill>
                  <a:srgbClr val="22262B"/>
                </a:solidFill>
                <a:latin typeface="맑은 고딕"/>
              </a:rPr>
              <a:t>상태벡터·중심보정에</a:t>
            </a:r>
            <a:r>
              <a:rPr sz="1150" b="0" i="0" dirty="0">
                <a:solidFill>
                  <a:srgbClr val="22262B"/>
                </a:solidFill>
                <a:latin typeface="맑은 고딕"/>
              </a:rPr>
              <a:t> </a:t>
            </a:r>
            <a:r>
              <a:rPr sz="1150" b="0" i="0" dirty="0" err="1">
                <a:solidFill>
                  <a:srgbClr val="22262B"/>
                </a:solidFill>
                <a:latin typeface="맑은 고딕"/>
              </a:rPr>
              <a:t>반영</a:t>
            </a:r>
            <a:r>
              <a:rPr sz="1150" b="0" i="0" dirty="0">
                <a:solidFill>
                  <a:srgbClr val="22262B"/>
                </a:solidFill>
                <a:latin typeface="맑은 고딕"/>
              </a:rPr>
              <a:t>, </a:t>
            </a:r>
            <a:r>
              <a:rPr sz="1150" b="0" i="0" dirty="0" err="1">
                <a:solidFill>
                  <a:srgbClr val="22262B"/>
                </a:solidFill>
                <a:latin typeface="맑은 고딕"/>
              </a:rPr>
              <a:t>통계</a:t>
            </a:r>
            <a:r>
              <a:rPr sz="1150" b="0" i="0" dirty="0">
                <a:solidFill>
                  <a:srgbClr val="22262B"/>
                </a:solidFill>
                <a:latin typeface="맑은 고딕"/>
              </a:rPr>
              <a:t> </a:t>
            </a:r>
            <a:r>
              <a:rPr sz="1150" b="0" i="0" dirty="0" err="1">
                <a:solidFill>
                  <a:srgbClr val="22262B"/>
                </a:solidFill>
                <a:latin typeface="맑은 고딕"/>
              </a:rPr>
              <a:t>예측과</a:t>
            </a:r>
            <a:r>
              <a:rPr sz="1150" b="0" i="0" dirty="0">
                <a:solidFill>
                  <a:srgbClr val="22262B"/>
                </a:solidFill>
                <a:latin typeface="맑은 고딕"/>
              </a:rPr>
              <a:t> </a:t>
            </a:r>
            <a:r>
              <a:rPr sz="1150" b="0" i="0" dirty="0" err="1">
                <a:solidFill>
                  <a:srgbClr val="22262B"/>
                </a:solidFill>
                <a:latin typeface="맑은 고딕"/>
              </a:rPr>
              <a:t>도메인</a:t>
            </a:r>
            <a:r>
              <a:rPr sz="1150" b="0" i="0" dirty="0">
                <a:solidFill>
                  <a:srgbClr val="22262B"/>
                </a:solidFill>
                <a:latin typeface="맑은 고딕"/>
              </a:rPr>
              <a:t> </a:t>
            </a:r>
            <a:r>
              <a:rPr sz="1150" b="0" i="0" dirty="0" err="1">
                <a:solidFill>
                  <a:srgbClr val="22262B"/>
                </a:solidFill>
                <a:latin typeface="맑은 고딕"/>
              </a:rPr>
              <a:t>지식을</a:t>
            </a:r>
            <a:r>
              <a:rPr sz="1150" b="0" i="0" dirty="0">
                <a:solidFill>
                  <a:srgbClr val="22262B"/>
                </a:solidFill>
                <a:latin typeface="맑은 고딕"/>
              </a:rPr>
              <a:t> </a:t>
            </a:r>
            <a:r>
              <a:rPr sz="1150" b="0" i="0" dirty="0" err="1">
                <a:solidFill>
                  <a:srgbClr val="22262B"/>
                </a:solidFill>
                <a:latin typeface="맑은 고딕"/>
              </a:rPr>
              <a:t>결합</a:t>
            </a:r>
            <a:endParaRPr sz="1150" b="0" i="0" dirty="0">
              <a:solidFill>
                <a:srgbClr val="22262B"/>
              </a:solidFill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3114572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B6CC8513-2F98-102A-F2DB-9D1E82661AB0}"/>
              </a:ext>
            </a:extLst>
          </p:cNvPr>
          <p:cNvSpPr/>
          <p:nvPr/>
        </p:nvSpPr>
        <p:spPr>
          <a:xfrm>
            <a:off x="137159" y="3706906"/>
            <a:ext cx="8890299" cy="98396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DEDA37E4-5C1B-F2B9-9F70-345D7947DC52}"/>
              </a:ext>
            </a:extLst>
          </p:cNvPr>
          <p:cNvSpPr/>
          <p:nvPr/>
        </p:nvSpPr>
        <p:spPr>
          <a:xfrm>
            <a:off x="137160" y="1694329"/>
            <a:ext cx="8890299" cy="1927412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/>
          <p:cNvSpPr txBox="1"/>
          <p:nvPr/>
        </p:nvSpPr>
        <p:spPr>
          <a:xfrm>
            <a:off x="137160" y="484632"/>
            <a:ext cx="6858000" cy="31089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과업2 · 수입수요 예측모델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932688"/>
            <a:ext cx="11521440" cy="37241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⑤ </a:t>
            </a:r>
            <a:r>
              <a:rPr sz="2300" b="1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현재</a:t>
            </a:r>
            <a:r>
              <a:rPr sz="2300" b="1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300" b="1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적용</a:t>
            </a:r>
            <a:r>
              <a:rPr sz="2300" b="1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300" b="1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모델</a:t>
            </a:r>
            <a:r>
              <a:rPr sz="2300" b="1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300" b="1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구조</a:t>
            </a:r>
            <a:endParaRPr sz="2300" b="1" dirty="0">
              <a:solidFill>
                <a:srgbClr val="222222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274320" y="1828800"/>
            <a:ext cx="2743200" cy="77724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47472" y="1901952"/>
            <a:ext cx="2596896" cy="63093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정형</a:t>
            </a:r>
            <a:r>
              <a:rPr sz="1050" b="1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1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시계열</a:t>
            </a:r>
            <a:endParaRPr sz="1050" b="1" dirty="0">
              <a:solidFill>
                <a:srgbClr val="222222"/>
              </a:solidFill>
              <a:latin typeface="맑은 고딕"/>
              <a:ea typeface="맑은 고딕"/>
              <a:cs typeface="맑은 고딕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9" b="0" dirty="0" err="1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수입액·LME현물·재고</a:t>
            </a:r>
            <a:endParaRPr sz="869" b="0" dirty="0">
              <a:solidFill>
                <a:srgbClr val="6E6E6E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74320" y="2743200"/>
            <a:ext cx="2743200" cy="77724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2816352"/>
            <a:ext cx="2596896" cy="63093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정형 공변량 8종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9" b="0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가격·재고·지수·구조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3794760"/>
            <a:ext cx="2743200" cy="777240"/>
          </a:xfrm>
          <a:prstGeom prst="roundRect">
            <a:avLst/>
          </a:prstGeom>
          <a:solidFill>
            <a:srgbClr val="ECF6F0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7472" y="3867912"/>
            <a:ext cx="2596896" cy="63093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비정형</a:t>
            </a:r>
            <a:r>
              <a:rPr sz="1050" b="1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(KOMIS)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9" b="0" dirty="0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LLM </a:t>
            </a:r>
            <a:r>
              <a:rPr sz="869" b="0" dirty="0" err="1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점수·신호</a:t>
            </a:r>
            <a:endParaRPr sz="869" b="0" dirty="0">
              <a:solidFill>
                <a:srgbClr val="6E6E6E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383280" y="1828800"/>
            <a:ext cx="24688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56432" y="1901952"/>
            <a:ext cx="2322576" cy="63093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run_VAR</a:t>
            </a:r>
            <a:r>
              <a:rPr sz="1050" b="1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(t)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9" b="0" dirty="0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VAR 3변량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2743200"/>
            <a:ext cx="24688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56432" y="2816352"/>
            <a:ext cx="2322576" cy="63093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run_Chronos</a:t>
            </a:r>
            <a:r>
              <a:rPr sz="1050" b="1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(t)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9" b="0" dirty="0" err="1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공변량</a:t>
            </a:r>
            <a:r>
              <a:rPr sz="869" b="0" dirty="0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 8종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83280" y="3794760"/>
            <a:ext cx="2468880" cy="777240"/>
          </a:xfrm>
          <a:prstGeom prst="roundRect">
            <a:avLst/>
          </a:prstGeom>
          <a:solidFill>
            <a:srgbClr val="FBEEEA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56432" y="3867912"/>
            <a:ext cx="2322576" cy="63093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LLM </a:t>
            </a:r>
            <a:r>
              <a:rPr sz="1050" b="1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에이전트</a:t>
            </a:r>
            <a:endParaRPr sz="1050" b="1" dirty="0">
              <a:solidFill>
                <a:srgbClr val="222222"/>
              </a:solidFill>
              <a:latin typeface="맑은 고딕"/>
              <a:ea typeface="맑은 고딕"/>
              <a:cs typeface="맑은 고딕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9" b="0" dirty="0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heuristic 6값 </a:t>
            </a:r>
            <a:r>
              <a:rPr sz="869" b="0" dirty="0" err="1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결정</a:t>
            </a:r>
            <a:endParaRPr sz="869" b="0" dirty="0">
              <a:solidFill>
                <a:srgbClr val="6E6E6E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172200" y="2286000"/>
            <a:ext cx="2743200" cy="868680"/>
          </a:xfrm>
          <a:prstGeom prst="roundRect">
            <a:avLst/>
          </a:prstGeom>
          <a:solidFill>
            <a:srgbClr val="E3EEF9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45352" y="2359152"/>
            <a:ext cx="2596896" cy="722375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dirty="0" err="1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기준선</a:t>
            </a:r>
            <a:endParaRPr sz="1050" b="1" dirty="0">
              <a:solidFill>
                <a:srgbClr val="1F4E79"/>
              </a:solidFill>
              <a:latin typeface="맑은 고딕"/>
              <a:ea typeface="맑은 고딕"/>
              <a:cs typeface="맑은 고딕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9" b="0" dirty="0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(</a:t>
            </a:r>
            <a:r>
              <a:rPr sz="869" b="0" dirty="0" err="1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VAR+Chronos</a:t>
            </a:r>
            <a:r>
              <a:rPr sz="869" b="0" dirty="0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)/2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794760"/>
            <a:ext cx="2743200" cy="777240"/>
          </a:xfrm>
          <a:prstGeom prst="roundRect">
            <a:avLst/>
          </a:prstGeom>
          <a:solidFill>
            <a:srgbClr val="FBEEEA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45352" y="3867912"/>
            <a:ext cx="2596896" cy="63093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중심보정률</a:t>
            </a:r>
            <a:r>
              <a:rPr sz="1050" b="1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center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9" b="0" dirty="0" err="1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정광·유사월·공급</a:t>
            </a:r>
            <a:endParaRPr sz="869" b="0" dirty="0">
              <a:solidFill>
                <a:srgbClr val="6E6E6E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9418320" y="2157984"/>
            <a:ext cx="2651760" cy="658368"/>
          </a:xfrm>
          <a:prstGeom prst="roundRect">
            <a:avLst/>
          </a:prstGeom>
          <a:solidFill>
            <a:srgbClr val="E7F4EC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491472" y="2397144"/>
            <a:ext cx="2505456" cy="180049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dirty="0" err="1">
                <a:solidFill>
                  <a:srgbClr val="2F8F5B"/>
                </a:solidFill>
                <a:latin typeface="맑은 고딕"/>
                <a:ea typeface="맑은 고딕"/>
                <a:cs typeface="맑은 고딕"/>
              </a:rPr>
              <a:t>낙관</a:t>
            </a:r>
            <a:endParaRPr sz="1050" b="1" dirty="0">
              <a:solidFill>
                <a:srgbClr val="2F8F5B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9418320" y="2935225"/>
            <a:ext cx="2651760" cy="658368"/>
          </a:xfrm>
          <a:prstGeom prst="roundRect">
            <a:avLst/>
          </a:prstGeom>
          <a:solidFill>
            <a:srgbClr val="E3EEF9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491472" y="3174384"/>
            <a:ext cx="2505456" cy="180049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dirty="0" err="1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중립</a:t>
            </a:r>
            <a:endParaRPr sz="1050" b="1" dirty="0">
              <a:solidFill>
                <a:srgbClr val="1F4E79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9418320" y="3712465"/>
            <a:ext cx="2651760" cy="658368"/>
          </a:xfrm>
          <a:prstGeom prst="roundRect">
            <a:avLst/>
          </a:prstGeom>
          <a:solidFill>
            <a:srgbClr val="FBEAEA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491472" y="3951624"/>
            <a:ext cx="2505456" cy="180049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dirty="0" err="1">
                <a:solidFill>
                  <a:srgbClr val="C0392E"/>
                </a:solidFill>
                <a:latin typeface="맑은 고딕"/>
                <a:ea typeface="맑은 고딕"/>
                <a:cs typeface="맑은 고딕"/>
              </a:rPr>
              <a:t>비관</a:t>
            </a:r>
            <a:endParaRPr sz="1050" b="1" dirty="0">
              <a:solidFill>
                <a:srgbClr val="C0392E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7" name="Right Arrow 26"/>
          <p:cNvSpPr/>
          <p:nvPr/>
        </p:nvSpPr>
        <p:spPr>
          <a:xfrm>
            <a:off x="3063240" y="2743200"/>
            <a:ext cx="274320" cy="256032"/>
          </a:xfrm>
          <a:prstGeom prst="rightArrow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ight Arrow 27"/>
          <p:cNvSpPr/>
          <p:nvPr/>
        </p:nvSpPr>
        <p:spPr>
          <a:xfrm>
            <a:off x="5897880" y="2743200"/>
            <a:ext cx="274320" cy="256032"/>
          </a:xfrm>
          <a:prstGeom prst="rightArrow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ight Arrow 28"/>
          <p:cNvSpPr/>
          <p:nvPr/>
        </p:nvSpPr>
        <p:spPr>
          <a:xfrm>
            <a:off x="9070847" y="2615184"/>
            <a:ext cx="274320" cy="1883664"/>
          </a:xfrm>
          <a:prstGeom prst="rightArrow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74320" y="4846320"/>
            <a:ext cx="11612880" cy="717569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 dirty="0" err="1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역할</a:t>
            </a:r>
            <a:r>
              <a:rPr sz="1100" b="1" dirty="0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 : </a:t>
            </a:r>
            <a:r>
              <a:rPr sz="105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VAR·Chronos</a:t>
            </a:r>
            <a:r>
              <a:rPr sz="105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= </a:t>
            </a:r>
            <a:r>
              <a:rPr sz="105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예측의</a:t>
            </a:r>
            <a:r>
              <a:rPr sz="105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레벨</a:t>
            </a:r>
            <a:r>
              <a:rPr sz="105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(</a:t>
            </a:r>
            <a:r>
              <a:rPr sz="105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수준</a:t>
            </a:r>
            <a:r>
              <a:rPr sz="105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)  |  LLM = </a:t>
            </a:r>
            <a:r>
              <a:rPr sz="105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정형·정성을</a:t>
            </a:r>
            <a:r>
              <a:rPr sz="105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보고</a:t>
            </a:r>
            <a:r>
              <a:rPr sz="105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정광비중</a:t>
            </a:r>
            <a:r>
              <a:rPr sz="105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임계·유사월</a:t>
            </a:r>
            <a:r>
              <a:rPr sz="105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반영비율·공급제약</a:t>
            </a:r>
            <a:r>
              <a:rPr sz="105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% </a:t>
            </a:r>
            <a:r>
              <a:rPr sz="105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결정</a:t>
            </a:r>
            <a:r>
              <a:rPr sz="105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→ </a:t>
            </a:r>
            <a:r>
              <a:rPr sz="105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중심보정률</a:t>
            </a:r>
            <a:r>
              <a:rPr sz="105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산출</a:t>
            </a:r>
            <a:r>
              <a:rPr sz="105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 |  ±</a:t>
            </a:r>
            <a:r>
              <a:rPr lang="en-US" sz="105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n</a:t>
            </a:r>
            <a:r>
              <a:rPr sz="105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% = </a:t>
            </a:r>
            <a:r>
              <a:rPr sz="105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시나리오</a:t>
            </a:r>
            <a:r>
              <a:rPr sz="105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폭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 dirty="0" err="1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최종</a:t>
            </a:r>
            <a:r>
              <a:rPr sz="1100" b="1" dirty="0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1" dirty="0" err="1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결과</a:t>
            </a:r>
            <a:r>
              <a:rPr sz="1100" b="1" dirty="0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 : </a:t>
            </a:r>
            <a:r>
              <a:rPr sz="105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매월</a:t>
            </a:r>
            <a:r>
              <a:rPr sz="105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낙관·중립·비관</a:t>
            </a:r>
            <a:r>
              <a:rPr sz="105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3개 </a:t>
            </a:r>
            <a:r>
              <a:rPr sz="105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예측값</a:t>
            </a:r>
            <a:r>
              <a:rPr sz="105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(</a:t>
            </a:r>
            <a:r>
              <a:rPr sz="105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백만</a:t>
            </a:r>
            <a:r>
              <a:rPr sz="105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USD). </a:t>
            </a:r>
            <a:r>
              <a:rPr sz="105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검증은</a:t>
            </a:r>
            <a:r>
              <a:rPr sz="105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best-of-3가정으로 MAPE·R² </a:t>
            </a:r>
            <a:r>
              <a:rPr sz="105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산출</a:t>
            </a:r>
            <a:r>
              <a:rPr sz="105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lang="ko-KR" altLang="en-US" sz="1100" b="1" dirty="0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진행 중 </a:t>
            </a:r>
            <a:r>
              <a:rPr sz="1100" b="1" dirty="0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: </a:t>
            </a:r>
            <a:r>
              <a:rPr sz="105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다기간</a:t>
            </a:r>
            <a:r>
              <a:rPr sz="105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— </a:t>
            </a:r>
            <a:r>
              <a:rPr sz="105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단기</a:t>
            </a:r>
            <a:r>
              <a:rPr sz="105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/</a:t>
            </a:r>
            <a:r>
              <a:rPr sz="105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중기</a:t>
            </a:r>
            <a:r>
              <a:rPr sz="105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/</a:t>
            </a:r>
            <a:r>
              <a:rPr sz="105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장기</a:t>
            </a:r>
            <a:r>
              <a:rPr sz="105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전망을</a:t>
            </a:r>
            <a:r>
              <a:rPr sz="105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먼저</a:t>
            </a:r>
            <a:r>
              <a:rPr sz="105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'</a:t>
            </a:r>
            <a:r>
              <a:rPr sz="105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서술'하고</a:t>
            </a:r>
            <a:r>
              <a:rPr sz="105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, 그 </a:t>
            </a:r>
            <a:r>
              <a:rPr sz="105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논리로</a:t>
            </a:r>
            <a:r>
              <a:rPr sz="105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1~12개월 </a:t>
            </a:r>
            <a:r>
              <a:rPr sz="105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수치·시나리오</a:t>
            </a:r>
            <a:r>
              <a:rPr sz="105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산출</a:t>
            </a:r>
            <a:r>
              <a:rPr sz="105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F59C2-38B3-F43A-5B36-85F3530C7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35ADDE8-67A0-D8F7-97A3-AFAC5EE0ED54}"/>
              </a:ext>
            </a:extLst>
          </p:cNvPr>
          <p:cNvSpPr txBox="1"/>
          <p:nvPr/>
        </p:nvSpPr>
        <p:spPr>
          <a:xfrm>
            <a:off x="137160" y="484632"/>
            <a:ext cx="6858000" cy="31089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과업2 · 수입수요 예측모델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10470F-BF44-CDDF-BB88-77F11850BEE3}"/>
              </a:ext>
            </a:extLst>
          </p:cNvPr>
          <p:cNvSpPr txBox="1"/>
          <p:nvPr/>
        </p:nvSpPr>
        <p:spPr>
          <a:xfrm>
            <a:off x="256032" y="932688"/>
            <a:ext cx="11521440" cy="37241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⑥ </a:t>
            </a:r>
            <a:r>
              <a:rPr sz="2300" b="1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주요</a:t>
            </a:r>
            <a:r>
              <a:rPr sz="2300" b="1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300" b="1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실험사례</a:t>
            </a:r>
            <a:r>
              <a:rPr sz="2300" b="1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(1) — </a:t>
            </a:r>
            <a:r>
              <a:rPr lang="ko-KR" altLang="en-US" sz="2300" b="1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니켈 수입액 </a:t>
            </a:r>
            <a:r>
              <a:rPr lang="en-US" altLang="ko-KR" sz="2300" b="1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1</a:t>
            </a:r>
            <a:r>
              <a:rPr lang="ko-KR" altLang="en-US" sz="2300" b="1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개월 후 예측</a:t>
            </a:r>
            <a:endParaRPr sz="2300" b="1" dirty="0">
              <a:solidFill>
                <a:srgbClr val="222222"/>
              </a:solidFill>
              <a:latin typeface="맑은 고딕"/>
              <a:ea typeface="맑은 고딕"/>
              <a:cs typeface="맑은 고딕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39D352C-C1FA-00BA-D293-02D9C2BDD2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2258"/>
            <a:ext cx="6683102" cy="280259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9830E04B-EE69-BEAF-DA16-A21E0250A9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1556558"/>
            <a:ext cx="4978078" cy="257398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C38E15F-D911-89F0-2B80-080D23DDC787}"/>
              </a:ext>
            </a:extLst>
          </p:cNvPr>
          <p:cNvSpPr txBox="1"/>
          <p:nvPr/>
        </p:nvSpPr>
        <p:spPr>
          <a:xfrm>
            <a:off x="935557" y="4345503"/>
            <a:ext cx="4792890" cy="18255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lang="ko-KR" altLang="en-US" sz="1100" b="1" dirty="0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▲ </a:t>
            </a:r>
            <a:r>
              <a:rPr lang="en-US" altLang="ko-KR" sz="1100" b="1" dirty="0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[</a:t>
            </a:r>
            <a:r>
              <a:rPr lang="ko-KR" altLang="en-US" sz="1100" b="1" dirty="0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개발자 검증용</a:t>
            </a:r>
            <a:r>
              <a:rPr lang="en-US" altLang="ko-KR" sz="1100" b="1" dirty="0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] </a:t>
            </a:r>
            <a:r>
              <a:rPr lang="ko-KR" altLang="en-US" sz="1100" b="1" dirty="0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월별 예측과 </a:t>
            </a:r>
            <a:r>
              <a:rPr lang="ko-KR" altLang="en-US" sz="1100" b="1" dirty="0" err="1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실제값</a:t>
            </a:r>
            <a:r>
              <a:rPr lang="ko-KR" altLang="en-US" sz="1100" b="1" dirty="0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altLang="ko-KR" sz="1100" b="1" dirty="0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— </a:t>
            </a:r>
            <a:r>
              <a:rPr lang="ko-KR" altLang="en-US" sz="1100" b="1" dirty="0" err="1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핵심선</a:t>
            </a:r>
            <a:r>
              <a:rPr lang="ko-KR" altLang="en-US" sz="1100" b="1" dirty="0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 비교 </a:t>
            </a:r>
            <a:r>
              <a:rPr lang="en-US" altLang="ko-KR" sz="1100" b="1" dirty="0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(1</a:t>
            </a:r>
            <a:r>
              <a:rPr lang="ko-KR" altLang="en-US" sz="1100" b="1" dirty="0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개월 후</a:t>
            </a:r>
            <a:r>
              <a:rPr lang="en-US" altLang="ko-KR" sz="1100" b="1" dirty="0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, 41</a:t>
            </a:r>
            <a:r>
              <a:rPr lang="ko-KR" altLang="en-US" sz="1100" b="1" dirty="0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개월</a:t>
            </a:r>
            <a:r>
              <a:rPr lang="en-US" altLang="ko-KR" sz="1100" b="1" dirty="0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)</a:t>
            </a:r>
            <a:endParaRPr sz="1050" b="0" dirty="0">
              <a:solidFill>
                <a:srgbClr val="222222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FAA3FB3-33C1-6249-D819-5745F249298E}"/>
              </a:ext>
            </a:extLst>
          </p:cNvPr>
          <p:cNvSpPr txBox="1"/>
          <p:nvPr/>
        </p:nvSpPr>
        <p:spPr>
          <a:xfrm>
            <a:off x="7087754" y="4345503"/>
            <a:ext cx="4792890" cy="360291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lang="ko-KR" altLang="en-US" sz="1100" b="1" dirty="0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▲ </a:t>
            </a:r>
            <a:r>
              <a:rPr lang="en-US" altLang="ko-KR" sz="1100" b="1" dirty="0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[</a:t>
            </a:r>
            <a:r>
              <a:rPr lang="ko-KR" altLang="en-US" sz="1100" b="1" dirty="0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공단 서비스 </a:t>
            </a:r>
            <a:r>
              <a:rPr lang="en-US" altLang="ko-KR" sz="1100" b="1" dirty="0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Output </a:t>
            </a:r>
            <a:r>
              <a:rPr lang="ko-KR" altLang="en-US" sz="1100" b="1" dirty="0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예시</a:t>
            </a:r>
            <a:r>
              <a:rPr lang="en-US" altLang="ko-KR" sz="1100" b="1" dirty="0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] </a:t>
            </a:r>
            <a:r>
              <a:rPr lang="ko-KR" altLang="en-US" sz="1100" b="1" dirty="0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낙관</a:t>
            </a:r>
            <a:r>
              <a:rPr lang="en-US" altLang="ko-KR" sz="1100" b="1" dirty="0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/</a:t>
            </a:r>
            <a:r>
              <a:rPr lang="ko-KR" altLang="en-US" sz="1100" b="1" dirty="0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중립</a:t>
            </a:r>
            <a:r>
              <a:rPr lang="en-US" altLang="ko-KR" sz="1100" b="1" dirty="0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(</a:t>
            </a:r>
            <a:r>
              <a:rPr lang="ko-KR" altLang="en-US" sz="1100" b="1" dirty="0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대표</a:t>
            </a:r>
            <a:r>
              <a:rPr lang="en-US" altLang="ko-KR" sz="1100" b="1" dirty="0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)/</a:t>
            </a:r>
            <a:r>
              <a:rPr lang="ko-KR" altLang="en-US" sz="1100" b="1" dirty="0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비관 </a:t>
            </a:r>
            <a:r>
              <a:rPr lang="en-US" altLang="ko-KR" sz="1100" b="1" dirty="0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3</a:t>
            </a:r>
            <a:r>
              <a:rPr lang="ko-KR" altLang="en-US" sz="1100" b="1" dirty="0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값 </a:t>
            </a:r>
            <a:r>
              <a:rPr lang="en-US" altLang="ko-KR" sz="1100" b="1" dirty="0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+ </a:t>
            </a:r>
            <a:r>
              <a:rPr lang="ko-KR" altLang="en-US" sz="1100" b="1" dirty="0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근거 </a:t>
            </a:r>
            <a:r>
              <a:rPr lang="en-US" altLang="ko-KR" sz="1100" b="1" dirty="0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(</a:t>
            </a:r>
            <a:r>
              <a:rPr lang="ko-KR" altLang="en-US" sz="1100" b="1" dirty="0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검증그래프와 분리</a:t>
            </a:r>
            <a:r>
              <a:rPr lang="en-US" altLang="ko-KR" sz="1100" b="1" dirty="0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)</a:t>
            </a:r>
            <a:endParaRPr sz="1050" b="0" dirty="0">
              <a:solidFill>
                <a:srgbClr val="222222"/>
              </a:solidFill>
              <a:latin typeface="맑은 고딕"/>
              <a:ea typeface="맑은 고딕"/>
              <a:cs typeface="맑은 고딕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CDA00DB5-5659-C9F0-4BF0-CAFE504A45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3624" y="4705794"/>
            <a:ext cx="3760566" cy="1925204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95E6B716-5EFE-A66C-CBCC-B8C89B7A67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9189" y="5078138"/>
            <a:ext cx="4220164" cy="1514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99801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" y="484632"/>
            <a:ext cx="6858000" cy="31089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과업2 · 수입수요 예측모델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932688"/>
            <a:ext cx="11521440" cy="37241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⑥ </a:t>
            </a:r>
            <a:r>
              <a:rPr sz="2300" b="1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주요</a:t>
            </a:r>
            <a:r>
              <a:rPr sz="2300" b="1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300" b="1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실험사례</a:t>
            </a:r>
            <a:r>
              <a:rPr sz="2300" b="1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(2) — </a:t>
            </a:r>
            <a:r>
              <a:rPr lang="ko-KR" altLang="en-US" sz="2300" b="1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니켈 수입액 </a:t>
            </a:r>
            <a:r>
              <a:rPr sz="2300" b="1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1~12개월 </a:t>
            </a:r>
            <a:r>
              <a:rPr sz="2300" b="1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장기예측</a:t>
            </a:r>
            <a:endParaRPr sz="2300" b="1" dirty="0">
              <a:solidFill>
                <a:srgbClr val="222222"/>
              </a:solidFill>
              <a:latin typeface="맑은 고딕"/>
              <a:ea typeface="맑은 고딕"/>
              <a:cs typeface="맑은 고딕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3863826-AE2B-CBB2-EBF2-1F06E6902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3" y="1679627"/>
            <a:ext cx="5839968" cy="294411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2DAB4E04-A92B-54C6-5DF5-A7B94B48E0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162" y="4991589"/>
            <a:ext cx="5867709" cy="1422718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7942FA79-F824-FC1A-3991-BA15CEA89B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0014" y="1679627"/>
            <a:ext cx="5177048" cy="2613574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FE7922E9-7A97-37C1-0A62-7F68BDFFD2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1614" y="4475182"/>
            <a:ext cx="3893847" cy="2367657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" y="484632"/>
            <a:ext cx="6858000" cy="31089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과업2 · 수입수요 예측모델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932688"/>
            <a:ext cx="11521440" cy="37241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⑥ </a:t>
            </a:r>
            <a:r>
              <a:rPr sz="2300" b="1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주요</a:t>
            </a:r>
            <a:r>
              <a:rPr sz="2300" b="1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300" b="1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실험사례</a:t>
            </a:r>
            <a:r>
              <a:rPr sz="2300" b="1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(3) — </a:t>
            </a:r>
            <a:r>
              <a:rPr sz="2300" b="1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수입중량</a:t>
            </a:r>
            <a:r>
              <a:rPr sz="2300" b="1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300" b="1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예측</a:t>
            </a:r>
            <a:endParaRPr sz="2300" b="1" dirty="0">
              <a:solidFill>
                <a:srgbClr val="222222"/>
              </a:solidFill>
              <a:latin typeface="맑은 고딕"/>
              <a:ea typeface="맑은 고딕"/>
              <a:cs typeface="맑은 고딕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B747A5E-09A1-D57F-B3FA-44D078883C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750" y="2822134"/>
            <a:ext cx="6341992" cy="26084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DF5996B-AC51-691F-2E11-D0B523C99D46}"/>
              </a:ext>
            </a:extLst>
          </p:cNvPr>
          <p:cNvSpPr txBox="1"/>
          <p:nvPr/>
        </p:nvSpPr>
        <p:spPr>
          <a:xfrm>
            <a:off x="722555" y="1555387"/>
            <a:ext cx="11612880" cy="45006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lang="en-US" altLang="ko-KR" sz="1100" b="1" dirty="0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- </a:t>
            </a:r>
            <a:r>
              <a:rPr lang="ko-KR" altLang="en-US" sz="1100" b="1" dirty="0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동일 구조</a:t>
            </a:r>
            <a:r>
              <a:rPr lang="en-US" altLang="ko-KR" sz="1100" b="1" dirty="0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(</a:t>
            </a:r>
            <a:r>
              <a:rPr lang="en-US" altLang="ko-KR" sz="1100" b="1" dirty="0" err="1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VAR+Chronos</a:t>
            </a:r>
            <a:r>
              <a:rPr lang="en-US" altLang="ko-KR" sz="1100" b="1" dirty="0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 → </a:t>
            </a:r>
            <a:r>
              <a:rPr lang="ko-KR" altLang="en-US" sz="1100" b="1" dirty="0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시나리오</a:t>
            </a:r>
            <a:r>
              <a:rPr lang="en-US" altLang="ko-KR" sz="1100" b="1" dirty="0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)</a:t>
            </a:r>
            <a:r>
              <a:rPr lang="ko-KR" altLang="en-US" sz="1100" b="1" dirty="0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에서 타깃만 </a:t>
            </a:r>
            <a:r>
              <a:rPr lang="ko-KR" altLang="en-US" sz="1100" b="1" dirty="0" err="1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수입액→수입중량</a:t>
            </a:r>
            <a:r>
              <a:rPr lang="en-US" altLang="ko-KR" sz="1100" b="1" dirty="0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(kg)</a:t>
            </a:r>
            <a:r>
              <a:rPr lang="ko-KR" altLang="en-US" sz="1100" b="1" dirty="0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으로 교체</a:t>
            </a:r>
            <a:r>
              <a:rPr lang="en-US" altLang="ko-KR" sz="1100" b="1" dirty="0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lang="en-US" altLang="ko-KR" sz="1100" b="1" dirty="0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- </a:t>
            </a:r>
            <a:r>
              <a:rPr lang="ko-KR" altLang="en-US" sz="1100" b="1" dirty="0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수입중량은 월별 통관 물량이 </a:t>
            </a:r>
            <a:r>
              <a:rPr lang="ko-KR" altLang="en-US" sz="1100" b="1" dirty="0" err="1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벌크선</a:t>
            </a:r>
            <a:r>
              <a:rPr lang="ko-KR" altLang="en-US" sz="1100" b="1" dirty="0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1100" b="1" dirty="0" err="1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로트</a:t>
            </a:r>
            <a:r>
              <a:rPr lang="ko-KR" altLang="en-US" sz="1100" b="1" dirty="0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 단위로 극심하게 진동</a:t>
            </a:r>
            <a:r>
              <a:rPr lang="en-US" altLang="ko-KR" sz="1100" b="1" dirty="0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(</a:t>
            </a:r>
            <a:r>
              <a:rPr lang="ko-KR" altLang="en-US" sz="1100" b="1" dirty="0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기준선 </a:t>
            </a:r>
            <a:r>
              <a:rPr lang="en-US" altLang="ko-KR" sz="1100" b="1" dirty="0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MAPE 41.44%)</a:t>
            </a:r>
            <a:r>
              <a:rPr lang="ko-KR" altLang="en-US" sz="1100" b="1" dirty="0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해 수입액</a:t>
            </a:r>
            <a:r>
              <a:rPr lang="en-US" altLang="ko-KR" sz="1100" b="1" dirty="0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(</a:t>
            </a:r>
            <a:r>
              <a:rPr lang="ko-KR" altLang="en-US" sz="1100" b="1" dirty="0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기준선 </a:t>
            </a:r>
            <a:r>
              <a:rPr lang="en-US" altLang="ko-KR" sz="1100" b="1" dirty="0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14.3%)</a:t>
            </a:r>
            <a:r>
              <a:rPr lang="ko-KR" altLang="en-US" sz="1100" b="1" dirty="0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보다 크게 어려움</a:t>
            </a:r>
            <a:r>
              <a:rPr lang="en-US" altLang="ko-KR" sz="1100" b="1" dirty="0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. </a:t>
            </a:r>
            <a:r>
              <a:rPr lang="ko-KR" altLang="en-US" sz="1100" b="1" dirty="0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방향 적중은 </a:t>
            </a:r>
            <a:r>
              <a:rPr lang="en-US" altLang="ko-KR" sz="1100" b="1" dirty="0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95%</a:t>
            </a:r>
            <a:r>
              <a:rPr lang="ko-KR" altLang="en-US" sz="1100" b="1" dirty="0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로 높음</a:t>
            </a:r>
            <a:r>
              <a:rPr lang="en-US" altLang="ko-KR" sz="1100" b="1" dirty="0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.</a:t>
            </a:r>
            <a:endParaRPr sz="1050" b="0" dirty="0">
              <a:solidFill>
                <a:srgbClr val="222222"/>
              </a:solidFill>
              <a:latin typeface="맑은 고딕"/>
              <a:ea typeface="맑은 고딕"/>
              <a:cs typeface="맑은 고딕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2CF4C4A-6825-EEB1-7314-6887048C93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0477" y="2255736"/>
            <a:ext cx="4779563" cy="4148149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" y="484632"/>
            <a:ext cx="6858000" cy="31089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과업2 · 수입수요 예측모델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932688"/>
            <a:ext cx="11521440" cy="54864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⑦ </a:t>
            </a:r>
            <a:r>
              <a:rPr sz="2300" b="1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현재</a:t>
            </a:r>
            <a:r>
              <a:rPr sz="2300" b="1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300" b="1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성능</a:t>
            </a:r>
            <a:r>
              <a:rPr sz="2300" b="1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및 </a:t>
            </a:r>
            <a:r>
              <a:rPr sz="2300" b="1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한계</a:t>
            </a:r>
            <a:endParaRPr sz="2300" b="1" dirty="0">
              <a:solidFill>
                <a:srgbClr val="222222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162749" y="1789356"/>
            <a:ext cx="2743200" cy="4206240"/>
          </a:xfrm>
          <a:prstGeom prst="roundRect">
            <a:avLst/>
          </a:prstGeom>
          <a:solidFill>
            <a:srgbClr val="EC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345629" y="1926516"/>
            <a:ext cx="2468880" cy="36576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2F8F5B"/>
                </a:solidFill>
                <a:latin typeface="맑은 고딕"/>
                <a:ea typeface="맑은 고딕"/>
                <a:cs typeface="맑은 고딕"/>
              </a:rPr>
              <a:t>확정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45629" y="2383716"/>
            <a:ext cx="2468880" cy="1424364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0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100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데이터</a:t>
            </a:r>
            <a:r>
              <a:rPr sz="10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인벤토리·Feature</a:t>
            </a:r>
            <a:r>
              <a:rPr sz="10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선별</a:t>
            </a:r>
            <a:endParaRPr sz="1000" b="0" dirty="0">
              <a:solidFill>
                <a:srgbClr val="222222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0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100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후보</a:t>
            </a:r>
            <a:r>
              <a:rPr sz="10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모델</a:t>
            </a:r>
            <a:r>
              <a:rPr sz="10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비교검증</a:t>
            </a:r>
            <a:endParaRPr sz="1000" b="0" dirty="0">
              <a:solidFill>
                <a:srgbClr val="222222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0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100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수입액</a:t>
            </a:r>
            <a:r>
              <a:rPr sz="10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1개월 </a:t>
            </a:r>
            <a:r>
              <a:rPr sz="100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시나리오</a:t>
            </a:r>
            <a:r>
              <a:rPr sz="10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구조</a:t>
            </a:r>
            <a:endParaRPr sz="1000" b="0" dirty="0">
              <a:solidFill>
                <a:srgbClr val="222222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0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100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비정형</a:t>
            </a:r>
            <a:r>
              <a:rPr sz="10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반영·유사사례</a:t>
            </a:r>
            <a:r>
              <a:rPr sz="10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로직</a:t>
            </a:r>
            <a:endParaRPr sz="1000" b="0" dirty="0">
              <a:solidFill>
                <a:srgbClr val="222222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0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lang="ko-KR" altLang="en-US" sz="10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수입액 </a:t>
            </a:r>
            <a:r>
              <a:rPr sz="100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다기간·수입중량</a:t>
            </a:r>
            <a:r>
              <a:rPr sz="10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실험</a:t>
            </a:r>
            <a:endParaRPr sz="1000" b="0" dirty="0">
              <a:solidFill>
                <a:srgbClr val="222222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0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· LLM </a:t>
            </a:r>
            <a:r>
              <a:rPr sz="100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비교</a:t>
            </a:r>
            <a:endParaRPr sz="1000" b="0" dirty="0">
              <a:solidFill>
                <a:srgbClr val="222222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997389" y="1789356"/>
            <a:ext cx="2743200" cy="4206240"/>
          </a:xfrm>
          <a:prstGeom prst="roundRect">
            <a:avLst/>
          </a:prstGeom>
          <a:solidFill>
            <a:srgbClr val="FB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80269" y="1926516"/>
            <a:ext cx="2468880" cy="210827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dirty="0" err="1">
                <a:solidFill>
                  <a:srgbClr val="C0392E"/>
                </a:solidFill>
                <a:latin typeface="맑은 고딕"/>
                <a:ea typeface="맑은 고딕"/>
                <a:cs typeface="맑은 고딕"/>
              </a:rPr>
              <a:t>탐색</a:t>
            </a:r>
            <a:r>
              <a:rPr sz="1250" b="1" dirty="0">
                <a:solidFill>
                  <a:srgbClr val="C0392E"/>
                </a:solidFill>
                <a:latin typeface="맑은 고딕"/>
                <a:ea typeface="맑은 고딕"/>
                <a:cs typeface="맑은 고딕"/>
              </a:rPr>
              <a:t> · </a:t>
            </a:r>
            <a:r>
              <a:rPr sz="1250" b="1" dirty="0" err="1">
                <a:solidFill>
                  <a:srgbClr val="C0392E"/>
                </a:solidFill>
                <a:latin typeface="맑은 고딕"/>
                <a:ea typeface="맑은 고딕"/>
                <a:cs typeface="맑은 고딕"/>
              </a:rPr>
              <a:t>미해결</a:t>
            </a:r>
            <a:r>
              <a:rPr lang="en-US" sz="1250" b="1" dirty="0">
                <a:solidFill>
                  <a:srgbClr val="C0392E"/>
                </a:solidFill>
                <a:latin typeface="맑은 고딕"/>
                <a:ea typeface="맑은 고딕"/>
                <a:cs typeface="맑은 고딕"/>
              </a:rPr>
              <a:t> (</a:t>
            </a:r>
            <a:r>
              <a:rPr lang="ko-KR" altLang="en-US" sz="1250" b="1" dirty="0">
                <a:solidFill>
                  <a:srgbClr val="C0392E"/>
                </a:solidFill>
                <a:latin typeface="맑은 고딕"/>
                <a:ea typeface="맑은 고딕"/>
                <a:cs typeface="맑은 고딕"/>
              </a:rPr>
              <a:t>추후 계획</a:t>
            </a:r>
            <a:r>
              <a:rPr lang="en-US" altLang="ko-KR" sz="1250" b="1" dirty="0">
                <a:solidFill>
                  <a:srgbClr val="C0392E"/>
                </a:solidFill>
                <a:latin typeface="맑은 고딕"/>
                <a:ea typeface="맑은 고딕"/>
                <a:cs typeface="맑은 고딕"/>
              </a:rPr>
              <a:t>)</a:t>
            </a:r>
            <a:endParaRPr sz="1250" b="1" dirty="0">
              <a:solidFill>
                <a:srgbClr val="C0392E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180269" y="2383716"/>
            <a:ext cx="2468880" cy="67031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0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lang="en-US" sz="100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lang="ko-KR" altLang="en-US" sz="100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설명 및 요약 기능 </a:t>
            </a:r>
            <a:r>
              <a:rPr sz="10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en-US" sz="10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10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시나리오 확률</a:t>
            </a:r>
            <a:endParaRPr sz="1000" b="0" dirty="0">
              <a:solidFill>
                <a:srgbClr val="222222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0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lang="ko-KR" altLang="en-US" sz="10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수입중량 예측 </a:t>
            </a:r>
            <a:r>
              <a:rPr sz="10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LLM </a:t>
            </a:r>
            <a:r>
              <a:rPr sz="100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다기간</a:t>
            </a:r>
            <a:r>
              <a:rPr sz="10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확장</a:t>
            </a:r>
            <a:endParaRPr sz="1000" b="0" dirty="0">
              <a:solidFill>
                <a:srgbClr val="222222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0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100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외부데이터</a:t>
            </a:r>
            <a:r>
              <a:rPr sz="10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(GTA/SMM) </a:t>
            </a:r>
            <a:r>
              <a:rPr lang="ko-KR" altLang="en-US" sz="100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고려</a:t>
            </a:r>
            <a:endParaRPr sz="1000" b="0" dirty="0">
              <a:solidFill>
                <a:srgbClr val="222222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3434</Words>
  <Application>Microsoft Office PowerPoint</Application>
  <PresentationFormat>와이드스크린</PresentationFormat>
  <Paragraphs>468</Paragraphs>
  <Slides>46</Slides>
  <Notes>27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46</vt:i4>
      </vt:variant>
    </vt:vector>
  </HeadingPairs>
  <TitlesOfParts>
    <vt:vector size="59" baseType="lpstr">
      <vt:lpstr>Freesentation 4 Regular</vt:lpstr>
      <vt:lpstr>Freesentation 5 Medium</vt:lpstr>
      <vt:lpstr>Noto Sans CJK KR Regular</vt:lpstr>
      <vt:lpstr>Pretendard Light</vt:lpstr>
      <vt:lpstr>맑은 고딕</vt:lpstr>
      <vt:lpstr>맑은 고딕</vt:lpstr>
      <vt:lpstr>프리젠테이션 4 Regular</vt:lpstr>
      <vt:lpstr>프리젠테이션 6 SemiBold</vt:lpstr>
      <vt:lpstr>프리젠테이션 7 Bold</vt:lpstr>
      <vt:lpstr>Arial</vt:lpstr>
      <vt:lpstr>Cambria Math</vt:lpstr>
      <vt:lpstr>Wingdings</vt:lpstr>
      <vt:lpstr>1_Office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다은 양</dc:creator>
  <cp:lastModifiedBy>월봉 임</cp:lastModifiedBy>
  <cp:revision>49</cp:revision>
  <dcterms:created xsi:type="dcterms:W3CDTF">2026-07-21T03:46:12Z</dcterms:created>
  <dcterms:modified xsi:type="dcterms:W3CDTF">2026-08-18T14:25:46Z</dcterms:modified>
</cp:coreProperties>
</file>