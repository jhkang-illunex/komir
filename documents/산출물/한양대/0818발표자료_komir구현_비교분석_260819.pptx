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20"/>
    <p:sldId id="270" r:id="rId21"/>
    <p:sldId id="271" r:id="rId22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B9D2EA"/>
                </a:solidFill>
                <a:latin typeface="맑은 고딕"/>
              </a:rPr>
              <a:t>AI 기반 핵심광물 위기진단·수요예측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0818 발표자료 × komir 구현 비교분석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D9E6F2"/>
                </a:solidFill>
                <a:latin typeface="맑은 고딕"/>
              </a:rPr>
              <a:t>광해공단 과업지시서 요구사항 대비 — 잘한 점 · 부족한 점 · 참고할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FB6D4"/>
                </a:solidFill>
                <a:latin typeface="맑은 고딕"/>
              </a:rPr>
              <a:t>2026-08-19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A3C4"/>
                </a:solidFill>
                <a:latin typeface="맑은 고딕"/>
              </a:rPr>
              <a:t>※ 비교 대상: documents/산출물/한양대/0818_일루넥스_발표자료(최종).pptx  ·  komir 저장소 inhouse/geo·inhouse/mineral_supply_risk 구현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75B6"/>
                </a:solidFill>
                <a:latin typeface="맑은 고딕"/>
              </a:rPr>
              <a:t>1. 비교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3864"/>
                </a:solidFill>
                <a:latin typeface="맑은 고딕"/>
              </a:rPr>
              <a:t>무엇을, 어떻게 비교했나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864"/>
                </a:solidFill>
                <a:latin typeface="맑은 고딕"/>
              </a:rPr>
              <a:t>비교 대상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맑은 고딕"/>
              </a:rPr>
              <a:t>■ “0818 발표자료”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· 과업1·2 주간보고서(2026.08.18), 46슬라이드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· 정형(Chronos-2 시계열)+비정형(Gemma4 LLM) 결합 접근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맑은 고딕"/>
              </a:rPr>
              <a:t>■ “komir 구현”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· 이 저장소 inhouse/geo(지정학지수)+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· inhouse/mineral_supply_risk(진단·예측) 실동작 파이프라인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· 실데이터 기반 무인 가동 중(주간/월간 cron 체인)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864"/>
                </a:solidFill>
                <a:latin typeface="맑은 고딕"/>
              </a:rPr>
              <a:t>비교 원칙 (수치 왜곡 방지)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600200"/>
            <a:ext cx="5577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262626"/>
                </a:solidFill>
                <a:latin typeface="맑은 고딕"/>
              </a:rPr>
              <a:t>■ 두 자료의 수치는 광종범위·예측지평·데이터원천·검증방법이 서로 달라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· 액면(숫자만) 비교 불가 — 모든 수치에 [광종/지평/지표/프레임] 라벨 병기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262626"/>
                </a:solidFill>
                <a:latin typeface="맑은 고딕"/>
              </a:rPr>
              <a:t>■ “잠재적 성능”(오라클 선택 등 사후적 수치)과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· “실측 검증 성능”을 구분해 표기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262626"/>
                </a:solidFill>
                <a:latin typeface="맑은 고딕"/>
              </a:rPr>
              <a:t>■ komir 수치는 WORKLOG 실측 기록 기준으로 인용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맑은 고딕"/>
              </a:rPr>
              <a:t>· (각주에 문서·측정일자 명시)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864"/>
                </a:solidFill>
                <a:latin typeface="맑은 고딕"/>
              </a:rPr>
              <a:t>비교 범위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262626"/>
                </a:solidFill>
                <a:latin typeface="맑은 고딕"/>
              </a:rPr>
              <a:t>■ 과업1(위기진단) / 과업2(수요예측) 각각 — 접근법 비교 → 정량 비교 → 요구사항 대비 갭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262626"/>
                </a:solidFill>
                <a:latin typeface="맑은 고딕"/>
              </a:rPr>
              <a:t>■ 판단 기준 = 광해공단 과업지시서(2026.06.25, ㈜일루넥스 작성) 붙임1·붙임2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262626"/>
                </a:solidFill>
                <a:latin typeface="맑은 고딕"/>
              </a:rPr>
              <a:t>■ 본 자료는 komir 저장소 관점의 내부 비교이며, 두 접근의 소속·주체 관계는 단정하지 않음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595959"/>
                </a:solidFill>
                <a:latin typeface="맑은 고딕"/>
              </a:rPr>
              <a:t>출처: documents/산출물/한양대/0818_일루넥스_발표자료(최종).pptx · documents/meta/{WORKLOG,DATA_REGISTRY}.md · 챔피언_스코어보드_260727.md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75B6"/>
                </a:solidFill>
                <a:latin typeface="맑은 고딕"/>
              </a:rPr>
              <a:t>2. 판단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3864"/>
                </a:solidFill>
                <a:latin typeface="맑은 고딕"/>
              </a:rPr>
              <a:t>광해공단 과업지시서 핵심 요구사항 (2026-06-25)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55321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114800"/>
              </a:tblGrid>
              <a:tr h="405765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과업1 — 위기진단 지표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5광종(동·니켈·리튬·코발트·희토류 1종)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필수 변수 6개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①시장변동성 ②HHI수입편중도 ③CAGR수입액증가도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④세계공급부족(소비/공급) ⑤세계생산·매장량독점도(HHI) ⑥지정학적리스크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신규지표 요구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공급망압력지수·원자재지수·ESG지수 등 신규 개발 포함 명시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운용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4단계 경보(관심·주의·경계·심각), 매주 평가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「자원안보특별법 시행령」 경보단계 기준 근거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산출 개념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“현시점 진단(diagnosis)” — 미래시점 위기 예측이 아님(명시)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모델링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로지스틱회귀·Decision Tree·RF 등 다각적 비교검증 → 최적모델 선정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검증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공단 제시 시나리오 검증 + 민감도분석 + 가중치 보정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234440"/>
          <a:ext cx="5532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과업2 — 국내수입 추정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산출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12개월 뒤 수입액(천달러)·수입물량(ton) 예측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주기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월 단위 산출 원칙, 분기·연간 정기 산출 구조도 요구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5광종 전체, 공통기준+광종별 차별화 변수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검증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공단 제시 시나리오 검증 + 민감도분석 + 보정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329184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3864"/>
                </a:solidFill>
                <a:latin typeface="맑은 고딕"/>
              </a:rPr>
              <a:t>공통 산출물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3611880"/>
            <a:ext cx="5532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262626"/>
                </a:solidFill>
                <a:latin typeface="맑은 고딕"/>
              </a:rPr>
              <a:t>■ 실행 소스코드·학습완료 모델파일·추론 스크립트·실행환경 정보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262626"/>
                </a:solidFill>
                <a:latin typeface="맑은 고딕"/>
              </a:rPr>
              <a:t>■ 모델 개발 보고서(데이터·변수/라벨 정의·방법론·학습 및 검증결과)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262626"/>
                </a:solidFill>
                <a:latin typeface="맑은 고딕"/>
              </a:rPr>
              <a:t>■ 광종별 입력·출력·산출·검증결과 각각 구분 가능해야 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5257800"/>
            <a:ext cx="5532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62828"/>
                </a:solidFill>
                <a:latin typeface="맑은 고딕"/>
              </a:rPr>
              <a:t>사업기간: ~2026년 9월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595959"/>
                </a:solidFill>
                <a:latin typeface="맑은 고딕"/>
              </a:rPr>
              <a:t>출처: documents/260625 AI 기반 핵심광물 위기진단 및 수요예측 모델 개발 과업지시서_일루넥스.pdf 붙임1·붙임2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75B6"/>
                </a:solidFill>
                <a:latin typeface="맑은 고딕"/>
              </a:rPr>
              <a:t>3. 과업1 — 위기진단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3864"/>
                </a:solidFill>
                <a:latin typeface="맑은 고딕"/>
              </a:rPr>
              <a:t>접근법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112928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709160"/>
                <a:gridCol w="4754880"/>
              </a:tblGrid>
              <a:tr h="8077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0818 발표자료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komir 구현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방법론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정형(Chronos-2 4주 가격예측)+비정형(Gemma4 요약)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→ 가격이격률 등급×비정형 요약 LLM 종합판정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통계 피처공학(Ridge 회귀·광종풀링)+GKG기반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지정학지수(NB2 확률보정)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지정학 리스크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5요인 수동 루브릭(사건현실화·공급연결성·실제공급차질·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지속성·영향범위, 0~4점) 대표사례 채점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GKG 대량이벤트(29.5만건, 관련성99.5%) 자동추출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+ NB2 확률모델(Brier 검증)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검증 범위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니켈 1개 광종, 약 6개월(이벤트 구간) 스팟체크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5광종 전체, 워크포워드 3폴드, 수년치(2020+) 백테스트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경보 단계 표기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슬라이드상 “5단계” 표기(슬라이드2)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4단계(관심·주의·경계·심각) — 과업지시서·화면기획과 일치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미래정보 사용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Chronos-2 미래 4주 가격예측을 진단 입력으로 사용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진단시점까지 데이터만 사용(as-of) — 단 y_lag1(전월 라벨)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의존 매우 높음, 별도 캐치(슬라이드7)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595959"/>
                </a:solidFill>
                <a:latin typeface="맑은 고딕"/>
              </a:rPr>
              <a:t>표기 불일치(4단계/5단계)는 어느 쪽이 “틀렸다”는 판단이 아니라 정렬 확인이 필요하다는 관찰 — 과업지시서 붙임2·화면기획안 v1.3 모두 4단계 명시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75B6"/>
                </a:solidFill>
                <a:latin typeface="맑은 고딕"/>
              </a:rPr>
              <a:t>3. 과업1 — 위기진단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3864"/>
                </a:solidFill>
                <a:latin typeface="맑은 고딕"/>
              </a:rPr>
              <a:t>정량 비교 및 필수변수 6종 충족 여부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3864"/>
                </a:solidFill>
                <a:latin typeface="맑은 고딕"/>
              </a:rPr>
              <a:t>정량 비교 (프레임 상이 — 액면비교 불가)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53949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057400"/>
                <a:gridCol w="2103120"/>
              </a:tblGrid>
              <a:tr h="67437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0818 발표자료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komir 구현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검증방법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특정 시점 스팟체크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(2/28·4/11·7/25 등)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워크포워드 3폴드+부트스트랩CI+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이웃강건성+재시도금지목록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정량지표(QWK등)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미제시 — 정답라벨 부재로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정량평가 불가(슬라이드24 명시)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QWK 0.934(풀링, diagnosis_opt 프레임, 08-18)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0.9687(15셀 매트릭스, 07-27 스코어보드 프레임)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나이브 기준선 대비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제시 없음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전월단계유지 나이브 QWK 0.886 대비 +0.048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(모델 순기여는 제한적임을 자체 인지)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43484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1">
                <a:solidFill>
                  <a:srgbClr val="595959"/>
                </a:solidFill>
                <a:latin typeface="맑은 고딕"/>
              </a:rPr>
              <a:t>■ 두 QWK 수치가 다른 것은 측정 프레임(diagnosis_opt vs 15셀 매트릭스)이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>
                <a:solidFill>
                  <a:srgbClr val="595959"/>
                </a:solidFill>
                <a:latin typeface="맑은 고딕"/>
              </a:rPr>
              <a:t>· 달라서다 — 08-18 expanding-window 리팩터 이후 값이 최신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1">
                <a:solidFill>
                  <a:srgbClr val="595959"/>
                </a:solidFill>
                <a:latin typeface="맑은 고딕"/>
              </a:rPr>
              <a:t>■ 헤드라인 QWK는 y_lag1(전월 라벨) 의존이 dQWK 0.808로 압도적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>
                <a:solidFill>
                  <a:srgbClr val="595959"/>
                </a:solidFill>
                <a:latin typeface="맑은 고딕"/>
              </a:rPr>
              <a:t>· → KOMIS 실제 발행지연 미확인 상태라 성능이 “지연=1개월” 가정에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>
                <a:solidFill>
                  <a:srgbClr val="595959"/>
                </a:solidFill>
                <a:latin typeface="맑은 고딕"/>
              </a:rPr>
              <a:t>· 낙관적으로 의존(자체 감사로 인지, 발주처 확인 대기중)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18872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3864"/>
                </a:solidFill>
                <a:latin typeface="맑은 고딕"/>
              </a:rPr>
              <a:t>과업지시서 필수변수 6종 충족 여부 (komir)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1554480"/>
          <a:ext cx="55321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54680"/>
              </a:tblGrid>
              <a:tr h="554355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필수변수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①시장변동성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E7D32"/>
                          </a:solidFill>
                          <a:latin typeface="맑은 고딕"/>
                        </a:rPr>
                        <a:t>충족 — volatility_12w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②HHI 수입편중도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E7D32"/>
                          </a:solidFill>
                          <a:latin typeface="맑은 고딕"/>
                        </a:rPr>
                        <a:t>충족 — import_hhi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③CAGR 수입액증가도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E7D32"/>
                          </a:solidFill>
                          <a:latin typeface="맑은 고딕"/>
                        </a:rPr>
                        <a:t>충족 — import_cagr3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④세계공급부족(소비/공급)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67E22"/>
                          </a:solidFill>
                          <a:latin typeface="맑은 고딕"/>
                        </a:rPr>
                        <a:t>미확인 — 대응 피처 확인 안 됨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67E22"/>
                          </a:solidFill>
                          <a:latin typeface="맑은 고딕"/>
                        </a:rPr>
                        <a:t>(fgap_ni 등 유사 후보는 검정만, 미채택)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⑤세계생산·매장량독점도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E7D32"/>
                          </a:solidFill>
                          <a:latin typeface="맑은 고딕"/>
                        </a:rPr>
                        <a:t>충족 — 지수(kr_exposure) 경로로 반영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⑥지정학적리스크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E7D32"/>
                          </a:solidFill>
                          <a:latin typeface="맑은 고딕"/>
                        </a:rPr>
                        <a:t>충족 — geopolitical_risk(geo_index)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신규지표 3종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</a:rPr>
                        <a:t>(공급망압력·원자재·ESG지수)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C62828"/>
                          </a:solidFill>
                          <a:latin typeface="맑은 고딕"/>
                        </a:rPr>
                        <a:t>공백 — 원자재지수 3종 수집했으나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C62828"/>
                          </a:solidFill>
                          <a:latin typeface="맑은 고딕"/>
                        </a:rPr>
                        <a:t>라벨오염 우려로 진단모델 미채택,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C62828"/>
                          </a:solidFill>
                          <a:latin typeface="맑은 고딕"/>
                        </a:rPr>
                        <a:t>GSCPI·ESG는 미착수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595959"/>
                </a:solidFill>
                <a:latin typeface="맑은 고딕"/>
              </a:rPr>
              <a:t>근거: outputs/model_opt/report.md(08-18)·챔피언_스코어보드_260727.md·ylag_publication_delay_sensitivity.md·load_market_aux.py·diagnosis_aux_features_eval.py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75B6"/>
                </a:solidFill>
                <a:latin typeface="맑은 고딕"/>
              </a:rPr>
              <a:t>4. 과업2 — 수요예측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3864"/>
                </a:solidFill>
                <a:latin typeface="맑은 고딕"/>
              </a:rPr>
              <a:t>접근법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112928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4800600"/>
                <a:gridCol w="4800600"/>
              </a:tblGrid>
              <a:tr h="8077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0818 발표자료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komir 구현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방법론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VAR+Chronos-2 앙상블(기준선 레벨)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+ LLM 중심보정(시나리오 생성)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ExtraTrees+MIDAS 혼합주기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직접 다지평(h1~12), 광종풀링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대상 범위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니켈 1개 광종만. 수입액 위주,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수입중량(ton)은 “진행중”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5광종 전체 × 수입액(unit)·수입중량(ton) 둘 다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× h1~12 전 지평 완료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시나리오/확률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낙관/중립/비관 3분류 서술.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확률 자동산출은 “후속작업”(현재 best-of-3 휴리스틱)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점추정 + conformal 분위구간(q10/q90)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— 3분류 내러티브 프레이밍은 없음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정성정보 결합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KOMIS 월간보고서 LLM점수 9종+구조화신호 3종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→ 상태벡터(35차원)·중심보정률에 직접 반영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무역·가격·거시 피처만 사용.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정성 텍스트 직접결합 없음(지정학지수가 간접 경로)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1~12개월 확장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완료(수입액), 수입중량 확장은 진행중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완료(수입액·수입중량 모두 h1~12)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595959"/>
                </a:solidFill>
                <a:latin typeface="맑은 고딕"/>
              </a:rPr>
              <a:t>출처: 0818 발표자료 슬라이드27~46 · 챔피언_스코어보드_260727.md §2③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75B6"/>
                </a:solidFill>
                <a:latin typeface="맑은 고딕"/>
              </a:rPr>
              <a:t>4. 과업2 — 수요예측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3864"/>
                </a:solidFill>
                <a:latin typeface="맑은 고딕"/>
              </a:rPr>
              <a:t>정량 비교 (프레임 상이 — 액면비교 불가)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112928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434840"/>
                <a:gridCol w="4709160"/>
              </a:tblGrid>
              <a:tr h="7162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0818 발표자료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komir 구현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측정 범위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니켈 1개 광종 · 수입액 · h=1(1개월 후)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5광종 풀링 · 수입액(unit)+수입중량(ton) · h1~12(18오리진)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헤드라인 오차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MAPE 14.30%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(VAR+Chronos 앙상블, 실측)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WAPE unit 0.1800 · WAPE ton 0.2634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(풀링, 07-27~08-05 정정판, 실측)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“잠재적” 수치 표기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best-of-3(오라클 사후선택) MAPE 6.96%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— 발표자료 자체가 “잠재적 성능”으로 명기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해당 없음(오라클 선택 수치 없음)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나이브 대비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naive 18.2%·MA3 16.1% 대비 우위 언급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계절나이브 대비 9/10셀 우위(유일 열세: ton/LI, -6.5%)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참고 — 니켈만 놓고 보면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MAPE 14.30%(h=1)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NI unit 단일셀 WAPE 0.3694(h1~12 평균, XT+감쇠오버라이드)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715000"/>
            <a:ext cx="11292840" cy="594360"/>
          </a:xfrm>
          <a:prstGeom prst="roundRect">
            <a:avLst>
              <a:gd name="adj" fmla="val 50000"/>
            </a:avLst>
          </a:prstGeom>
          <a:solidFill>
            <a:srgbClr val="FBF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664D03"/>
                </a:solidFill>
                <a:latin typeface="맑은 고딕"/>
              </a:rPr>
              <a:t>⚠ 니켈 단일 비교 시 0818(14.30%)이 komir(0.3694=36.94%)보다 낮아 보이지만, 지평(h=1 vs h1~12 평균)·지표(MAPE vs WAPE)·검증구조(단일분할 vs 18오리진 walk-forward)가 전부 달라 직접비교 불가 — 프레임 통일 재비교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595959"/>
                </a:solidFill>
                <a:latin typeface="맑은 고딕"/>
              </a:rPr>
              <a:t>출처: 0818 발표자료 슬라이드39 · 챔피언_스코어보드_260727.md §2③·§10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75B6"/>
                </a:solidFill>
                <a:latin typeface="맑은 고딕"/>
              </a:rPr>
              <a:t>5. 종합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3864"/>
                </a:solidFill>
                <a:latin typeface="맑은 고딕"/>
              </a:rPr>
              <a:t>komir 구현의 강점 (과업지시서 요구 대비)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618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3444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맑은 고딕"/>
              </a:rPr>
              <a:t>5광종 전체 커버(진단+예측 모두 완료)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234440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62626"/>
                </a:solidFill>
                <a:latin typeface="맑은 고딕"/>
              </a:rPr>
              <a:t>과업지시서 “5종 모두” 요구 문자 그대로 충족 — 0818은 진단·예측 모두 니켈 1개 광종만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29968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맑은 고딕"/>
              </a:rPr>
              <a:t>검증 방법론의 엄밀성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029968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62626"/>
                </a:solidFill>
                <a:latin typeface="맑은 고딕"/>
              </a:rPr>
              <a:t>워크포워드+부트스트랩CI+이웃강건성+재시도금지목록+미래시(lookahead)편향 5개 모듈 감사 — 과업지시서 “민감도분석·검증·보정” 요구에 정확히 대응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529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25496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맑은 고딕"/>
              </a:rPr>
              <a:t>지정학 리스크 대량자동화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825496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62626"/>
                </a:solidFill>
                <a:latin typeface="맑은 고딕"/>
              </a:rPr>
              <a:t>GKG 29.5만건(관련성99.5%) 자동추출, NB2 확률보정·Brier 실측검증(CO 0.175 vs 기준선 0.192 등)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484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21024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맑은 고딕"/>
              </a:rPr>
              <a:t>12개월 h1~12 직접 다지평 예측 완료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621024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62626"/>
                </a:solidFill>
                <a:latin typeface="맑은 고딕"/>
              </a:rPr>
              <a:t>수입액·수입중량 둘 다, 5광종 전부 — 과업지시서 “12개월 뒤 예측” 요구를 문자 그대로 충족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439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맑은 고딕"/>
              </a:rPr>
              <a:t>법정 4단계 경보 문안 그대로 운용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416552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62626"/>
                </a:solidFill>
                <a:latin typeface="맑은 고딕"/>
              </a:rPr>
              <a:t>「자원안보특별법 시행령」 기준 경보문안+XAI 기여도 병기(alert.py) — 과업지시서 “관련법 시행령 기준 산출” 요구 충족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2395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맑은 고딕"/>
              </a:rPr>
              <a:t>과업1·2 외 산출물도 부분 착수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5212080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62626"/>
                </a:solidFill>
                <a:latin typeface="맑은 고딕"/>
              </a:rPr>
              <a:t>대시보드·RAG챗봇·보고서생성·DB발행(③~⑤) 진행 중 — 0818은 과업1·2만 다룸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595959"/>
                </a:solidFill>
                <a:latin typeface="맑은 고딕"/>
              </a:rPr>
              <a:t>근거: outputs/model_opt/{report.md,lookahead_bias_audit_260813.md}·챔피언_스코어보드_260727.md·인수인계서_TODO_대조_260813.md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75B6"/>
                </a:solidFill>
                <a:latin typeface="맑은 고딕"/>
              </a:rPr>
              <a:t>5. 종합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3864"/>
                </a:solidFill>
                <a:latin typeface="맑은 고딕"/>
              </a:rPr>
              <a:t>komir 구현의 부족한 부분 (요구사항·화면기획 대비)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맑은 고딕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618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3444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맑은 고딕"/>
              </a:rPr>
              <a:t>필수변수④·신규지표 3종 공백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234440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62626"/>
                </a:solidFill>
                <a:latin typeface="맑은 고딕"/>
              </a:rPr>
              <a:t>세계공급부족(소비/공급) 대응 피처 미확인, 공급망압력지수·원자재지수·ESG지수 중 원자재지수만 시도 후 미채택 — 과업지시서 명시 요구 공백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29968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맑은 고딕"/>
              </a:rPr>
              <a:t>헤드라인 QWK의 y_lag1 의존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029968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62626"/>
                </a:solidFill>
                <a:latin typeface="맑은 고딕"/>
              </a:rPr>
              <a:t>dQWK 0.808로 압도적 — KOMIS 실제 발행지연 미확인 상태라 성능이 “지연=1개월” 가정에 낙관적으로 의존(자체 감사 인지, 발주처 확인 대기)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529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25496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맑은 고딕"/>
              </a:rPr>
              <a:t>화면기획 v1.3 AI기능 완료율 낮음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825496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62626"/>
                </a:solidFill>
                <a:latin typeface="맑은 고딕"/>
              </a:rPr>
              <a:t>AI 관련 9건 중 완료 2건(#28 분석요약팝업, 챗봇 RAG/메뉴연결)뿐 — 나머지는 미구현·부분구현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484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21024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맑은 고딕"/>
              </a:rPr>
              <a:t>LLM 서술형 종합판단 부재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621024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62626"/>
                </a:solidFill>
                <a:latin typeface="맑은 고딕"/>
              </a:rPr>
              <a:t>화면기획 #13(AI종합분석·뉴스요약)·#21(자연어 종합판단) — 현재는 규칙기반 템플릿(alert.py)뿐, 자유서술형 LLM 부재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439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맑은 고딕"/>
              </a:rPr>
              <a:t>시나리오 확률 프레이밍 없음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416552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62626"/>
                </a:solidFill>
                <a:latin typeface="맑은 고딕"/>
              </a:rPr>
              <a:t>화면기획 #20(비관/중립/낙관 확률) 요구 대비, komir는 점추정+conformal 분위구간(q10/q90)만 있고 3분류 내러티브 없음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2395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맑은 고딕"/>
              </a:rPr>
              <a:t>챗봇 정형·비정형 혼합조회 미구현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5212080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62626"/>
                </a:solidFill>
                <a:latin typeface="맑은 고딕"/>
              </a:rPr>
              <a:t>정형 통계조회 코드(structured.py)는 있으나 챗봇 라우터에 배선 안 됨 — 답할 수 있는데 연결만 안 된 상태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595959"/>
                </a:solidFill>
                <a:latin typeface="맑은 고딕"/>
              </a:rPr>
              <a:t>근거: 화면기획안_v1.3_기능단위_AI작업_구현현황_260813.md · ylag_publication_delay_sensitivity.md · load_market_aux.py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75B6"/>
                </a:solidFill>
                <a:latin typeface="맑은 고딕"/>
              </a:rPr>
              <a:t>5. 종합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3864"/>
                </a:solidFill>
                <a:latin typeface="맑은 고딕"/>
              </a:rPr>
              <a:t>0818 발표자료에서 참고할 부분 (구체적 갭 매핑)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맑은 고딕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34440"/>
          <a:ext cx="112928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474720"/>
                <a:gridCol w="4160520"/>
              </a:tblGrid>
              <a:tr h="9692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0818 아이디어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메우는 우리 쪽 공백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</a:rPr>
                        <a:t>도입 조건</a:t>
                      </a:r>
                    </a:p>
                  </a:txBody>
                  <a:tcPr marL="76200" marR="76200" marT="38100" marB="38100" anchor="ctr">
                    <a:solidFill>
                      <a:srgbClr val="1F3864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LLM 서술형 종합판단·시나리오 내러티브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화면기획 #13(AI종합분석·뉴스요약)·#21(AI종합판단 자연어)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그대로 채용 불가 — r10_retune_harness 채택기준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(부트스트랩CI+이웃강건성) 통과 조건부로 프로토타입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낙관/중립/비관 3분류 시나리오 프레이밍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화면기획 #20(이벤트전망 시나리오확률)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신규 모델 불요 — 기존 conformal 분위구간(q10/q90)을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3구간 내러티브로 재포장하는 표현계층 작업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5요인 명시적 루브릭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(사건현실화·공급연결성·실제공급차질·지속성·영향범위)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화면기획 #18(위험요인진단) 사용자 설명력 보완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통계적 NB2 확률보정은 유지, 대시보드·보고서에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“사람이 읽는 요인분해” 설명 레이어로만 병기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262626"/>
                          </a:solidFill>
                          <a:latin typeface="맑은 고딕"/>
                        </a:rPr>
                        <a:t>Chronos-2(시계열 파운데이션모델, zero-shot)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예측모듈 후보모델 확장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재시도금지 목록(“예측 exog 재투입 29종 전패”) 선례처럼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262626"/>
                          </a:solidFill>
                          <a:latin typeface="맑은 고딕"/>
                        </a:rPr>
                        <a:t>r10 하네스로 동일조건 재검정 후 챔피언 상회해야만 채택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595959"/>
                </a:solidFill>
                <a:latin typeface="맑은 고딕"/>
              </a:rPr>
              <a:t>원칙: “임의 채택 금지” — CLAUDE.md §4. 신규 피처·모델 후보는 항상 r10_retune_harness로 검정해야 “채택”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75B6"/>
                </a:solidFill>
                <a:latin typeface="맑은 고딕"/>
              </a:rPr>
              <a:t>5. 종합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3864"/>
                </a:solidFill>
                <a:latin typeface="맑은 고딕"/>
              </a:rPr>
              <a:t>0818 발표자료의 한계 (공정성을 위해 병기)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618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3444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맑은 고딕"/>
              </a:rPr>
              <a:t>검증 범위 축소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234440"/>
            <a:ext cx="6309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62626"/>
                </a:solidFill>
                <a:latin typeface="맑은 고딕"/>
              </a:rPr>
              <a:t>니켈 1개 광종·약 6개월만 검증 — 과업지시서 5광종 요구 대비 20%, 시간축도 일부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762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맑은 고딕"/>
              </a:rPr>
              <a:t>정량 성능지표 자체를 제시하지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148840"/>
            <a:ext cx="6309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62626"/>
                </a:solidFill>
                <a:latin typeface="맑은 고딕"/>
              </a:rPr>
              <a:t>정답라벨 부재를 인정하면서도 QWK 등 지표 없이 “공단 검토 의견”에 타당성 판단을 위임(슬라이드24)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906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6324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맑은 고딕"/>
              </a:rPr>
              <a:t>미래정보를 진단 입력에 사용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063240"/>
            <a:ext cx="6309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62626"/>
                </a:solidFill>
                <a:latin typeface="맑은 고딕"/>
              </a:rPr>
              <a:t>Chronos-2 미래 4주 가격예측을 진단 판정에 투입 — 과업지시서 “현시점 진단, 미래예측 아님” 조항과 정합성 확인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05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7764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맑은 고딕"/>
              </a:rPr>
              <a:t>경보 단계 표기 불일치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977640"/>
            <a:ext cx="6309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62626"/>
                </a:solidFill>
                <a:latin typeface="맑은 고딕"/>
              </a:rPr>
              <a:t>슬라이드2 “5단계” 표기 — 과업지시서 붙임2·화면기획안 v1.3 모두 4단계 명시, 정렬 확인 필요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9194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9204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3864"/>
                </a:solidFill>
                <a:latin typeface="맑은 고딕"/>
              </a:rPr>
              <a:t>과업2 핵심 산출 다수가 “후속작업”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892040"/>
            <a:ext cx="6309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62626"/>
                </a:solidFill>
                <a:latin typeface="맑은 고딕"/>
              </a:rPr>
              <a:t>확률 자동산출·1~12개월 확장·수입중량 예측이 전부 다음 단계로 남음 — 과업지시서 12개월·물량+금액 요구가 아직 부분충족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595959"/>
                </a:solidFill>
                <a:latin typeface="맑은 고딕"/>
              </a:rPr>
              <a:t>관찰은 “저쪽이 요건을 틀렸다”가 아니라 정렬·확인이 필요한 지점을 표기한 것 — 과업지시서 원문 대조 기준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75B6"/>
                </a:solidFill>
                <a:latin typeface="맑은 고딕"/>
              </a:rPr>
              <a:t>5. 종합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3864"/>
                </a:solidFill>
                <a:latin typeface="맑은 고딕"/>
              </a:rPr>
              <a:t>양쪽 다 미해결인 공통 공백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맑은 고딕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2E75B6"/>
                </a:solidFill>
                <a:latin typeface="맑은 고딕"/>
              </a:rPr>
              <a:t>■ 챗봇 정형+비정형 혼합조회 조정 서비스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· komir는 mode=auto로 문서Q&amp;A vs 페이지추천 2択 분류만 있고, 한 턴 안에서 여러 도구를 섞는 조정 로직 없음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2E75B6"/>
                </a:solidFill>
                <a:latin typeface="맑은 고딕"/>
              </a:rPr>
              <a:t>■ RAG 품질 기준(최소 유사도점수·근거수·중복제거·재순위화)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· 정의된 곳이 어느 쪽에도 없음 — 열린 질문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2E75B6"/>
                </a:solidFill>
                <a:latin typeface="맑은 고딕"/>
              </a:rPr>
              <a:t>■ DB/VDB 공통 근거계약(단위·기준시점·출처 통일)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· komir의 structured.py·dense_pg.py·pageindex.py가 각각 다른 모양의 결과 반환, 통합 스키마 없음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2E75B6"/>
                </a:solidFill>
                <a:latin typeface="맑은 고딕"/>
              </a:rPr>
              <a:t>■ 신규지표 3종(공급망압력지수·원자재지수·ESG지수)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· 어느 쪽도 완성하지 못함 — 과업지시서 명시 요구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2E75B6"/>
                </a:solidFill>
                <a:latin typeface="맑은 고딕"/>
              </a:rPr>
              <a:t>■ KOMIS 실제 데이터 발행지연 일수 등 공단 확인 필요 항목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262626"/>
                </a:solidFill>
                <a:latin typeface="맑은 고딕"/>
              </a:rPr>
              <a:t>· y_lag1 발행지연 가정, 세계공급부족 데이터 등 다수 미해결 — 발주처 확인이 선행돼야 하는 항목들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595959"/>
                </a:solidFill>
                <a:latin typeface="맑은 고딕"/>
              </a:rPr>
              <a:t>근거: 인수인계서_TODO_대조_260813.md §1~3 · 화면기획안_v1.3_기능단위_AI작업_구현현황_260813.md §4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75B6"/>
                </a:solidFill>
                <a:latin typeface="맑은 고딕"/>
              </a:rPr>
              <a:t>6.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3864"/>
                </a:solidFill>
                <a:latin typeface="맑은 고딕"/>
              </a:rPr>
              <a:t>종합 결론 및 액션 아이템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맑은 고딕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62626"/>
                </a:solidFill>
                <a:latin typeface="맑은 고딕"/>
              </a:rPr>
              <a:t>검증 엄밀성·5광종 커버리지·산출물 폭에서 komir 구현이 과업지시서 요구를 더 충실히 충족한다.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62626"/>
                </a:solidFill>
                <a:latin typeface="맑은 고딕"/>
              </a:rPr>
              <a:t>0818 접근은 “설명가능한 서술형 판단·시나리오 내러티브”라는, 우리 화면기획이 요구하지만 아직 못 채운 지점을 정확히 겨냥한다 — 표현·설명 계층으로 선택적 흡수가 합리적이다.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864"/>
                </a:solidFill>
                <a:latin typeface="맑은 고딕"/>
              </a:rPr>
              <a:t>액션 아이템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169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F3864"/>
                </a:solidFill>
                <a:latin typeface="맑은 고딕"/>
              </a:rPr>
              <a:t>필수변수④·신규지표 3종 공백 해소 착수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2880360"/>
            <a:ext cx="6080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맑은 고딕"/>
              </a:rPr>
              <a:t>세계공급부족(소비/공급), 공급망압력지수·원자재지수·ESG지수 — 과업지시서 명시 요구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581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21608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F3864"/>
                </a:solidFill>
                <a:latin typeface="맑은 고딕"/>
              </a:rPr>
              <a:t>LLM 서술형 종합판단·3분류 시나리오 내러티브 프로토타입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3721608"/>
            <a:ext cx="6080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맑은 고딕"/>
              </a:rPr>
              <a:t>r10 하네스 채택기준 하에서만 — 임의 채택 금지 원칙 준수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994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62856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F3864"/>
                </a:solidFill>
                <a:latin typeface="맑은 고딕"/>
              </a:rPr>
              <a:t>4단계/5단계 표기, “미래예측 입력 사용” 여부 등 방법론 정합성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4562856"/>
            <a:ext cx="6080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맑은 고딕"/>
              </a:rPr>
              <a:t>발주처·양 팀 간 정렬 필요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440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04104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F3864"/>
                </a:solidFill>
                <a:latin typeface="맑은 고딕"/>
              </a:rPr>
              <a:t>y_lag1 발행지연 가정 — KOMIS 실제 발행지연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5404104"/>
            <a:ext cx="6080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맑은 고딕"/>
              </a:rPr>
              <a:t>장기 미해결 항목 중 최우선 해소 대상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595959"/>
                </a:solidFill>
                <a:latin typeface="맑은 고딕"/>
              </a:rPr>
              <a:t>본 비교자료는 komir 저장소 관점의 내부 분석이며, 두 접근의 조직·소속 관계는 단정하지 않음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5B6"/>
                </a:solidFill>
                <a:latin typeface="맑은 고딕"/>
                <a:ea typeface="맑은 고딕"/>
              </a:rPr>
              <a:t>5. 종합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맑은 고딕"/>
                <a:ea typeface="맑은 고딕"/>
              </a:rPr>
              <a:t>모델링 상세 비교 — 파라다임 차이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맑은 고딕"/>
                <a:ea typeface="맑은 고딕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00000"/>
          <a:ext cx="11274551" cy="470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97228"/>
                <a:gridCol w="4603775"/>
                <a:gridCol w="5073548"/>
              </a:tblGrid>
              <a:tr h="5875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anchor="ctr"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0818 발표자료</a:t>
                      </a:r>
                    </a:p>
                  </a:txBody>
                  <a:tcPr anchor="ctr"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komir 구현</a:t>
                      </a:r>
                    </a:p>
                  </a:txBody>
                  <a:tcPr anchor="ctr" marL="91440" marR="91440" marT="45720" marB="45720">
                    <a:solidFill>
                      <a:srgbClr val="1F3864"/>
                    </a:solidFill>
                  </a:tcPr>
                </a:tc>
              </a:tr>
              <a:tr h="5875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패러다임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파운데이션모델 + LLM 직접판정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(Chronos-2 예측 → Gemma4가 최종 등급까지 직접 출력)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전통 통계·ML 학습모델(Ridge/HistGBM)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LLM은 비정형→정형 변환 단계에만 사용, 최종 판정은 학습모델이 담당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875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진단 모델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LLM(gemma4:31b)이 정량등급+비정형요약을 종합 판정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위기점수 = 단계 확률분포의 기대값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Ridge 회귀(alpha=1.0, 5광종 풀링+광종더미)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9개 후보 워크포워드 비교 후 챔피언 선정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875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후보모델 비교검증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과업1(진단): 후보간 비교 없이 LLM판정 구조 채택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과업2(예측): VAR·Chronos-2·LLM 3후보 앙상블 비교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진단: 지속성기준선·나이브·Ridge·HistGBM(각 풀링/개별)·Logistic·DecisionTree·RandomForest 9종 비교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(과업지시서 예시모델 로지스틱·DT·RF 전부 포함)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875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예측 모델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VAR(3변량)+Chronos-2(공변량8종) 앙상블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LLM이 중심보정치(정광비중·유사월비율 등) 결정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HistGradientBoostingRegressor — 물량(ton)·단가(USD/톤) 분리학습 후 곱으로 수입액 합성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재귀형/Direct형 워크포워드 자동선택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875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소표본 대응 전략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사전학습 파운데이션모델의 zero-shot 능력으로 소표본 보완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설계 단계에서 아예 딥러닝 배제 — "소표본 제약이 근본 제약"이라 전통ML을 원칙으로 명시(AI모델 사용안 §1)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875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설명가능성(XAI)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LLM 자유서술 근거 — 정성적 언급, 정량 기여도 분해 아님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Ridge 계수 기반 요인별 기여도 정확 분해 — "왜 이 단계인가"에 항상 정량 답변 가능(선형모델의 명시적 장점)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875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라벨오염 방지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가격이격 정량등급을 판정 입력에 직접 사용하는 구조(명시적 오염방지 언급 없음)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가격파생 피처(52주표준화·변동성 등)를 주모델에서 의도적 제외 — 타깃과 동일원천발 오염 위험을 설계로 차단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</a:rPr>
              <a:t>출처: documents/산출물/2026-W30_0720-0726/AI모델_사용안_260722.docx §2·§3·§5(정본, 코드 직접 확인 기반 작성) · 0818 발표자료 슬라이드 7~12·36~42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5B6"/>
                </a:solidFill>
                <a:latin typeface="맑은 고딕"/>
                <a:ea typeface="맑은 고딕"/>
              </a:rPr>
              <a:t>5. 종합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맑은 고딕"/>
                <a:ea typeface="맑은 고딕"/>
              </a:rPr>
              <a:t>과업지시서 요구사항 — 어느 쪽에 더 가까운가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맑은 고딕"/>
                <a:ea typeface="맑은 고딕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00000"/>
          <a:ext cx="11274550" cy="430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72430"/>
                <a:gridCol w="3326916"/>
                <a:gridCol w="3881403"/>
                <a:gridCol w="1293801"/>
              </a:tblGrid>
              <a:tr h="4300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요구사항(과업지시서·화면기획 원문)</a:t>
                      </a:r>
                    </a:p>
                  </a:txBody>
                  <a:tcPr anchor="ctr"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0818 발표자료</a:t>
                      </a:r>
                    </a:p>
                  </a:txBody>
                  <a:tcPr anchor="ctr"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komir 구현</a:t>
                      </a:r>
                    </a:p>
                  </a:txBody>
                  <a:tcPr anchor="ctr"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더 가까운 쪽</a:t>
                      </a:r>
                    </a:p>
                  </a:txBody>
                  <a:tcPr anchor="ctr" marL="91440" marR="91440" marT="45720" marB="45720">
                    <a:solidFill>
                      <a:srgbClr val="1F3864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5광종 전체 검증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△ 니켈 1종만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✓ 5광종 전량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komir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4단계 법정경보 매핑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(고시 제7조)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△ "5단계" 표기(정렬 미확인)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✓ 4단계, alert.py가 붙임2 문안 그대로 규칙화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komir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"현시점 진단, 미래예측 아님"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(과업지시서 1① 명시조항)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✗ Chronos-2 미래 4주 가격예측을 진단 입력으로 사용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✓ as-of 데이터만 사용 (단 y_lag1 발행지연 가정은 별도 이슈)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komir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로지스틱회귀·DT·RF 등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다각적 모델링 비교검증(진단)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✗ LLM판정 구조, 후보간 비교 없음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✓ 9개 후보 비교(로지스틱·DT·RF 전부 포함)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komir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필수변수 6종 충족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부분 — 데이터원천은 쓰나 개별 변수 매핑 불명확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5/6 확인(④세계공급부족만 미확인)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komir(근소)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신규지표 3종 개발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(공급망압력·원자재·ESG)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언급 없음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원자재지수 시도 후 미채택, GSCPI·ESG 미착수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595959"/>
                          </a:solidFill>
                          <a:latin typeface="맑은 고딕"/>
                          <a:ea typeface="맑은 고딕"/>
                        </a:rPr>
                        <a:t>양쪽 공백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12개월 수입액+물량 예측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완료도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△ 수입액 1개월 완료, 12개월·물량 확장 진행중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✓ 수입액+물량 양쪽 h1~12 전량 완료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komir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검증기준·시나리오·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민감도분석 엄밀성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△ 단일시점 스팟체크 위주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✓ 워크포워드+부트스트랩CI+이웃강건성+다수 민감도분석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komir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설명가능한 서술형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종합판단(화면기획 UX요건)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✓ LLM 자유서술 — 강점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✗ 규칙기반 템플릿뿐(화면기획 #13·#21 공백)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950" b="1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</a:rPr>
                        <a:t>0818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720000"/>
            <a:ext cx="11274552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3864"/>
                </a:solidFill>
                <a:latin typeface="맑은 고딕"/>
                <a:ea typeface="맑은 고딕"/>
              </a:rPr>
              <a:t>9개 대조항목 중 7개는 komir가 더 가깝고, 1개는 공백 공유, 1개(설명가능한 서술형 판단)는 0818 접근이 앞선다 — "검증된 산출물 요건"은 komir, "발주처가 화면으로 보게 될 설명 방식"은 0818 아이디어가 참고가 된다는 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</a:rPr>
              <a:t>판정 근거: documents/260625 ..._일루넥스.pdf 붙임1·붙임2, 화면기획안_v1.3_기능단위_AI작업_구현현황_260813.md, AI모델_사용안_260722.docx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5B6"/>
                </a:solidFill>
                <a:latin typeface="맑은 고딕"/>
                <a:ea typeface="맑은 고딕"/>
              </a:rPr>
              <a:t>5. 종합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맑은 고딕"/>
                <a:ea typeface="맑은 고딕"/>
              </a:rPr>
              <a:t>GPU·인프라 자원 소요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맑은 고딕"/>
                <a:ea typeface="맑은 고딕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00000"/>
          <a:ext cx="11274550" cy="430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13312"/>
                <a:gridCol w="4630619"/>
                <a:gridCol w="4630619"/>
              </a:tblGrid>
              <a:tr h="614285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구성요소</a:t>
                      </a:r>
                    </a:p>
                  </a:txBody>
                  <a:tcPr anchor="ctr"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0818 접근법(추정)</a:t>
                      </a:r>
                    </a:p>
                  </a:txBody>
                  <a:tcPr anchor="ctr" marL="91440" marR="91440" marT="45720" marB="4572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komir 구현(문서화 기준)</a:t>
                      </a:r>
                    </a:p>
                  </a:txBody>
                  <a:tcPr anchor="ctr" marL="91440" marR="91440" marT="45720" marB="45720">
                    <a:solidFill>
                      <a:srgbClr val="1F3864"/>
                    </a:solidFill>
                  </a:tcPr>
                </a:tc>
              </a:tr>
              <a:tr h="614285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비정형 처리 LLM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gemma4:31b(dense) — PPT 슬라이드41 명시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서빙방식·양자화 기재 없음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gemma-4-26b-a4b(MoE, 활성파라미터 약4B)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fp8 양자화, 사내 vLLM 서버 1대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614285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추정 VRAM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(⚠추정치, 공식수치 아님)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dense 31B 기준: fp16≈62GB / fp8·8bit≈31GB / 4bit≈16~18GB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(양자화 미기재라 폭넓게 추정)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26B 가중치 저장 기준 fp8≈26~30GB대 추정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공식문서도 "정확 VRAM 미확정, 인프라팀 확인 필요"로 명시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614285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시계열예측/진단 모델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Chronos-2(파운데이션모델, 파라미터 규모 PPT 미기재)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+ LLM이 직접 등급 판정(매 판정마다 31B 전량 활성화)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ExtraTrees/HistGBM/Ridge(전통ML) — GPU 불요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CPU로 수 분 내 학습·추론(AI모델 사용안 §5 명시)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614285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GPU 부하를 좌우하는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처리 물량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광종별 월간 단일 보고서 요약(니켈 실증, 저물량)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GDELT 대량이벤트 배치 — 관련성 재검증 33만여 건 약1시간, 적대적 재검증 약5시간(고물량)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614285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문서화된 GPU 서버 수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PPT 미기재(방법론 보고서라 인프라 요건 자체를 다루지 않음)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1대 (AI모델_사용안_260722.docx §5 "필요 인프라 자원" 표에 명시)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614290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공식 확정 여부</a:t>
                      </a:r>
                    </a:p>
                  </a:txBody>
                  <a:tcPr anchor="ctr"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해당 없음(방법론 보고서 범위 밖)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69" b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"GPU 자원 제공 주체·사양"은 발주처 결정 대기 항목 — 미확정(시스템_결정필요사항.md 1-2)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720000"/>
            <a:ext cx="11274552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95C00"/>
                </a:solidFill>
                <a:latin typeface="맑은 고딕"/>
                <a:ea typeface="맑은 고딕"/>
              </a:rPr>
              <a:t>핵심 관찰: 0818은 모델 크기(31B dense)는 크지만 처리물량은 적고, komir(26B-A4B MoE)는 활성연산량은 작지만 자동화 처리물량이 훨씬 크다 — GPU 부하의 성격이 다르다. 어느 쪽도 GPU 사양이 공식 확정되지 않았다(양쪽 모두 발주처 결정 대기).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</a:rPr>
              <a:t>추정 방법: dense/MoE 파라미터당 바이트수 × 양자화 비트수의 통상적 어림 계산(실측 아님) · 원본: AI모델_사용안_260722.docx §4-1·§5, 시스템_결정필요사항.md 1-1~1-2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