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4" r:id="rId24"/>
    <p:sldId id="262" r:id="rId13"/>
    <p:sldId id="275" r:id="rId25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9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희소금석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27일 기준 동 실거래가는 14,490달러입니다. 전일(2026년 8월 26일) 대비 0.24% 하락했습니다. 전주평균(14,365.20달러) 대비 0.87% 높습니다. 전월평균(13,525.17달러) 대비 7.13% 높습니다. 전년평균(9,944.94달러) 대비 45.70%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2일, 8,430달러) 대비 71.89% 상승했습니다.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14,850달러(2026년 8월 17일), 최저 8,085.50달러(2024년 2월 12일)였습니다.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저점(2024년 2월 12일, 8,085.50달러) 대비 현재가는 79.21% 회복한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2026년 8월 27일 기준 재고량은 235,575톤으로, 전일(2026년 8월 26일) 대비 0.80% 감소했습니다.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1개월 20.38%·3개월 18.03%·1년 21.13%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14일 중 상승 8일·하락 6일로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최고가(2026년 8월 17일, 14,850달러) 대비 2.42%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45.70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27일 기준 동 실거래가는 14,490달러입니다. 전일(2026년 8월 26일) 대비 0.24% 하락했습니다. 전주평균(14,365.20달러) 대비 0.87% 높습니다. 전월평균(13,525.17달러) 대비 7.13% 높습니다. 전년평균(9,944.94달러) 대비 45.70%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2일, 8,430달러) 대비 71.89% 상승했습니다.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14,850달러(2026년 8월 17일), 최저 8,085.50달러(2024년 2월 12일)였습니다.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저점(2024년 2월 12일, 8,085.50달러) 대비 현재가는 79.21% 회복한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2026년 8월 27일 기준 재고량은 235,575톤으로, 전일(2026년 8월 26일) 대비 0.80% 감소했습니다.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1개월 20.38%·3개월 18.03%·1년 21.13%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14일 중 상승 8일·하락 6일로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최고가(2026년 8월 17일, 14,850달러) 대비 2.42%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같은 조회기간 동안 니켈은 186.84% 상승한 반면, 동은 71.89% 상승했습니다.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동/니켈 가격비율은 현재 0.8597로, 조회기간 평균(0.6401) 대비 34.31%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45.70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-114.95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25일 기준 코발트 실거래가는 53.46달러입니다. 전일(2026년 8월 24일) 대비 보합했습니다. 전주평균(53.46달러) 대비 같은 수준입니다. 전월평균(53.60달러) 대비 0.26% 낮습니다. 전년평균(34.21달러) 대비 56.27%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시작(2010년 7월 2일, 42.85달러) 대비 24.76% 상승했습니다. 최근에는 11일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95.46달러(2018년 5월 7일), 최저 21.13달러(2025년 3월 4일)였습니다.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저점(2025년 3월 4일, 21.13달러) 대비 현재가는 153.01%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4.71%·3개월 7.37%·1년 14.78%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2일·하락 1일·보합 11일로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최고가(2018년 5월 7일, 95.46달러) 대비 44.00% 낮으며 전체 가격 대비 고가권에 속합니다. 조회기간 중 가장 큰 하락은 2018년 5월 7일부터 2025년 3월 4일까지 이어졌으며, 이 기간 77.87%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56.27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25일 기준 코발트 실거래가는 53.46달러입니다. 전일(2026년 8월 24일) 대비 보합했습니다. 전주평균(53.46달러) 대비 같은 수준입니다. 전월평균(53.60달러) 대비 0.26% 낮습니다. 전년평균(34.21달러) 대비 56.27%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시작(2010년 7월 2일, 42.85달러) 대비 24.76% 상승했습니다. 최근에는 11일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95.46달러(2018년 5월 7일), 최저 21.13달러(2025년 3월 4일)였습니다.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저점(2025년 3월 4일, 21.13달러) 대비 현재가는 153.01%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4.71%·3개월 7.37%·1년 14.78%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2일·하락 1일·보합 11일로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최고가(2018년 5월 7일, 95.46달러) 대비 44.00% 낮으며 전체 가격 대비 고가권에 속합니다. 조회기간 중 가장 큰 하락은 2018년 5월 7일부터 2025년 3월 4일까지 이어졌으며, 이 기간 77.87% 하락했습니다.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같은 조회기간 동안 몰리브덴은 204.75% 상승한 반면, 코발트는 24.76% 상승했습니다.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코발트/몰리브덴 가격비율은 현재 0.0011로, 조회기간 평균(0.0023) 대비 54.75%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56.27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-179.99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17일 기준 우라늄 실거래가는 88.30달러입니다. 직전 관측치(2026년 8월 10일) 대비 1.37% 상승했습니다. 전주평균(87.11달러) 대비 1.37% 높습니다. 전월평균(86달러) 대비 2.67% 높습니다. 전년평균(73.13달러) 대비 20.74%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1일, 92.25달러) 대비 4.28% 하락했습니다. 최근에는 2주 연속 상승세를 보이고 있으며,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조회기간 저점(2025년 3월 10일, 63.87달러) 대비 현재가는 38.25% 회복한 수준입니다.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최근 1개월 3.96%·3개월 4.45%·1년 17.83%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14주 중 상승 7주·하락 7주로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최고가(2024년 1월 15일, 105.81달러) 대비 16.55%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88.30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8월 17일 기준 우라늄 실거래가는 88.30달러입니다. 직전 관측치(2026년 8월 10일) 대비 1.37% 상승했습니다. 전주평균(87.11달러) 대비 1.37% 높습니다. 전월평균(86달러) 대비 2.67% 높습니다. 전년평균(73.13달러) 대비 20.74%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시작(2024년 1월 1일, 92.25달러) 대비 4.28% 하락했습니다. 최근에는 2주 연속 상승세를 보이고 있으며,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조회기간 저점(2025년 3월 10일, 63.87달러) 대비 현재가는 38.25% 회복한 수준입니다.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최근 1개월 3.96%·3개월 4.45%·1년 17.83% 수준의 가격 변동폭을 보였습니다.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14주 중 상승 7주·하락 7주로 뚜렷한 방향성 없이 등락을 반복하고 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최고가(2024년 1월 15일, 105.81달러) 대비 16.55%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같은 조회기간 동안 유연탄은 3.39% 하락한 반면, 우라늄은 4.28%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우라늄/유연탄 가격비율은 현재 0.7051로, 조회기간 평균(0.7390) 대비 4.59%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88.30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16.55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27일 기준 흑연 실거래가는 390달러입니다. 전일(2026년 8월 26일) 대비 보합했습니다. 전주평균(390달러) 대비 같은 수준입니다. 전월평균(396.79달러) 대비 1.71% 낮습니다.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시작(2024년 1월 2일, 614.93달러) 대비 36.58% 하락했습니다. 최근에는 13일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4.65%·3개월 9.10%·1년 9.68%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1일·하락 0일·보합 13일로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27일 기준 흑연 실거래가는 390달러입니다. 전일(2026년 8월 26일) 대비 보합했습니다. 전주평균(390달러) 대비 같은 수준입니다. 전월평균(396.79달러) 대비 1.71% 낮습니다.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시작(2024년 1월 2일, 614.93달러) 대비 36.58% 하락했습니다. 최근에는 13일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4.65%·3개월 9.10%·1년 9.68%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1일·하락 0일·보합 13일로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같은 조회기간 동안 금은 120.98% 상승한 반면, 흑연은 36.58% 하락했습니다.</a:t>
            </a:r>
          </a:p>
          <a:p>
            <a:r>
              <a:rPr sz="1200">
                <a:solidFill>
                  <a:srgbClr val="000000"/>
                </a:solidFill>
              </a:rPr>
              <a:t>흑연/금 가격비율은 현재 0.0854로, 조회기간 평균(0.1447) 대비 41.02%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-157.56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>
                <a:solidFill>
                  <a:srgbClr val="000000"/>
                </a:solidFill>
              </a:rPr>
              <a:t>2026년 8월 24일 광물종합지수는 3,539.45포인트입니다. 전주 3,469.62포인트 대비 2.01% 상승, 전월 3,438.69포인트 대비 2.93%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광물종합지수는 3,539.45포인트로, 전주 대비 2.01% 상승, 전월 대비 2.93% 상승했습니다. 최근 조회기간 동안 상승 흐름을 이어가고 있습니다. 구성 광종은 유연탄(25.6%)·동(16.6%)·알루미늄(15.7%) 등입니다. 메이저금속지수는 2,968.06포인트로, 전주 대비 0.46% 하락, 전월 대비 0.67% 상승했습니다. 뚜렷한 방향성 없이 등락을 반복하고 있습니다. 구성 광종은 동(28.2%)·알루미늄(26.6%) 등입니다. 희소금속지수는 2,911.80포인트로, 전주 대비 0.19% 상승, 전월 대비 1.09% 하락했습니다. 뚜렷한 방향성 없이 등락을 반복하고 있습니다. 구성 광종은 리튬(71.0%)·몰리브덴(11.7%)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>
                <a:solidFill>
                  <a:srgbClr val="000000"/>
                </a:solidFill>
              </a:rPr>
              <a:t>현재 광물종합지수는 조회기간 최고치인 3,682.58포인트보다 3.89% 낮으며, 최저치인 2,616.06포인트보다 35.30%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3,539.45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2,968.06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상위 3개국(칠레·호주·콩고민주공화국) 수입의존도는 74.90%로 집중된 구조입니다.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수입액은 총 약 1,434.77억 달러입니다. 1위 수입국은 칠레 약 341.88억 달러(23.83%), 2위 수입국은 호주 약 126.71억 달러(8.83%), 3위 수입국은 인도네시아 약 90.54억 달러(6.31%)입니다.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상위 3개국 수입 비중은 전체의 38.97%이며, 상위 5개국까지 합산하면 전체의 50.73%를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수출액은 총 약 726.44억 달러이며, 주요 수출 대상국은 1위 중국 약 346.82억 달러(47.74%), 2위 미국 약 58.31억 달러(8.03%), 3위 베트남 약 56.57억 달러(7.79%) 순입니다. 수출액은 수입액의 약 51% 수준으로, 수입액이 수출액보다 많습니다.</a:t>
            </a:r>
          </a:p>
          <a:p>
            <a:br>
              <a:rPr lang="ko-KR" altLang="ko-KR" sz="700" dirty="0"/>
            </a:br>
            <a:endParaRPr lang="ko-KR" altLang="ko-KR" sz="700" dirty="0"/>
          </a:p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1,434.77억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726.44억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47.74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칠레 대상 수입액은 총 약 1,434.77억 달러입니다.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조회가 칠레 한 국가로 한정돼 있어, 칠레의 수입액 약 1,434.77억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칠레 대상 수출액은 총 약 726.44억 달러입니다. 수출액은 수입액의 약 51% 수준으로, 수입액이 수출액보다 많습니다.</a:t>
            </a:r>
          </a:p>
          <a:p>
            <a:br>
              <a:rPr lang="ko-KR" altLang="ko-KR" sz="700" dirty="0"/>
            </a:br>
            <a:endParaRPr lang="ko-KR" altLang="ko-KR" sz="700" dirty="0"/>
          </a:p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1,434.77억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726.44억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기초금속 수입액은 총 약 32.80억 달러입니다. 1위 수입국은 칠레 약 12.69억 달러(38.69%), 2위 수입국은 콩고민주공화국 약 9.83억 달러(29.97%), 3위 수입국은 멕시코 약 1.96억 달러(5.97%)입니다.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  <a:p>
            <a:br>
              <a:rPr lang="ko-KR" altLang="ko-KR" sz="700" dirty="0"/>
            </a:br>
            <a:endParaRPr lang="ko-KR" altLang="ko-KR" sz="700" dirty="0"/>
          </a:p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>
                <a:solidFill>
                  <a:srgbClr val="000000"/>
                </a:solidFill>
              </a:rPr>
              <a:t>2026년 기준 리튬 세계 교역 총액은 약 1.73억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현황(수출 탭)</a:t>
            </a:r>
          </a:p>
          <a:p>
            <a:r>
              <a:rPr sz="1200">
                <a:solidFill>
                  <a:srgbClr val="000000"/>
                </a:solidFill>
              </a:rPr>
              <a:t>2026년 기준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호주→중국 루트로 약 3.87억 달러(31.20%), 2위는 아르헨티나→중국 루트로 약 1.93억 달러(15.57%), 3위는 칠레→중국 루트로 약 1.89억 달러(15.26%)를 기록했습니다. 상위 3개 루트의 합산 점유율은 62.03%입니다. 상위 5개 루트의 합산 점유율은 76.00%입니다.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31.20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76.00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>
                <a:solidFill>
                  <a:srgbClr val="000000"/>
                </a:solidFill>
              </a:rPr>
              <a:t>2026년 기준 리튬 세계 교역 총액은 약 1.73억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수출입국가 옵션 추가 정보</a:t>
            </a:r>
          </a:p>
          <a:p>
            <a:r>
              <a:rPr sz="1200">
                <a:solidFill>
                  <a:srgbClr val="000000"/>
                </a:solidFill>
              </a:rPr>
              <a:t>komis_route_share_response(수출입국가 상세)를 더 넣으면 구조화 데이터(detailed_metrics)에 루트별 자국 집계총액 대비 비중이 추가된다 — 예: 대한민국→인도네시아 경로 비중(대한민국측 집계총액 대비) 9.16%; 대한민국→인도네시아 경로 비중(인도네시아측 집계총액 대비) 73.88%; 호주→인도네시아 경로 비중(호주측 집계총액 대비) 16.38%; 호주→인도네시아 경로 비중(인도네시아측 집계총액 대비) 2.71%; 아랍에미리트→인도 경로 비중(아랍에미리트측 집계총액 대비) 25.00%; 아랍에미리트→인도 경로 비중(인도측 집계총액  등. 본문 서술문에는 반영되지 않는다(설계상 표/데이터 전용).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상세(komis_route_share_response)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0.00%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약 1.80억톤으로 세계 전체의 18.37%를 차지해 1위입니다. 호주는 약 1억톤, 10.20%로 2위이며 두 국가의 비중 차이는 8.16%포인트입니다. 페루는 약 8,500만톤, 8.67%로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(10.00%)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(매장량·생산량 교차비교)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0.00%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변화(교차비교 포함)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약 1.80억톤으로 세계 전체의 18.37%를 차지해 1위입니다. 호주는 약 1억톤, 10.20%로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(10.00%)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2021~2025, 교차비교: 생산량(komis_snapshot_response)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0.00%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2021~2025, komis.or.kr 실시간조회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