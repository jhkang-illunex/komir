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3" r:id="rId8"/>
    <p:sldId id="259" r:id="rId9"/>
    <p:sldId id="264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희소금석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>
                <a:solidFill>
                  <a:srgbClr val="000000"/>
                </a:solidFill>
              </a:rPr>
              <a:t>2026년 9월 9일 기준 동 실거래가는 14,672달러입니다. 전일(2026년 9월 8일) 대비 </a:t>
            </a:r>
            <a:r>
              <a:rPr sz="1100">
                <a:solidFill>
                  <a:srgbClr val="000000"/>
                </a:solidFill>
              </a:rPr>
              <a:t>0.44% 하락했습니다</a:t>
            </a:r>
            <a:r>
              <a:rPr sz="1100">
                <a:solidFill>
                  <a:srgbClr val="000000"/>
                </a:solidFill>
              </a:rPr>
              <a:t>. 전주평균(</a:t>
            </a:r>
            <a:r>
              <a:rPr sz="1100">
                <a:solidFill>
                  <a:srgbClr val="000000"/>
                </a:solidFill>
              </a:rPr>
              <a:t>14,370.13달러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000000"/>
                </a:solidFill>
              </a:rPr>
              <a:t>2.10% 높습니다</a:t>
            </a:r>
            <a:r>
              <a:rPr sz="1100">
                <a:solidFill>
                  <a:srgbClr val="000000"/>
                </a:solidFill>
              </a:rPr>
              <a:t>. 전월평균(</a:t>
            </a:r>
            <a:r>
              <a:rPr sz="1100">
                <a:solidFill>
                  <a:srgbClr val="000000"/>
                </a:solidFill>
              </a:rPr>
              <a:t>14,353.40달러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000000"/>
                </a:solidFill>
              </a:rPr>
              <a:t>2.22% 높습니다</a:t>
            </a:r>
            <a:r>
              <a:rPr sz="1100">
                <a:solidFill>
                  <a:srgbClr val="000000"/>
                </a:solidFill>
              </a:rPr>
              <a:t>. 전년평균(</a:t>
            </a:r>
            <a:r>
              <a:rPr sz="1100">
                <a:solidFill>
                  <a:srgbClr val="000000"/>
                </a:solidFill>
              </a:rPr>
              <a:t>9,944.94달러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000000"/>
                </a:solidFill>
              </a:rPr>
              <a:t>47.53% 높습니다</a:t>
            </a:r>
            <a:r>
              <a:rPr sz="1100">
                <a:solidFill>
                  <a:srgbClr val="000000"/>
                </a:solidFill>
              </a:rPr>
              <a:t>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시작(2025년 1월 2일, </a:t>
            </a:r>
            <a:r>
              <a:rPr sz="1100">
                <a:solidFill>
                  <a:srgbClr val="000000"/>
                </a:solidFill>
              </a:rPr>
              <a:t>8,685.50달러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000000"/>
                </a:solidFill>
              </a:rPr>
              <a:t>68.93% 상승했습니다</a:t>
            </a:r>
            <a:r>
              <a:rPr sz="1100">
                <a:solidFill>
                  <a:srgbClr val="000000"/>
                </a:solidFill>
              </a:rPr>
              <a:t>. 최근 가격 흐름은 단기·중기 평균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>
                <a:solidFill>
                  <a:srgbClr val="000000"/>
                </a:solidFill>
              </a:rPr>
              <a:t>조회기간 관측치(실거래가) 기준 최고 14,850</a:t>
            </a:r>
            <a:r>
              <a:rPr sz="1100">
                <a:solidFill>
                  <a:srgbClr val="00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(2026년 8월 17일), 최저 8,539</a:t>
            </a:r>
            <a:r>
              <a:rPr sz="1100">
                <a:solidFill>
                  <a:srgbClr val="00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(2025년 4월 9일)였습니다.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저점(2025년 4월 9일, 8,539</a:t>
            </a:r>
            <a:r>
              <a:rPr sz="1100">
                <a:solidFill>
                  <a:srgbClr val="00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) 대비 현재가는 71.82% 회복한 수준입니다.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2026년 9월 9일 기준 재고량은 235,825톤으로, 전일(2026년 9월 8일) 대비 0.80% 감소했습니다.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1개월 18.41%·3개월 17.26%·1년 21.19% 수준의 가격 변동폭을 보였습니다.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14일 중 상승 9일·하락 5일로 </a:t>
            </a:r>
            <a:r>
              <a:rPr sz="1100">
                <a:solidFill>
                  <a:srgbClr val="000000"/>
                </a:solidFill>
              </a:rPr>
              <a:t>뚜렷한 방향성 없이 등락을 반복하고 있습니다</a:t>
            </a:r>
            <a:r>
              <a:rPr sz="1100">
                <a:solidFill>
                  <a:srgbClr val="000000"/>
                </a:solidFill>
              </a:rPr>
              <a:t>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현재가는 조회기간 중 최고가(2026년 8월 17일, 14,850</a:t>
            </a:r>
            <a:r>
              <a:rPr sz="1100">
                <a:solidFill>
                  <a:srgbClr val="00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) 대비 1.20% 낮으며 전체 가격 대비 고가권에 속합니다</a:t>
            </a:r>
            <a:r>
              <a:rPr sz="1100">
                <a:solidFill>
                  <a:srgbClr val="000000"/>
                </a:solidFill>
              </a:rPr>
              <a:t>. 조회기간 중 가장 큰 하락은 2026년 1월 29일부터 2026년 3월 19일까지 이어졌으며, 이 기간 14.58% 하락했습니다.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비철금속</a:t>
            </a:r>
            <a:r>
              <a:rPr lang="en-US" altLang="ko-KR" dirty="0">
                <a:solidFill/>
              </a:rPr>
              <a:t>, </a:t>
            </a:r>
            <a:r>
              <a:rPr lang="ko-KR" altLang="en-US" dirty="0">
                <a:solidFill/>
              </a:rPr>
              <a:t>동</a:t>
            </a:r>
            <a:r>
              <a:rPr lang="en-US" altLang="ko-KR" dirty="0">
                <a:solidFill/>
              </a:rPr>
              <a:t>, 2025~2026, </a:t>
            </a:r>
            <a:r>
              <a:rPr lang="ko-KR" altLang="en-US" dirty="0">
                <a:solidFill/>
              </a:rPr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C7E6511-5228-15C6-E46F-A935C4D6B05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663952" y="5674813"/>
            <a:ext cx="402046" cy="5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9월 9일 기준 코발트 실거래가는 43,250달러로, 전일 대비 2.81% 하락했습니다. 전주평균 대비 17.62% 낮으며, 전월평균 대비 22.57% 낮지만, 전년평균 대비 24.21% 높은 수준입니다.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시작인 2024년 1월 2일 대비 </a:t>
            </a:r>
            <a:r>
              <a:rPr sz="1200">
                <a:solidFill>
                  <a:srgbClr val="000000"/>
                </a:solidFill>
              </a:rPr>
              <a:t>50.75% 상승했습니다</a:t>
            </a:r>
            <a:r>
              <a:rPr sz="1200">
                <a:solidFill>
                  <a:srgbClr val="000000"/>
                </a:solidFill>
              </a:rPr>
              <a:t>. 최근에는 5일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 기준 최고가는 2026년 7월 10일 55,885달러, 최저가는 2025년 2월 25일 21,365달러였습니다.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저점(2025년 2월 25일, </a:t>
            </a:r>
            <a:r>
              <a:rPr sz="1200">
                <a:solidFill>
                  <a:srgbClr val="000000"/>
                </a:solidFill>
              </a:rPr>
              <a:t>21,365달러</a:t>
            </a:r>
            <a:r>
              <a:rPr sz="1200">
                <a:solidFill>
                  <a:srgbClr val="000000"/>
                </a:solidFill>
              </a:rPr>
              <a:t>) 대비 현재가는 102.43% 회복한 수준입니다.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현재가는 최고가(2026년 7월 10일, </a:t>
            </a:r>
            <a:r>
              <a:rPr sz="1200">
                <a:solidFill>
                  <a:srgbClr val="000000"/>
                </a:solidFill>
              </a:rPr>
              <a:t>55,885달러</a:t>
            </a:r>
            <a:r>
              <a:rPr sz="1200">
                <a:solidFill>
                  <a:srgbClr val="000000"/>
                </a:solidFill>
              </a:rPr>
              <a:t>) 대비 22.61% 낮으며 전체 가격 대비 고가권에 속합니다</a:t>
            </a:r>
            <a:r>
              <a:rPr sz="1200">
                <a:solidFill>
                  <a:srgbClr val="000000"/>
                </a:solidFill>
              </a:rPr>
              <a:t>. 조회기간 중 가장 큰 하락은 2024년 1월 11일부터 2025년 2월 25일까지 이어졌으며, 이 기간 25.57% 하락했습니다.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39.31%, 3개월 24.26%, 1년 18.59% 수준의 가격 변동폭을 보였습니다.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4일, 하락 8일, 보합 2일로 단기적으로 가격 하락 압력이 크게 반영된 상태입니다.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43,250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-17.62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-22.57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24.21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55,885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희소금속</a:t>
            </a:r>
            <a:r>
              <a:rPr lang="en-US" altLang="ko-KR" dirty="0">
                <a:solidFill/>
              </a:rPr>
              <a:t>, </a:t>
            </a:r>
            <a:r>
              <a:rPr lang="ko-KR" altLang="en-US" dirty="0">
                <a:solidFill/>
              </a:rPr>
              <a:t>코발트</a:t>
            </a:r>
            <a:r>
              <a:rPr lang="en-US" altLang="ko-KR" dirty="0">
                <a:solidFill/>
              </a:rPr>
              <a:t>, 2024~2026, </a:t>
            </a:r>
            <a:r>
              <a:rPr lang="ko-KR" altLang="en-US" dirty="0">
                <a:solidFill/>
              </a:rPr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8월 31일 기준 우라늄 실거래가는 89.53달러로, 직전 관측치(2026년 8월 24일) 대비 0.51% 하락했습니다. 전주평균 대비 0.51% 낮으며, 전월평균 대비 4.10% 높고, 전년평균 대비 22.43% 높은 수준입니다.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시작(2025년 1월 6일, 73.43</a:t>
            </a:r>
            <a:r>
              <a:rPr sz="1100">
                <a:solidFill>
                  <a:srgbClr val="00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000000"/>
                </a:solidFill>
              </a:rPr>
              <a:t>21.93% 상승했습니다</a:t>
            </a:r>
            <a:r>
              <a:rPr sz="1100">
                <a:solidFill>
                  <a:srgbClr val="000000"/>
                </a:solidFill>
              </a:rPr>
              <a:t>. 최근 가격 흐름은 단기·중기 평균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200">
                <a:solidFill>
                  <a:srgbClr val="000000"/>
                </a:solidFill>
              </a:rPr>
              <a:t>조회기간 관측치 기준 최고는 95.95</a:t>
            </a:r>
            <a:r>
              <a:rPr sz="1200">
                <a:solidFill>
                  <a:srgbClr val="00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(2026년 1월 26일), 최저는 63.87</a:t>
            </a:r>
            <a:r>
              <a:rPr sz="1200">
                <a:solidFill>
                  <a:srgbClr val="00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(2025년 3월 10일)이었습니다.</a:t>
            </a:r>
            <a:endParaRPr lang="en-US" altLang="ko-KR" sz="1100" b="1" dirty="0"/>
          </a:p>
          <a:p>
            <a:pPr lvl="0"/>
            <a:r>
              <a:rPr sz="1200">
                <a:solidFill>
                  <a:srgbClr val="000000"/>
                </a:solidFill>
              </a:rPr>
              <a:t>조회기간 저점(2025년 3월 10일, 63.87</a:t>
            </a:r>
            <a:r>
              <a:rPr sz="1200">
                <a:solidFill>
                  <a:srgbClr val="00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) 대비 현재가는 40.18% 회복한 수준입니다.</a:t>
            </a:r>
            <a:endParaRPr lang="en-US" altLang="ko-KR" sz="1100" b="1" dirty="0"/>
          </a:p>
          <a:p>
            <a:pPr lvl="0"/>
            <a:r>
              <a:rPr sz="1200">
                <a:solidFill>
                  <a:srgbClr val="000000"/>
                </a:solidFill>
              </a:rPr>
              <a:t>현재가는 조회기간 중 최고가(2026년 1월 26일, 95.95</a:t>
            </a:r>
            <a:r>
              <a:rPr sz="1200">
                <a:solidFill>
                  <a:srgbClr val="00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) 대비 6.69% 낮으며 전체 가격 대비 고가권에 속합니다. 조회기간 중 가장 큰 하락은 2025년 1월 13일부터 2025년 3월 10일까지 이어졌으며, 이 기간 13.47% 하락했습니다.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철에너지</a:t>
            </a:r>
            <a:r>
              <a:rPr lang="en-US" altLang="ko-KR" dirty="0">
                <a:solidFill/>
              </a:rPr>
              <a:t>, </a:t>
            </a:r>
            <a:r>
              <a:rPr lang="ko-KR" altLang="en-US" dirty="0">
                <a:solidFill/>
              </a:rPr>
              <a:t>우라늄</a:t>
            </a:r>
            <a:r>
              <a:rPr lang="en-US" altLang="ko-KR" dirty="0">
                <a:solidFill/>
              </a:rPr>
              <a:t>, 2025~2026, </a:t>
            </a:r>
            <a:r>
              <a:rPr lang="ko-KR" altLang="en-US" dirty="0">
                <a:solidFill/>
              </a:rPr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9월 9일 기준 흑연 실거래가는 390달러로, 전일 대비 </a:t>
            </a:r>
            <a:r>
              <a:rPr sz="1200">
                <a:solidFill>
                  <a:srgbClr val="000000"/>
                </a:solidFill>
              </a:rPr>
              <a:t>보합했으며</a:t>
            </a:r>
            <a:r>
              <a:rPr sz="1200">
                <a:solidFill>
                  <a:srgbClr val="000000"/>
                </a:solidFill>
              </a:rPr>
              <a:t> 전주평균 대비 같은 수준입니다. 전월평균 대비 0.01% 높고, 전년평균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시작(2024년 1월 2일, </a:t>
            </a:r>
            <a:r>
              <a:rPr sz="1200">
                <a:solidFill>
                  <a:srgbClr val="000000"/>
                </a:solidFill>
              </a:rPr>
              <a:t>614.93달러</a:t>
            </a:r>
            <a:r>
              <a:rPr sz="1200">
                <a:solidFill>
                  <a:srgbClr val="000000"/>
                </a:solidFill>
              </a:rPr>
              <a:t>) 대비 </a:t>
            </a:r>
            <a:r>
              <a:rPr sz="1200">
                <a:solidFill>
                  <a:srgbClr val="000000"/>
                </a:solidFill>
              </a:rPr>
              <a:t>36.58% 하락했습니다</a:t>
            </a:r>
            <a:r>
              <a:rPr sz="1200">
                <a:solidFill>
                  <a:srgbClr val="000000"/>
                </a:solidFill>
              </a:rPr>
              <a:t>. 22일 연속 보합세를 보이고 있으며, 최근에는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 기준 최고 614.93</a:t>
            </a:r>
            <a:r>
              <a:rPr sz="1200">
                <a:solidFill>
                  <a:srgbClr val="00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(2024년 1월 2일), 최저 387.31</a:t>
            </a:r>
            <a:r>
              <a:rPr sz="1200">
                <a:solidFill>
                  <a:srgbClr val="00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(2026년 7월 29일)이었으며, 저점 대비 현재가는 0.69% 회복한 수준입니다.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현재가는 조회기간 중 최고가(2024년 1월 2일, </a:t>
            </a:r>
            <a:r>
              <a:rPr sz="1200">
                <a:solidFill>
                  <a:srgbClr val="000000"/>
                </a:solidFill>
              </a:rPr>
              <a:t>614.93달러</a:t>
            </a:r>
            <a:r>
              <a:rPr sz="1200">
                <a:solidFill>
                  <a:srgbClr val="000000"/>
                </a:solidFill>
              </a:rPr>
              <a:t>) 대비 36.58% 낮으며 전체 가격 대비 저가권에 속합니다.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1.12%·3개월 8.56%·1년 9.54% 수준의 가격 변동폭을 보였습니다.</a:t>
            </a:r>
          </a:p>
          <a:p>
            <a:pPr lvl="0"/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기타</a:t>
            </a:r>
            <a:r>
              <a:rPr lang="en-US" altLang="ko-KR" dirty="0">
                <a:solidFill/>
              </a:rPr>
              <a:t>, </a:t>
            </a:r>
            <a:r>
              <a:rPr lang="ko-KR" altLang="en-US" dirty="0">
                <a:solidFill/>
              </a:rPr>
              <a:t>흑연</a:t>
            </a:r>
            <a:r>
              <a:rPr lang="en-US" altLang="ko-KR" dirty="0">
                <a:solidFill/>
              </a:rPr>
              <a:t>, 2024~2026, </a:t>
            </a:r>
            <a:r>
              <a:rPr lang="ko-KR" altLang="en-US" dirty="0">
                <a:solidFill/>
              </a:rPr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b="1" dirty="0">
                <a:solidFill>
                  <a:srgbClr val="000000"/>
                </a:solidFill>
              </a:rPr>
              <a:t>지수 요약</a:t>
            </a:r>
          </a:p>
          <a:p>
            <a:r>
              <a:rPr>
                <a:solidFill>
                  <a:srgbClr val="000000"/>
                </a:solidFill>
              </a:rPr>
              <a:t>2026년 9월 1일 광물종합지수는 3,608.83포인트로, 전주 3,557.13포인트 대비 1.45% 상승, 전월 3,413.08포인트 대비 5.74% 상승, 전년 동기 2,657.59포인트 대비 35.79%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600" b="1" dirty="0"/>
          </a:p>
          <a:p>
            <a:r>
              <a:rPr lang="ko-KR" altLang="ko-KR" sz="1200" b="1" dirty="0">
                <a:solidFill>
                  <a:srgbClr val="000000"/>
                </a:solidFill>
              </a:rPr>
              <a:t>지수별 변화</a:t>
            </a:r>
          </a:p>
          <a:p>
            <a:r>
              <a:rPr>
                <a:solidFill>
                  <a:srgbClr val="000000"/>
                </a:solidFill>
              </a:rPr>
              <a:t>광물종합지수는 3,608.83포인트로, 전주 대비 1.45% 상승, 전월 대비 5.74% 상승, 전년 대비 35.79% 상승했습니다. 최근 조회기간 동안 상승 흐름을 이어가고 있습니다. 구성 광종은 유연탄(25.6%)·동(16.6%)·알루미늄(15.7%) 등입니다. 메이저금속지수는 3,004.01포인트로, 전주 대비 0.88% 상승, 전월 대비 2.22% 상승, 전년 대비 22.02% 상승했습니다. 최근 조회기간 동안 상승 흐름을 이어가고 있습니다. 구성 광종은 동(28.2%)·알루미늄(26.6%) 등입니다. 희소금속지수는 2,911.18포인트로, 전주 대비 0.02% 하락, 전월 대비 0.30% 상승, 전년 대비 85.25% 상승했습니다. 뚜렷한 방향성 없이 등락을 반복하고 있습니다. 구성 광종은 리튬(71.0%)·몰리브덴(11.7%) 등입니다.</a:t>
            </a:r>
          </a:p>
          <a:p>
            <a:endParaRPr lang="en-US" altLang="ko-KR" sz="1600" b="1" dirty="0"/>
          </a:p>
          <a:p>
            <a:r>
              <a:rPr lang="ko-KR" altLang="ko-KR" sz="1600" b="1" dirty="0">
                <a:solidFill>
                  <a:srgbClr val="000000"/>
                </a:solidFill>
              </a:rPr>
              <a:t>지수 위치</a:t>
            </a:r>
          </a:p>
          <a:p>
            <a:r>
              <a:rPr>
                <a:solidFill>
                  <a:srgbClr val="000000"/>
                </a:solidFill>
              </a:rPr>
              <a:t>현재 광물종합지수는 조회기간 최고치인 3,682.58포인트보다 2.00% 낮으며, 최저치인 2,616.06포인트보다 37.95% 높습니다.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3,608.83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3,004.01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>
                <a:solidFill>
                  <a:srgbClr val="000000"/>
                </a:solidFill>
              </a:rPr>
              <a:t>2026년 7월 기준 동의 시장동향지표는 30.38점으로, 현재 주의 단계에 해당하며 최근 한 달에는 전월 34.04점 대비 3.66점 하락했습니다. 이 지표는 점수가 낮을수록 위험이 커지는 구조로, 중장기 가격위험이 높아지는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가장 최근 단계 전환은 2025년 1월로, </a:t>
            </a:r>
            <a:r>
              <a:rPr sz="1600">
                <a:solidFill>
                  <a:srgbClr val="000000"/>
                </a:solidFill>
              </a:rPr>
              <a:t>신중에서 주의 단계로 바뀌었으며</a:t>
            </a:r>
            <a:r>
              <a:rPr sz="1600">
                <a:solidFill>
                  <a:srgbClr val="000000"/>
                </a:solidFill>
              </a:rPr>
              <a:t>, 2025년 1월부터 주의 단계를 19개월째 유지 중입니다. 조회기간 중 월간 점수 변화 폭이 가장 컸던 때는 2025년 1월로, 직전월보다 8.83점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>
                <a:solidFill>
                  <a:srgbClr val="000000"/>
                </a:solidFill>
              </a:rPr>
              <a:t>최근 한 달 동안 가격은 4.42% 올랐습니다.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b="1" dirty="0">
                <a:solidFill>
                  <a:srgbClr val="000000"/>
                </a:solidFill>
              </a:rPr>
              <a:t>현재 단계</a:t>
            </a:r>
            <a:r>
              <a:rPr lang="ko-KR" altLang="ko-KR" sz="1100" dirty="0">
                <a:solidFill>
                  <a:srgbClr val="000000"/>
                </a:solidFill>
              </a:rPr>
              <a:t>: 긴장 (1.73점)</a:t>
            </a:r>
            <a:endParaRPr lang="en-US" altLang="ko-KR" sz="1100" dirty="0"/>
          </a:p>
          <a:p>
            <a:endParaRPr lang="en-US" altLang="ko-KR" sz="1100" b="1" dirty="0"/>
          </a:p>
          <a:p>
            <a:r>
              <a:rPr lang="ko-KR" altLang="ko-KR" sz="1100" b="1" dirty="0">
                <a:solidFill>
                  <a:srgbClr val="000000"/>
                </a:solidFill>
              </a:rPr>
              <a:t>현재 수급 단계</a:t>
            </a:r>
          </a:p>
          <a:p>
            <a:r>
              <a:rPr lang="ko-KR" altLang="ko-KR" sz="1100" dirty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>
                <a:solidFill>
                  <a:srgbClr val="000000"/>
                </a:solidFill>
              </a:rPr>
              <a:t>단계 변화</a:t>
            </a:r>
          </a:p>
          <a:p>
            <a:r>
              <a:rPr lang="ko-KR" altLang="ko-KR" sz="1100" dirty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2025년 4월로, 직전월보다 10.17점 올랐습니다.</a:t>
            </a:r>
          </a:p>
          <a:p>
            <a:endParaRPr lang="en-US" altLang="ko-KR" sz="1100" b="1" dirty="0">
              <a:solidFill>
                <a:srgbClr val="FF0000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상위 3개국(</a:t>
            </a:r>
            <a:r>
              <a:rPr lang="ko-KR" altLang="ko-KR" sz="1100" dirty="0" err="1">
                <a:solidFill>
                  <a:srgbClr val="000000"/>
                </a:solidFill>
              </a:rPr>
              <a:t>칠레·호주·콩고민주공화국</a:t>
            </a:r>
            <a:r>
              <a:rPr lang="ko-KR" altLang="ko-KR" sz="1100" dirty="0">
                <a:solidFill>
                  <a:srgbClr val="000000"/>
                </a:solidFill>
              </a:rPr>
              <a:t>) 수입의존도는 74.90%로 집중된 구조입니다.</a:t>
            </a:r>
          </a:p>
          <a:p>
            <a:pPr lvl="0"/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11.49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 err="1">
                <a:solidFill>
                  <a:srgbClr val="000000"/>
                </a:solidFill>
              </a:rPr>
              <a:t>동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>
                <a:solidFill>
                  <a:srgbClr val="000000"/>
                </a:solidFill>
              </a:rPr>
              <a:t>2026년 기준 한국의 동 수입액은 총 약 109억 달러이며, 1위 수입국은 칠레 약 25억 달러(23.27%), 2위 수입국은 미국 약 12억 달러(10.97%), 3위 수입국은 호주 약 11억 달러(10.07%)입니다.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>
                <a:solidFill>
                  <a:srgbClr val="000000"/>
                </a:solidFill>
              </a:rPr>
              <a:t>상위 3개국 수입 비중은 전체의 44.32%이며, 상위 5개국까지 합산하면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수출 현황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2026년 기준 한국의 동 수출액은 총 약 51억 달러로, 주요 수출 대상국은 1위 중국 약 20억 달러(39.06%), 2위 미국 약 9억 달러(17.26%), 3위 대만 약 4억 달러(7.79%) 순이며, 수출액은 수입액의 약 47% 수준으로 수입액이 수출액보다 많습니다.</a:t>
            </a:r>
          </a:p>
          <a:p>
            <a:br>
              <a:rPr lang="ko-KR" altLang="ko-KR" sz="700" dirty="0"/>
            </a:br>
            <a:endParaRPr lang="ko-KR" altLang="ko-KR" sz="700" dirty="0"/>
          </a:p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</a:t>
            </a:r>
            <a:r>
              <a:rPr lang="ko-KR" altLang="en-US" dirty="0">
                <a:solidFill/>
              </a:rPr>
              <a:t>광종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동</a:t>
            </a:r>
            <a:r>
              <a:rPr lang="en-US" altLang="ko-KR" dirty="0">
                <a:solidFill/>
              </a:rPr>
              <a:t>, </a:t>
            </a:r>
            <a:r>
              <a:rPr lang="ko-KR" altLang="en-US" dirty="0">
                <a:solidFill/>
              </a:rPr>
              <a:t>수입</a:t>
            </a:r>
            <a:r>
              <a:rPr lang="en-US" altLang="ko-KR" dirty="0">
                <a:solidFill/>
              </a:rPr>
              <a:t>, 2026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>
                <a:solidFill>
                  <a:srgbClr val="000000"/>
                </a:solidFill>
              </a:rPr>
              <a:t>2026년 기준 리튬 세계 교역 총액은 약 2억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글로벌 교역 규모 1위는 호주→인도네시아 루트로 약 1,229만 달러(7.11%)이며, 2위는 칠레→독일 루트로 약 768만 달러(4.44%), 3위는 칠레→영국 루트로 약 756만 달러(4.37%)를 기록했습니다. 상위 3개 루트의 합산 점유율은 15.93%이며, 상위 5개 루트의 합산 점유율은 24.23%입니다.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대한민국이 포함된 교역 루트는 5위 대한민국→인도네시아 루트의 교역액 약 687만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</a:t>
            </a:r>
            <a:r>
              <a:rPr lang="ko-KR" altLang="en-US" dirty="0">
                <a:solidFill/>
              </a:rPr>
              <a:t>광종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리튬</a:t>
            </a:r>
            <a:r>
              <a:rPr lang="en-US" altLang="ko-KR" dirty="0">
                <a:solidFill/>
              </a:rPr>
              <a:t>, </a:t>
            </a:r>
            <a:r>
              <a:rPr lang="ko-KR" altLang="en-US" dirty="0">
                <a:solidFill/>
              </a:rPr>
              <a:t>수입</a:t>
            </a:r>
            <a:r>
              <a:rPr lang="en-US" altLang="ko-KR" dirty="0">
                <a:solidFill/>
              </a:rPr>
              <a:t>, 2026, </a:t>
            </a:r>
            <a:r>
              <a:rPr lang="ko-KR" altLang="en-US" dirty="0">
                <a:solidFill/>
              </a:rPr>
              <a:t>수출입국가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전체</a:t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>
                <a:solidFill>
                  <a:srgbClr val="000000"/>
                </a:solidFill>
              </a:rPr>
              <a:t>2025년 세계 동 매장량은 </a:t>
            </a:r>
            <a:r>
              <a:rPr sz="1200">
                <a:solidFill>
                  <a:srgbClr val="000000"/>
                </a:solidFill>
              </a:rPr>
              <a:t>약 7.70억톤</a:t>
            </a:r>
            <a:r>
              <a:rPr sz="1200">
                <a:solidFill>
                  <a:srgbClr val="000000"/>
                </a:solidFill>
              </a:rPr>
              <a:t>입니다. 2024년보다 </a:t>
            </a:r>
            <a:r>
              <a:rPr sz="1200">
                <a:solidFill>
                  <a:srgbClr val="000000"/>
                </a:solidFill>
              </a:rPr>
              <a:t>약 2,730만톤</a:t>
            </a:r>
            <a:r>
              <a:rPr sz="1200">
                <a:solidFill>
                  <a:srgbClr val="000000"/>
                </a:solidFill>
              </a:rPr>
              <a:t> 줄어 1년간 3.42% 감소했습니다.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2025년 기준 칠레는 </a:t>
            </a:r>
            <a:r>
              <a:rPr sz="1200">
                <a:solidFill>
                  <a:srgbClr val="000000"/>
                </a:solidFill>
              </a:rPr>
              <a:t>약 1.80억톤</a:t>
            </a:r>
            <a:r>
              <a:rPr sz="1200">
                <a:solidFill>
                  <a:srgbClr val="000000"/>
                </a:solidFill>
              </a:rPr>
              <a:t>으로 세계 전체의 23.37%를 차지해 1위입니다. 호주는 </a:t>
            </a:r>
            <a:r>
              <a:rPr sz="1200">
                <a:solidFill>
                  <a:srgbClr val="000000"/>
                </a:solidFill>
              </a:rPr>
              <a:t>약 1억톤</a:t>
            </a:r>
            <a:r>
              <a:rPr sz="1200">
                <a:solidFill>
                  <a:srgbClr val="000000"/>
                </a:solidFill>
              </a:rPr>
              <a:t>, 12.98%로 2위이며 두 국가의 비중 차이는 10.39%포인트입니다. 페루는 </a:t>
            </a:r>
            <a:r>
              <a:rPr sz="1200">
                <a:solidFill>
                  <a:srgbClr val="000000"/>
                </a:solidFill>
              </a:rPr>
              <a:t>약 8,500만톤</a:t>
            </a:r>
            <a:r>
              <a:rPr sz="1200">
                <a:solidFill>
                  <a:srgbClr val="000000"/>
                </a:solidFill>
              </a:rPr>
              <a:t>, 11.04%로 3위입니다. 매장량 2위인 호주는 생산량 기준 8위(약 73만톤, 3.65%)에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>
                <a:solidFill>
                  <a:srgbClr val="000000"/>
                </a:solidFill>
              </a:rPr>
              <a:t>조회기간 중 매장량이 가장 크게 감소한 국가는 페루로, 2024년 약 1억톤에서 2025년 약 8,500만톤으로 약 1,500만톤(15.00%)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7.70억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페루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</a:t>
            </a:r>
            <a:r>
              <a:rPr lang="en-US" altLang="ko-KR" dirty="0">
                <a:solidFill/>
              </a:rPr>
              <a:t>:</a:t>
            </a:r>
            <a:r>
              <a:rPr lang="ko-KR" altLang="en-US" dirty="0">
                <a:solidFill/>
              </a:rPr>
              <a:t>광종 </a:t>
            </a:r>
            <a:r>
              <a:rPr lang="en-US" altLang="ko-KR" dirty="0">
                <a:solidFill/>
              </a:rPr>
              <a:t>: </a:t>
            </a:r>
            <a:r>
              <a:rPr lang="ko-KR" altLang="en-US" dirty="0">
                <a:solidFill/>
              </a:rPr>
              <a:t>동</a:t>
            </a:r>
            <a:r>
              <a:rPr lang="en-US" altLang="ko-KR" dirty="0">
                <a:solidFill/>
              </a:rPr>
              <a:t>, </a:t>
            </a:r>
            <a:r>
              <a:rPr lang="ko-KR" altLang="en-US" dirty="0">
                <a:solidFill/>
              </a:rPr>
              <a:t>매장량</a:t>
            </a:r>
            <a:r>
              <a:rPr lang="en-US" altLang="ko-KR" dirty="0">
                <a:solidFill/>
              </a:rPr>
              <a:t>, 2024~2025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