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4" r:id="rId24"/>
    <p:sldId id="278" r:id="rId28"/>
    <p:sldId id="262" r:id="rId13"/>
    <p:sldId id="275" r:id="rId25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9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희소금석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27일 기준 동 실거래가는 14,490달러입니다. 전일(2026년 8월 26일) 대비 0.24% 하락했습니다. 전주평균(14,365.2달러) 대비 0.87% 높습니다. 전월평균(13,525.17달러) 대비 7.13% 높습니다. 전년평균(9,944.94달러) 대비 45.7%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71.89% 상승했습니다.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79.21%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8월 27일 기준 재고량은 235,575톤으로, 전일(2026년 8월 26일) 대비 0.8%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20.38%·3개월 18.03%·1년 21.13%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8일·하락 6일로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2.42%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27일 기준 동 실거래가는 14,490달러입니다. 전일(2026년 8월 26일) 대비 0.24% 하락했습니다. 전주평균(14,365.2달러) 대비 0.87% 높습니다. 전월평균(13,525.17달러) 대비 7.13% 높습니다. 전년평균(9,944.94달러) 대비 45.7%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71.89% 상승했습니다.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79.21%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8월 27일 기준 재고량은 235,575톤으로, 전일(2026년 8월 26일) 대비 0.8%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20.38%·3개월 18.03%·1년 21.13%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8일·하락 6일로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2.42%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186.84% 상승한 반면, 동은 71.89%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동/니켈 가격비율은 현재 0.8597로, 조회기간 평균(0.6401) 대비 34.31%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-114.95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8월 25일 기준 코발트 실거래가는 53.46달러입니다. 전일(2026년 8월 24일) 대비 보합했습니다. 전주평균(53.46달러) 대비 같은 수준입니다. 전월평균(53.6달러) 대비 0.26% 낮습니다. 전년평균(34.21달러) 대비 56.27%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7월 2일, 42.85달러) 대비 24.76% 상승했습니다. 최근에는 11일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95.46달러(2018년 5월 7일), 최저 21.13달러(2025년 3월 4일)였습니다.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3월 4일, 21.13달러) 대비 현재가는 153.01%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4.71%·3개월 7.37%·1년 14.78%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2일·하락 1일·보합 11일로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5월 7일, 95.46달러) 대비 44% 낮으며 전체 가격 대비 고가권에 속합니다. 조회기간 중 가장 큰 하락은 2018년 5월 7일부터 2025년 3월 4일까지 이어졌으며, 이 기간 77.87%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56.27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8월 25일 기준 코발트 실거래가는 53.46달러입니다. 전일(2026년 8월 24일) 대비 보합했습니다. 전주평균(53.46달러) 대비 같은 수준입니다. 전월평균(53.6달러) 대비 0.26% 낮습니다. 전년평균(34.21달러) 대비 56.27%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7월 2일, 42.85달러) 대비 24.76% 상승했습니다. 최근에는 11일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95.46달러(2018년 5월 7일), 최저 21.13달러(2025년 3월 4일)였습니다.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3월 4일, 21.13달러) 대비 현재가는 153.01%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4.71%·3개월 7.37%·1년 14.78%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2일·하락 1일·보합 11일로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5월 7일, 95.46달러) 대비 44% 낮으며 전체 가격 대비 고가권에 속합니다. 조회기간 중 가장 큰 하락은 2018년 5월 7일부터 2025년 3월 4일까지 이어졌으며, 이 기간 77.87%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204.75% 상승한 반면, 코발트는 24.76%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코발트/몰리브덴 가격비율은 현재 0.0011로, 조회기간 평균(0.0023) 대비 54.75%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56.27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-179.99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17일 기준 우라늄 실거래가는 88.3달러입니다. 직전 관측치(2026년 8월 10일) 대비 1.37% 상승했습니다. 전주평균(87.11달러) 대비 1.37% 높습니다. 전월평균(86달러) 대비 2.67% 높습니다. 전년평균(73.13달러) 대비 20.74%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4.28% 하락했습니다. 최근에는 2주 연속 상승세를 보이고 있으며,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38.25%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3.96%·3개월 4.45%·1년 17.83%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7주·하락 7주로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16.55%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17일 기준 우라늄 실거래가는 88.3달러입니다. 직전 관측치(2026년 8월 10일) 대비 1.37% 상승했습니다. 전주평균(87.11달러) 대비 1.37% 높습니다. 전월평균(86달러) 대비 2.67% 높습니다. 전년평균(73.13달러) 대비 20.74%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4.28% 하락했습니다. 최근에는 2주 연속 상승세를 보이고 있으며,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38.25%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3.96%·3개월 4.45%·1년 17.83%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7주·하락 7주로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16.55%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3.39% 하락한 반면, 우라늄은 4.28%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우라늄/유연탄 가격비율은 현재 0.7051로, 조회기간 평균(0.739) 대비 4.59%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8월 27일 기준 흑연 실거래가는 390달러입니다. 전일(2026년 8월 26일) 대비 보합했습니다. 전주평균(390달러) 대비 같은 수준입니다. 전월평균(396.79달러) 대비 1.71% 낮습니다.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13일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4.65%·3개월 9.1%·1년 9.68%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1일·하락 0일·보합 13일로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8월 27일 기준 흑연 실거래가는 390달러입니다. 전일(2026년 8월 26일) 대비 보합했습니다. 전주평균(390달러) 대비 같은 수준입니다. 전월평균(396.79달러) 대비 1.71% 낮습니다.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13일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4.65%·3개월 9.1%·1년 9.68%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1일·하락 0일·보합 13일로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120.98%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흑연/금 가격비율은 현재 0.0854로, 조회기간 평균(0.1447) 대비 41.02%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-157.56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8월 24일 광물종합지수는 3,539.45포인트입니다. 전주 3,469.62포인트 대비 2.01%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3,539.45포인트로, 전주 대비 2.01% 상승했습니다. 구성 광종은 유연탄(25.6%)·동(16.6%)·알루미늄(15.7%) 등입니다. 메이저금속지수는 2,968.06포인트로, 전주 대비 0.46% 하락했습니다. 구성 광종은 동(28.2%)·알루미늄(26.6%) 등입니다. 희소금속지수는 2,911.8포인트로, 전주 대비 0.19% 상승했습니다. 구성 광종은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3,539.45포인트와 같으며, 최저치인 3,386.5포인트보다 4.52% 높습니다.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2026년 기준 한국의 동 수입액은 총 약 109.42억 달러입니다. 1위 수입국은 칠레 약 25.46억 달러(23.27%), 2위 수입국은 미국 약 12.01억 달러(10.97%), 3위 수입국은 호주 약 11.02억 달러(10.07%)입니다. 참고로 동일 조회범위의 수입액은 2025년 약 142.07억 달러에서 2026년 약 109.42억 달러로 전년 동기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수입/수출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2026년 기준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2026년 기준 한국의 동 칠레 대상 수입액은 총 약 25.46억 달러입니다. 참고로 동일 조회범위의 수입액은 2025년 약 26.43억 달러에서 2026년 약 25.46억 달러로 전년 동기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수입/수출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2026년 기준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2026년 기준 한국의 동 기초금속 수입액은 총 약 32.80억 달러입니다. 1위 수입국은 칠레 약 12.69억 달러(38.69%), 2위 수입국은 콩고민주공화국 약 9.83억 달러(29.97%), 3위 수입국은 멕시코 약 1.96억 달러(5.97%)입니다. 참고로 동일 조회범위의 수입액은 2025년 약 34.01억 달러에서 2026년 약 32.80억 달러로 전년 동기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이 범위 내 74.62%이며, 상위 5개국까지 합산하면 이 범위 내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수입/수출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2026년 기준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2026년 기준 리튬 세계 교역 총액은 약 1.73억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현황(수출 탭)</a:t>
            </a:r>
          </a:p>
          <a:p>
            <a:r>
              <a:rPr sz="1200" b="0">
                <a:solidFill>
                  <a:srgbClr val="000000"/>
                </a:solidFill>
              </a:rPr>
              <a:t>2026년 기준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2026년 기준 리튬 세계 교역 총액은 약 1.73억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수출입국가 옵션 추가 정보</a:t>
            </a:r>
          </a:p>
          <a:p>
            <a:r>
              <a:rPr sz="1200" b="0">
                <a:solidFill>
                  <a:srgbClr val="000000"/>
                </a:solidFill>
              </a:rPr>
              <a:t>komis_route_share_response(수출입국가 상세)를 더 넣으면 구조화 데이터(detailed_metrics)에 루트별 자국 집계총액 대비 비중이 추가된다 — 예: 대한민국→인도네시아 경로 비중(대한민국측 집계총액 대비) 9.16%; 대한민국→인도네시아 경로 비중(인도네시아측 집계총액 대비) 73.88%; 호주→인도네시아 경로 비중(호주측 집계총액 대비) 16.38%; 호주→인도네시아 경로 비중(인도네시아측 집계총액 대비) 2.71%; 아랍에미리트→인도 경로 비중(아랍에미리트측 집계총액 대비) 25%; 아랍에미리트→인도 경로 비중(인도측 집계총액 대비) 등. 본문 서술문에는 반영되지 않는다(설계상 표/데이터 전용).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상세(komis_route_share_response)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(매장량·생산량 교차비교)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변화(교차비교 포함)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2021~2025, 교차비교: 생산량(komis_snapshot_response)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현황(국가필터)</a:t>
            </a:r>
          </a:p>
          <a:p>
            <a:r>
              <a:rPr sz="1200" b="0">
                <a:solidFill>
                  <a:srgbClr val="000000"/>
                </a:solidFill>
              </a:rPr>
              <a:t>2026년 기준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