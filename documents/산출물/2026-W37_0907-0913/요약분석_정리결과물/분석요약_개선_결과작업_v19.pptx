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18"/>
    <p:sldId id="265" r:id="rId5"/>
    <p:sldId id="269" r:id="rId19"/>
    <p:sldId id="266" r:id="rId6"/>
    <p:sldId id="270" r:id="rId20"/>
    <p:sldId id="267" r:id="rId7"/>
    <p:sldId id="271" r:id="rId21"/>
    <p:sldId id="263" r:id="rId8"/>
    <p:sldId id="259" r:id="rId9"/>
    <p:sldId id="264" r:id="rId10"/>
    <p:sldId id="260" r:id="rId11"/>
    <p:sldId id="272" r:id="rId22"/>
    <p:sldId id="273" r:id="rId23"/>
    <p:sldId id="261" r:id="rId12"/>
    <p:sldId id="277" r:id="rId27"/>
    <p:sldId id="278" r:id="rId25"/>
    <p:sldId id="262" r:id="rId13"/>
    <p:sldId id="27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7.xml"/><Relationship Id="rId13" Type="http://schemas.openxmlformats.org/officeDocument/2006/relationships/slide" Target="slides/slide2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6.xml"/><Relationship Id="rId20" Type="http://schemas.openxmlformats.org/officeDocument/2006/relationships/slide" Target="slides/slide8.xml"/><Relationship Id="rId21" Type="http://schemas.openxmlformats.org/officeDocument/2006/relationships/slide" Target="slides/slide10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>
                <a:solidFill/>
              </a:rPr>
              <a:t>적용 메뉴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광물자원가격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비철금속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희소금속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철광석및에너지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기타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광물전망지표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광물종합지수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시장동향지표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>
                <a:solidFill/>
              </a:rPr>
              <a:t>단 상기 메뉴는 로그인이 필요해서 데모에서 직접 데이터 인출은 안됨</a:t>
            </a:r>
            <a:r>
              <a:rPr lang="en-US" altLang="ko-KR" dirty="0">
                <a:solidFill/>
              </a:rPr>
              <a:t>.</a:t>
            </a:r>
          </a:p>
          <a:p>
            <a:pPr lvl="1"/>
            <a:r>
              <a:rPr lang="ko-KR" altLang="en-US" dirty="0">
                <a:solidFill/>
              </a:rPr>
              <a:t>핵심광물지도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수급지도 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대한민국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글로벌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</a:p>
          <a:p>
            <a:pPr lvl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니켈은 0.18% 상승한 반면, 동은 70.7% 상승했습니다.</a:t>
            </a:r>
          </a:p>
          <a:p>
            <a:pPr lvl="0"/>
            <a:r>
              <a:rPr sz="1100" b="0">
                <a:solidFill>
                  <a:srgbClr val="FF0000"/>
                </a:solidFill>
              </a:rPr>
              <a:t>니켈 대비 동의</a:t>
            </a:r>
            <a:r>
              <a:rPr sz="1100" b="0"/>
              <a:t> 가격비율은 현재 </a:t>
            </a:r>
            <a:r>
              <a:rPr sz="1100" b="0">
                <a:solidFill>
                  <a:srgbClr val="FF0000"/>
                </a:solidFill>
              </a:rPr>
              <a:t>86.53%로,</a:t>
            </a:r>
            <a:r>
              <a:rPr sz="1100" b="0"/>
              <a:t> 조회기간 </a:t>
            </a:r>
            <a:r>
              <a:rPr sz="1100" b="0">
                <a:solidFill>
                  <a:srgbClr val="FF0000"/>
                </a:solidFill>
              </a:rPr>
              <a:t>평균(64.38%)</a:t>
            </a:r>
            <a:r>
              <a:rPr sz="1100" b="0"/>
              <a:t> 대비 34.41% 높은 수준입니다.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니켈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70.52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조회, 비교광종: 니켈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</a:p>
          <a:p>
            <a:pPr lvl="0"/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몰리브덴은 200.7% 상승한 반면, 코발트는 3.68% 상승했습니다.</a:t>
            </a:r>
          </a:p>
          <a:p>
            <a:pPr lvl="0"/>
            <a:r>
              <a:rPr sz="1200" b="0">
                <a:solidFill>
                  <a:srgbClr val="FF0000"/>
                </a:solidFill>
              </a:rPr>
              <a:t>몰리브덴 대비 코발트의</a:t>
            </a:r>
            <a:r>
              <a:rPr sz="1200" b="0"/>
              <a:t> 가격비율은 현재 </a:t>
            </a:r>
            <a:r>
              <a:rPr sz="1200" b="0">
                <a:solidFill>
                  <a:srgbClr val="FF0000"/>
                </a:solidFill>
              </a:rPr>
              <a:t>85.1%로,</a:t>
            </a:r>
            <a:r>
              <a:rPr sz="1200" b="0"/>
              <a:t> 조회기간 </a:t>
            </a:r>
            <a:r>
              <a:rPr sz="1200" b="0">
                <a:solidFill>
                  <a:srgbClr val="FF0000"/>
                </a:solidFill>
              </a:rPr>
              <a:t>평균(221.53%)</a:t>
            </a:r>
            <a:r>
              <a:rPr sz="1200" b="0"/>
              <a:t> 대비 61.58% 낮은 수준입니다.</a:t>
            </a:r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몰리브덴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-197.01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조회, 비교광종: 몰리브덴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</a:p>
          <a:p>
            <a:pPr lvl="0"/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유연탄은 2.53% 상승한 반면, 우라늄은 2.95% 하락했습니다.</a:t>
            </a:r>
          </a:p>
          <a:p>
            <a:pPr lvl="0"/>
            <a:r>
              <a:rPr sz="1100" b="0">
                <a:solidFill>
                  <a:srgbClr val="FF0000"/>
                </a:solidFill>
              </a:rPr>
              <a:t>유연탄 대비 우라늄의</a:t>
            </a:r>
            <a:r>
              <a:rPr sz="1100" b="0"/>
              <a:t> 가격비율은 현재 </a:t>
            </a:r>
            <a:r>
              <a:rPr sz="1100" b="0">
                <a:solidFill>
                  <a:srgbClr val="FF0000"/>
                </a:solidFill>
              </a:rPr>
              <a:t>70.04%로,</a:t>
            </a:r>
            <a:r>
              <a:rPr sz="1100" b="0"/>
              <a:t> 조회기간 </a:t>
            </a:r>
            <a:r>
              <a:rPr sz="1100" b="0">
                <a:solidFill>
                  <a:srgbClr val="FF0000"/>
                </a:solidFill>
              </a:rPr>
              <a:t>평균(73.84%)</a:t>
            </a:r>
            <a:r>
              <a:rPr sz="1100" b="0"/>
              <a:t> 대비 5.15% 낮은 수준입니다.</a:t>
            </a:r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유연탄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조회, 비교광종: 유연탄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금은 111.14% 상승한 반면, 흑연은 36.58% 하락했습니다.</a:t>
            </a:r>
          </a:p>
          <a:p>
            <a:r>
              <a:rPr sz="1200" b="0">
                <a:solidFill>
                  <a:srgbClr val="FF0000"/>
                </a:solidFill>
              </a:rPr>
              <a:t>금 대비 흑연의</a:t>
            </a:r>
            <a:r>
              <a:rPr sz="1200" b="0"/>
              <a:t> 가격비율은 현재 </a:t>
            </a:r>
            <a:r>
              <a:rPr sz="1200" b="0">
                <a:solidFill>
                  <a:srgbClr val="FF0000"/>
                </a:solidFill>
              </a:rPr>
              <a:t>8.93%로,</a:t>
            </a:r>
            <a:r>
              <a:rPr sz="1200" b="0"/>
              <a:t> 조회기간 </a:t>
            </a:r>
            <a:r>
              <a:rPr sz="1200" b="0">
                <a:solidFill>
                  <a:srgbClr val="FF0000"/>
                </a:solidFill>
              </a:rPr>
              <a:t>평균(14.39%)</a:t>
            </a:r>
            <a:r>
              <a:rPr sz="1200" b="0"/>
              <a:t> 대비 37.9% 낮은 수준입니다.</a:t>
            </a:r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-147.72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조회, 비교광종: 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광물종합지수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지수 요약</a:t>
            </a:r>
          </a:p>
          <a:p>
            <a:r>
              <a:rPr sz="1600" b="0">
                <a:solidFill>
                  <a:srgbClr val="000000"/>
                </a:solidFill>
              </a:rPr>
              <a:t>2026년 </a:t>
            </a:r>
            <a:r>
              <a:rPr sz="1600" b="0">
                <a:solidFill>
                  <a:srgbClr val="FF0000"/>
                </a:solidFill>
              </a:rPr>
              <a:t>8월</a:t>
            </a:r>
            <a:r>
              <a:rPr sz="1600" b="0"/>
              <a:t> </a:t>
            </a:r>
            <a:r>
              <a:rPr sz="1600" b="0">
                <a:solidFill>
                  <a:srgbClr val="FF0000"/>
                </a:solidFill>
              </a:rPr>
              <a:t>24일</a:t>
            </a:r>
            <a:r>
              <a:rPr sz="1600" b="0"/>
              <a:t> 광물종합지수는 </a:t>
            </a:r>
            <a:r>
              <a:rPr sz="1600" b="0">
                <a:solidFill>
                  <a:srgbClr val="FF0000"/>
                </a:solidFill>
              </a:rPr>
              <a:t>3,539.45포인트입니다. 최근 한 달에는 상승했지만 1년 전보다 34.56% 높은 수준입니다.</a:t>
            </a:r>
            <a:r>
              <a:rPr sz="1600" b="0"/>
              <a:t> 전주 </a:t>
            </a:r>
            <a:r>
              <a:rPr sz="1600" b="0">
                <a:solidFill>
                  <a:srgbClr val="FF0000"/>
                </a:solidFill>
              </a:rPr>
              <a:t>3,469.62포인트</a:t>
            </a:r>
            <a:r>
              <a:rPr sz="1600" b="0"/>
              <a:t> 대비 </a:t>
            </a:r>
            <a:r>
              <a:rPr sz="1600" b="0">
                <a:solidFill>
                  <a:srgbClr val="FF0000"/>
                </a:solidFill>
              </a:rPr>
              <a:t>2.01% 상승, 전월 3,438.69포인트 대비 2.93% 상승, 전년 동기 2,630.33포인트 대비 34.56%</a:t>
            </a:r>
            <a:r>
              <a:rPr sz="1600" b="0"/>
              <a:t>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지수별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광물종합지수는 </a:t>
            </a:r>
            <a:r>
              <a:rPr sz="1600" b="0">
                <a:solidFill>
                  <a:srgbClr val="FF0000"/>
                </a:solidFill>
              </a:rPr>
              <a:t>3,539.45포인트로,</a:t>
            </a:r>
            <a:r>
              <a:rPr sz="1600" b="0"/>
              <a:t> 전주 대비 </a:t>
            </a:r>
            <a:r>
              <a:rPr sz="1600" b="0">
                <a:solidFill>
                  <a:srgbClr val="FF0000"/>
                </a:solidFill>
              </a:rPr>
              <a:t>2.01% 상승, 전월 대비 2.93% 상승, 전년 대비 34.56%</a:t>
            </a:r>
            <a:r>
              <a:rPr sz="1600" b="0"/>
              <a:t> 상승했습니다. </a:t>
            </a:r>
            <a:r>
              <a:rPr sz="1600" b="0">
                <a:solidFill>
                  <a:srgbClr val="FF0000"/>
                </a:solidFill>
              </a:rPr>
              <a:t>최근 조회기간 동안 상승 흐름을 이어가고 있습니다. </a:t>
            </a:r>
            <a:r>
              <a:rPr sz="1600" b="0"/>
              <a:t>구성 </a:t>
            </a:r>
            <a:r>
              <a:rPr sz="1600" b="0">
                <a:solidFill>
                  <a:srgbClr val="FF0000"/>
                </a:solidFill>
              </a:rPr>
              <a:t>광종(가중치)은</a:t>
            </a:r>
            <a:r>
              <a:rPr sz="1600" b="0"/>
              <a:t> 유연탄(25.6%)·동(16.6%)·알루미늄(15.7%) 등입니다. 메이저금속지수는 </a:t>
            </a:r>
            <a:r>
              <a:rPr sz="1600" b="0">
                <a:solidFill>
                  <a:srgbClr val="FF0000"/>
                </a:solidFill>
              </a:rPr>
              <a:t>2,968.06포인트로,</a:t>
            </a:r>
            <a:r>
              <a:rPr sz="1600" b="0"/>
              <a:t> 전주 대비 </a:t>
            </a:r>
            <a:r>
              <a:rPr sz="1600" b="0">
                <a:solidFill>
                  <a:srgbClr val="FF0000"/>
                </a:solidFill>
              </a:rPr>
              <a:t>0.46% 하락, 전월 대비 0.67% 상승, 전년 대비 22.86%</a:t>
            </a:r>
            <a:r>
              <a:rPr sz="1600" b="0"/>
              <a:t> 상승했습니다. </a:t>
            </a:r>
            <a:r>
              <a:rPr sz="1600" b="0">
                <a:solidFill>
                  <a:srgbClr val="FF0000"/>
                </a:solidFill>
              </a:rPr>
              <a:t>뚜렷한 방향성 없이 등락을 반복하고 있습니다. </a:t>
            </a:r>
            <a:r>
              <a:rPr sz="1600" b="0"/>
              <a:t>구성 </a:t>
            </a:r>
            <a:r>
              <a:rPr sz="1600" b="0">
                <a:solidFill>
                  <a:srgbClr val="FF0000"/>
                </a:solidFill>
              </a:rPr>
              <a:t>광종(가중치)은</a:t>
            </a:r>
            <a:r>
              <a:rPr sz="1600" b="0"/>
              <a:t> 동(28.2%)·알루미늄(26.6%) 등입니다. 희소금속지수는 </a:t>
            </a:r>
            <a:r>
              <a:rPr sz="1600" b="0">
                <a:solidFill>
                  <a:srgbClr val="FF0000"/>
                </a:solidFill>
              </a:rPr>
              <a:t>2,911.8포인트로,</a:t>
            </a:r>
            <a:r>
              <a:rPr sz="1600" b="0"/>
              <a:t> 전주 대비 </a:t>
            </a:r>
            <a:r>
              <a:rPr sz="1600" b="0">
                <a:solidFill>
                  <a:srgbClr val="FF0000"/>
                </a:solidFill>
              </a:rPr>
              <a:t>0.19% 상승, 전월 대비 1.09% 하락, 전년 대비 85.09%</a:t>
            </a:r>
            <a:r>
              <a:rPr sz="1600" b="0"/>
              <a:t> 상승했습니다. </a:t>
            </a:r>
            <a:r>
              <a:rPr sz="1600" b="0">
                <a:solidFill>
                  <a:srgbClr val="FF0000"/>
                </a:solidFill>
              </a:rPr>
              <a:t>뚜렷한 방향성 없이 등락을 반복하고 있습니다. </a:t>
            </a:r>
            <a:r>
              <a:rPr sz="1600" b="0"/>
              <a:t>구성 </a:t>
            </a:r>
            <a:r>
              <a:rPr sz="1600" b="0">
                <a:solidFill>
                  <a:srgbClr val="FF0000"/>
                </a:solidFill>
              </a:rPr>
              <a:t>광종(가중치)은</a:t>
            </a:r>
            <a:r>
              <a:rPr sz="1600" b="0"/>
              <a:t> 리튬(71%)·몰리브덴(11.7%) 등입니다.</a:t>
            </a:r>
          </a:p>
          <a:p>
            <a:r>
              <a:rPr sz="1600" b="1">
                <a:solidFill>
                  <a:srgbClr val="000000"/>
                </a:solidFill>
              </a:rPr>
              <a:t>지수 위치</a:t>
            </a:r>
          </a:p>
          <a:p>
            <a:r>
              <a:rPr sz="1600" b="0">
                <a:solidFill>
                  <a:srgbClr val="000000"/>
                </a:solidFill>
              </a:rPr>
              <a:t>현재 광물종합지수는 조회기간 최고치인 </a:t>
            </a:r>
            <a:r>
              <a:rPr sz="1600" b="0">
                <a:solidFill>
                  <a:srgbClr val="FF0000"/>
                </a:solidFill>
              </a:rPr>
              <a:t>3,682.58포인트보다</a:t>
            </a:r>
            <a:r>
              <a:rPr sz="1600" b="0"/>
              <a:t> </a:t>
            </a:r>
            <a:r>
              <a:rPr sz="1600" b="0">
                <a:solidFill>
                  <a:srgbClr val="FF0000"/>
                </a:solidFill>
              </a:rPr>
              <a:t>3.89%</a:t>
            </a:r>
            <a:r>
              <a:rPr sz="1600" b="0"/>
              <a:t> 낮으며, 최저치인 </a:t>
            </a:r>
            <a:r>
              <a:rPr sz="1600" b="0">
                <a:solidFill>
                  <a:srgbClr val="FF0000"/>
                </a:solidFill>
              </a:rPr>
              <a:t>2,461.6포인트보다</a:t>
            </a:r>
            <a:r>
              <a:rPr sz="1600" b="0"/>
              <a:t> </a:t>
            </a:r>
            <a:r>
              <a:rPr sz="1600" b="0">
                <a:solidFill>
                  <a:srgbClr val="FF0000"/>
                </a:solidFill>
              </a:rPr>
              <a:t>43.79%</a:t>
            </a:r>
            <a:r>
              <a:rPr sz="1600" b="0"/>
              <a:t> 높습니다.</a:t>
            </a:r>
            <a:r>
              <a:rPr sz="1600" b="0">
                <a:solidFill>
                  <a:srgbClr val="FF0000"/>
                </a:solidFill>
              </a:rPr>
              <a:t> 최근 한 달과 1년 비교가 모두 상승 방향이며, 현재 지수는 1년 전보다 34.56% 높습니다. 두 하위지수의 1년 변화 폭에도 차이가 있었습니다.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3,539.45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2,968.06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2,911.8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34.56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조회기간 평균 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3,065.18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주요지표</a:t>
            </a:r>
            <a:endParaRPr lang="ko-KR" altLang="ko-KR" sz="11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검색 옵션 : 2025-07-01~2026-08-24(KOMIS 정적 덤프 전체기간을 기간 필터 — 전주·전월·전년 비교 시점 확보용)</a:t>
            </a:r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시장동향지표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현재 단계</a:t>
            </a:r>
          </a:p>
          <a:p>
            <a:r>
              <a:rPr sz="1600" b="0">
                <a:solidFill>
                  <a:srgbClr val="000000"/>
                </a:solidFill>
              </a:rPr>
              <a:t>2026년 7월 기준 동의 시장동향지표는 1.73점으로, 현재 신중 단계에 해당합니다. 최근 한 달에는 전월 1.72점 대비 0.01점 상승했습니다. 이 지표는 점수가 낮을수록 위험이 커지는 구조입니다. 중장기 가격위험이 낮아지는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단계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2025년 5월부터 신중 단계를 15개월째 유지 중입니다. 가장 최근 단계 전환은 2025년 5월로, 주의에서 신중 단계로 바뀌었습니다. 조회기간 중 월간 점수 변화 폭이 가장 컸던 때는 2008년 11월로, 직전월보다 52.32점 올랐습니다.</a:t>
            </a:r>
          </a:p>
          <a:p>
            <a:r>
              <a:rPr sz="1600" b="1">
                <a:solidFill>
                  <a:srgbClr val="000000"/>
                </a:solidFill>
              </a:rPr>
              <a:t>주요 변동 특징</a:t>
            </a:r>
            <a:endParaRPr lang="en-US" altLang="ko-KR" sz="1200" b="1" dirty="0"/>
          </a:p>
          <a:p>
            <a:r>
              <a:rPr sz="1600" b="0">
                <a:solidFill>
                  <a:srgbClr val="000000"/>
                </a:solidFill>
              </a:rPr>
              <a:t>최근 한 달 동안 가격은 0.36% 내렸습니다.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신중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수급동향지표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현재 단계: 긴장 (1.73점)</a:t>
            </a:r>
            <a:endParaRPr lang="en-US" altLang="ko-KR" sz="1100" dirty="0"/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현재 수급 단계</a:t>
            </a:r>
          </a:p>
          <a:p>
            <a:r>
              <a:rPr sz="1100" b="0">
                <a:solidFill>
                  <a:srgbClr val="000000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단계 변화</a:t>
            </a:r>
          </a:p>
          <a:p>
            <a:r>
              <a:rPr sz="1100" b="0">
                <a:solidFill>
                  <a:srgbClr val="000000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2022년 7월로, 직전월보다 32.79점 올랐습니다.</a:t>
            </a: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구성요소 변화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상위 3개국(칠레·호주·콩고민주공화국) 수입의존도는 74.9%로 집중된 구조입니다.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32.79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 err="1">
                <a:solidFill>
                  <a:srgbClr val="000000"/>
                </a:solidFill>
              </a:rPr>
              <a:t/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수입액은 총 약 109.42억 달러입니다. 1위 수입국은 칠레 약 25.46억 달러(23.27%), 2위 수입국은 미국 약 12.01억 달러(10.97%), 3위 수입국은 호주 약 11.02억 달러(10.07%)입니다. 동일 조회범위의 수입액은 2025년 약 142.07억 달러에서 2026년 약 109.42억 달러로 전년 대비 22.98%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</a:t>
            </a:r>
            <a:r>
              <a:rPr sz="1600" b="0">
                <a:solidFill>
                  <a:srgbClr val="FF0000"/>
                </a:solidFill>
              </a:rPr>
              <a:t>3개국의</a:t>
            </a:r>
            <a:r>
              <a:rPr sz="1600" b="0"/>
              <a:t> 수입 </a:t>
            </a:r>
            <a:r>
              <a:rPr sz="1600" b="0">
                <a:solidFill>
                  <a:srgbClr val="FF0000"/>
                </a:solidFill>
              </a:rPr>
              <a:t>집중도(CR3)는</a:t>
            </a:r>
            <a:r>
              <a:rPr sz="1600" b="0"/>
              <a:t> 44.32%이며, 상위 5개국까지 </a:t>
            </a:r>
            <a:r>
              <a:rPr sz="1600" b="0">
                <a:solidFill>
                  <a:srgbClr val="FF0000"/>
                </a:solidFill>
              </a:rPr>
              <a:t>합산하면(CR5)</a:t>
            </a:r>
            <a:r>
              <a:rPr sz="1600" b="0"/>
              <a:t> 전체의 59.59%를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151.06억 달러 → 2023년 약 127.71억 달러 → 2024년 약 123.79억 달러 → 2025년 약 142.07억 달러 → 2026년 약 109.42억 달러입니다. 같은 기간 수출액 추이는 2022년 약 82.69억 달러 → 2023년 약 69.32억 달러 → 2024년 약 62.04억 달러 → 2025년 약 </a:t>
            </a:r>
            <a:r>
              <a:rPr sz="1600" b="0">
                <a:solidFill>
                  <a:srgbClr val="FF0000"/>
                </a:solidFill>
              </a:rPr>
              <a:t>67.8억</a:t>
            </a:r>
            <a:r>
              <a:rPr sz="1600" b="0"/>
              <a:t> 달러 → 2026년 약 </a:t>
            </a:r>
            <a:r>
              <a:rPr sz="1600" b="0">
                <a:solidFill>
                  <a:srgbClr val="FF0000"/>
                </a:solidFill>
              </a:rPr>
              <a:t>51.3억</a:t>
            </a:r>
            <a:r>
              <a:rPr sz="1600" b="0"/>
              <a:t>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수출액은 총 약 </a:t>
            </a:r>
            <a:r>
              <a:rPr b="0" sz="1600">
                <a:solidFill>
                  <a:srgbClr val="FF0000"/>
                </a:solidFill>
              </a:rPr>
              <a:t>51.3억</a:t>
            </a:r>
            <a:r>
              <a:rPr b="0" sz="1600"/>
              <a:t> 달러이며, 주요 수출 대상국은 1위 중국 약 20.04억 달러(39.06%), 2위 미국 약 8.85억 달러(17.26%), 3위 대만 약 4억 달러(7.79%) 순입니다. 수출액은 수입액의 약 47%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109.42억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59.59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51.3억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46.89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39.06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(국가필터)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칠레 대상 수입액은 총 약 25.46억 달러입니다. 동일 조회범위의 수입액은 2025년 약 26.43억 달러에서 2026년 약 25.46억 달러로 전년 대비 3.65%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조회가 칠레 한 국가로 한정돼 있어, 칠레의 수입액 약 25.46억 달러가 그대로 이번 조회의 전체 금액입니다.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33.36억 달러 → 2023년 약 </a:t>
            </a:r>
            <a:r>
              <a:rPr sz="1600" b="0">
                <a:solidFill>
                  <a:srgbClr val="FF0000"/>
                </a:solidFill>
              </a:rPr>
              <a:t>27.4억</a:t>
            </a:r>
            <a:r>
              <a:rPr sz="1600" b="0"/>
              <a:t> 달러 → 2024년 약 29.84억 달러 → 2025년 약 26.43억 달러 → 2026년 약 25.46억 달러입니다. 같은 기간 수출액 추이는 2022년 약 446.42만 달러 → 2023년 약 331.44만 달러 → 2024년 약 340.31만 달러 → 2025년 약 346.36만 달러 → 2026년 약 380.21만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칠레 대상 수출액은 총 약 380.21만 달러입니다. 수출액은 수입액의 1% 미만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25.46억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380.21만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국가필터: 칠레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(생산품유형 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기초금속 수입액은 총 약 </a:t>
            </a:r>
            <a:r>
              <a:rPr sz="1600" b="0">
                <a:solidFill>
                  <a:srgbClr val="FF0000"/>
                </a:solidFill>
              </a:rPr>
              <a:t>32.8억</a:t>
            </a:r>
            <a:r>
              <a:rPr sz="1600" b="0"/>
              <a:t> 달러입니다. 1위 수입국은 칠레 약 12.69억 달러(38.69%), 2위 수입국은 콩고민주공화국 약 9.83억 달러(29.97%), 3위 수입국은 멕시코 약 1.96억 달러(5.97%)입니다. 동일 조회범위의 수입액은 2025년 약 34.01억 달러에서 2026년 약 </a:t>
            </a:r>
            <a:r>
              <a:rPr sz="1600" b="0">
                <a:solidFill>
                  <a:srgbClr val="FF0000"/>
                </a:solidFill>
              </a:rPr>
              <a:t>32.8억</a:t>
            </a:r>
            <a:r>
              <a:rPr sz="1600" b="0"/>
              <a:t> 달러로 전년 대비 3.57%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이 범위 내</a:t>
            </a:r>
            <a:r>
              <a:rPr sz="1600" b="0">
                <a:solidFill>
                  <a:srgbClr val="FF0000"/>
                </a:solidFill>
              </a:rPr>
              <a:t> 상위 3개국의 수입 집중도(CR3)는</a:t>
            </a:r>
            <a:r>
              <a:rPr sz="1600" b="0"/>
              <a:t> 74.62%이며, 상위 5개국까지 </a:t>
            </a:r>
            <a:r>
              <a:rPr sz="1600" b="0">
                <a:solidFill>
                  <a:srgbClr val="FF0000"/>
                </a:solidFill>
              </a:rPr>
              <a:t>합산하면(CR5)</a:t>
            </a:r>
            <a:r>
              <a:rPr sz="1600" b="0"/>
              <a:t> 82.48%를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38.77억 달러 → 2023년 약 30.33억 달러 → 2024년 약 31.18억 달러 → 2025년 약 34.01억 달러 → 2026년 약 </a:t>
            </a:r>
            <a:r>
              <a:rPr sz="1600" b="0">
                <a:solidFill>
                  <a:srgbClr val="FF0000"/>
                </a:solidFill>
              </a:rPr>
              <a:t>32.8억</a:t>
            </a:r>
            <a:r>
              <a:rPr sz="1600" b="0"/>
              <a:t> 달러입니다. 같은 기간 수출액 추이는 2022년 약 29.85억 달러 → 2023년 약 21.85억 달러 → 2024년 약 20.64억 달러 → 2025년 약 21.74억 달러 → 2026년 약 18.19억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기초금속 수출액은 총 약 18.19억 달러이며, 주요 수출 대상국은 1위 중국 약 7.33억 달러(40.29%), 2위 미국 약 5.67억 달러(31.16%), 3위 대만 약 </a:t>
            </a:r>
            <a:r>
              <a:rPr b="0" sz="1600">
                <a:solidFill>
                  <a:srgbClr val="FF0000"/>
                </a:solidFill>
              </a:rPr>
              <a:t>2.5억</a:t>
            </a:r>
            <a:r>
              <a:rPr b="0" sz="1600"/>
              <a:t> 달러(13.76%) 순입니다. 수출액은 수입액의 약 55%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32.8억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29.97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74.62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82.48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18.19억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40.29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생산품유형: 기초금속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1.73억 달러입니다. 동일 조회범위의 세계 교역 총액은 2025년 약 16.39억 달러에서 2026년 약 1.73억 달러로 전년 대비 89.46% 감소했습니다.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호주→인도네시아 루트로 약 1,228.97만 달러(7.11%), 2위는 칠레→독일 루트로 약 767.99만 달러(4.44%), 3위는 칠레→영국 루트로 약 755.61만 달러(4.37%)를 기록했습니다. 상위 3개 루트의 합산 점유율은 15.93%입니다. 상위 5개 루트의 합산 점유율은 24.23%입니다. 2026년 기준 2025년 대비, 1위 호주→인도네시아 루트는 약 3,629.19만 달러에서 약 1,228.97만 달러로 66.14% 감소, 2위 칠레→독일 루트는 약 3,340.33만 달러에서 약 767.99만 달러로 77.01% 감소, 3위 칠레→영국 루트는 약 1,272.43만 달러에서 약 755.61만 달러로 40.62% 감소했습니다.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대한민국→인도네시아 루트의 교역액 약 687.42만 달러(3.98%)로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1.73억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 옵션)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12.41억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호주→중국 루트로 약 3.87억 달러(31.2%), 2위는 아르헨티나→중국 루트로 약 1.93억 달러(15.57%), 3위는 칠레→중국 루트로 약 1.89억 달러(15.26%)를 기록했습니다. 상위 3개 루트의 합산 점유율은 62.03%입니다. 상위 5개 루트의 합산 점유율은 76%입니다.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칠레→대한민국 루트의 교역액 약 5,257.42만 달러(4.24%)로 확인됩니다.</a:t>
            </a:r>
            <a:endParaRPr lang="en-US" altLang="ko-KR" sz="1200" b="1" dirty="0"/>
          </a:p>
          <a:p>
            <a:r>
              <a:rPr b="1" sz="1200"/>
              <a:t>연도별 교역액 변화</a:t>
            </a:r>
          </a:p>
          <a:p>
            <a:r>
              <a:rPr b="0" sz="1200">
                <a:solidFill>
                  <a:srgbClr val="FF0000"/>
                </a:solidFill>
              </a:rPr>
              <a:t>2024년 대비 2025년 교역액 변화량(절대값)이 컸던 상위 3개국은 칠레 약 40.43억 달러 감소(65.91%), 중국 약 43.15억 달러 감소(93.05%), 호주 약 43.96억 달러 감소(64.61%)했습니다.</a:t>
            </a:r>
          </a:p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12.41억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31.2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62.03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76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수출,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60350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9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900" b="0">
                <a:solidFill>
                  <a:srgbClr val="000000"/>
                </a:solidFill>
              </a:rPr>
              <a:t>2025년 세계 동 매장량은 약 </a:t>
            </a:r>
            <a:r>
              <a:rPr sz="900" b="0">
                <a:solidFill>
                  <a:srgbClr val="FF0000"/>
                </a:solidFill>
              </a:rPr>
              <a:t>9.8억톤입니다.</a:t>
            </a:r>
            <a:r>
              <a:rPr sz="900" b="0"/>
              <a:t> 2021년보다 약 1억톤 늘어 4년간 11.36% 증가했습니다. 직전 관측연도인 2024년과 비교하면 0톤, 0% 변동이 없었습니다.</a:t>
            </a:r>
            <a:r>
              <a:rPr sz="900" b="0">
                <a:solidFill>
                  <a:srgbClr val="FF0000"/>
                </a:solidFill>
              </a:rPr>
              <a:t> 연도별 세계 매장량 합계는 2021년 약 8.8억톤 → 2022년 약 8.9억톤 → 2023년 약 10억톤 → 2024년 약 9.8억톤 → 2025년 약 9.8억톤입니다. 세계 매장량은 2023년 이후 약 9.8억톤~약 10억톤 수준에서 보합세를 유지하고 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9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900" b="0">
                <a:solidFill>
                  <a:srgbClr val="000000"/>
                </a:solidFill>
              </a:rPr>
              <a:t>2025년 기준 칠레는 약 </a:t>
            </a:r>
            <a:r>
              <a:rPr sz="900" b="0">
                <a:solidFill>
                  <a:srgbClr val="FF0000"/>
                </a:solidFill>
              </a:rPr>
              <a:t>1.8억톤으로</a:t>
            </a:r>
            <a:r>
              <a:rPr sz="900" b="0"/>
              <a:t> 세계 전체의 18.37%를 차지해 1위입니다. 호주는 약 1억톤, 10.2%로 2위이며 두 국가의 비중 차이는 8.16%포인트입니다. 페루는 약 8,500만톤, 8.67%로 3위입니다. </a:t>
            </a:r>
            <a:r>
              <a:rPr sz="900" b="0">
                <a:solidFill>
                  <a:srgbClr val="FF0000"/>
                </a:solidFill>
              </a:rPr>
              <a:t>조회기간(2021~2025년) 상위 3개국의 매장량 변화는 칠레 약 2억톤→약 1.8억톤(10% 감소, 1위 유지), 호주 약 9,300만톤→약 1억톤(7.53% 증가, 2위 유지), 페루 약 7,700만톤→약 8,500만톤(10.39% 증가, 3위 유지)입니다. 상위 3개국의 매장량 집중도(CR3)는 37.24%로, 전체 매장량의 3분의 1 이상이 이 3개국에 집중돼 있습니다. 상위 5개국까지 합산하면(CR5) 전체의 53.57%를 차지합니다. </a:t>
            </a:r>
            <a:r>
              <a:rPr sz="900" b="0"/>
              <a:t>매장량 2위인 호주는 생산량 기준 8위(약 </a:t>
            </a:r>
            <a:r>
              <a:rPr sz="900" b="0">
                <a:solidFill>
                  <a:srgbClr val="FF0000"/>
                </a:solidFill>
              </a:rPr>
              <a:t>73만톤,</a:t>
            </a:r>
            <a:r>
              <a:rPr sz="900" b="0"/>
              <a:t> </a:t>
            </a:r>
            <a:r>
              <a:rPr sz="900" b="0">
                <a:solidFill>
                  <a:srgbClr val="FF0000"/>
                </a:solidFill>
              </a:rPr>
              <a:t>3.65%)에</a:t>
            </a:r>
            <a:r>
              <a:rPr sz="900" b="0"/>
              <a:t> 그치고 있어, 매장량 대비 생산량 비율이 낮은 국가로 분류됩니다.</a:t>
            </a:r>
            <a:r>
              <a:rPr sz="900" b="0">
                <a:solidFill>
                  <a:srgbClr val="FF0000"/>
                </a:solidFill>
              </a:rPr>
              <a:t> 반면 중국은 매장량 8위(4.18%)임에도 생산량은 4위(8.99%)로, 매장량 대비 생산 집중도가 높은 국가입니다.</a:t>
            </a:r>
          </a:p>
          <a:p>
            <a:r>
              <a:rPr sz="9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900" b="0">
                <a:solidFill>
                  <a:srgbClr val="000000"/>
                </a:solidFill>
              </a:rPr>
              <a:t>조회기간 중 매장량이 가장 크게 증가한 국가는 콩고민주공화국으로, 2021년 0톤에서 2025년 약 8,000만톤으로 약 8,000만톤 (신규 집계) 증가했습니다. </a:t>
            </a:r>
            <a:r>
              <a:rPr sz="900" b="0">
                <a:solidFill>
                  <a:srgbClr val="FF0000"/>
                </a:solidFill>
              </a:rPr>
              <a:t>특히 2022년 약 3,100만톤에서 2023~2025년 약 8,000만톤(세계 비중 8.16%)으로 급격히 상향돼 변화가 집중됐습니다. 다음으로 러시아는 2021년 약 6,200만톤에서 2025년 약 8,000만톤으로 약 1,800만톤 (29.03%) 증가했습니다. 특히 2021~2022년 약 6,200만톤에서 2023~2025년 약 8,000만톤(세계 비중 8.16%)으로 급격히 상향돼 변화가 집중됐습니다. </a:t>
            </a:r>
            <a:r>
              <a:rPr sz="900" b="0"/>
              <a:t>가장 크게 감소한 국가는 칠레로, 2021년 약 2억톤에서 2025년 약 </a:t>
            </a:r>
            <a:r>
              <a:rPr sz="900" b="0">
                <a:solidFill>
                  <a:srgbClr val="FF0000"/>
                </a:solidFill>
              </a:rPr>
              <a:t>1.8억톤으로</a:t>
            </a:r>
            <a:r>
              <a:rPr sz="900" b="0"/>
              <a:t> 약 2,000만톤 (10%) 감소했습니다.</a:t>
            </a:r>
            <a:r>
              <a:rPr sz="900" b="0">
                <a:solidFill>
                  <a:srgbClr val="FF0000"/>
                </a:solidFill>
              </a:rPr>
              <a:t> 연도별로는 2022~2024년 약 1.9억톤에서 2025년 약 1.8억톤(세계 비중 18.37%)으로 줄어든 구간의 변화 폭이 가장 컸습니다. 다음으로 인도네시아는 2021년 약 2,400만톤에서 2025년 약 2,100만톤으로 약 300만톤 (12.5%) 감소했습니다. 연도별로는 2021~2023년 약 2,400만톤에서 2024~2025년 약 2,100만톤(세계 비중 2.14%)으로 줄어든 구간의 변화 폭이 가장 컸습니다. 페루는 2021년 약 7,700만톤에서 2023년 약 1.2억톤으로 증가했다가 2025년 약 8,500만톤으로 감소하는 등 조회기간 매장량 변동폭이 가장 큰 국가(최대값 대비 최소값 차이 35.83%)입니다. 기타 국가 합산은 2025년 약 2.1억톤(21.43%)으로, 단일 국가 기준 1위인 칠레(약 1.8억톤, 18.37%)를 상회하고 있어 복수의 중소 매장국에도 상당한 매장량이 분포돼 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9.8억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매장량,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(수출입국가 필터: 대한민국→인도네시아)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687.42만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대한민국→인도네시아 루트로 약 687.42만 달러(100%)를 기록했습니다.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1위 대한민국→인도네시아 루트의 교역액 약 687.42만 달러(100%)로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687.42만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100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수출국가: 대한민국, 수입국가: 인도네시아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- 핵심광물지도 (생산량 검색)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60350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900" b="1">
                <a:solidFill>
                  <a:srgbClr val="000000"/>
                </a:solidFill>
              </a:rPr>
              <a:t>세계 생산량 현황</a:t>
            </a:r>
          </a:p>
          <a:p>
            <a:r>
              <a:rPr sz="900" b="0">
                <a:solidFill>
                  <a:srgbClr val="000000"/>
                </a:solidFill>
              </a:rPr>
              <a:t>2025년 세계 동 생산량은 약 2,300만톤입니다. 2021년보다 약 180만톤 늘어 4년간 8.49% 증가했습니다. 직전 관측연도인 2024년과 비교하면 0톤, 0% 변동이 없었습니다.</a:t>
            </a:r>
            <a:r>
              <a:rPr sz="900" b="0">
                <a:solidFill>
                  <a:srgbClr val="FF0000"/>
                </a:solidFill>
              </a:rPr>
              <a:t> 연도별 세계 생산량 합계는 2021년 약 2,120만톤 → 2022년 약 2,190만톤 → 2023년 약 2,260만톤 → 2024년 약 2,300만톤 → 2025년 약 2,300만톤입니다. 세계 생산량은 2023년 이후 약 2,260만톤~약 2,300만톤 수준에서 보합세를 유지하고 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9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900" b="0">
                <a:solidFill>
                  <a:srgbClr val="000000"/>
                </a:solidFill>
              </a:rPr>
              <a:t>2025년 기준 칠레는 약 530만톤으로 세계 전체의 23.04%를 차지해 1위입니다. 콩고민주공화국은 약 320만톤, 13.91%로 2위이며 두 국가의 비중 차이는 9.13%포인트입니다. 페루는 약 270만톤, 11.74%로 3위입니다.</a:t>
            </a:r>
            <a:r>
              <a:rPr sz="900" b="0">
                <a:solidFill>
                  <a:srgbClr val="FF0000"/>
                </a:solidFill>
              </a:rPr>
              <a:t> 조회기간(2021~2025년) 상위 3개국의 생산량 변화는 칠레 약 562만톤→약 530만톤(5.69% 감소, 1위 유지), 콩고민주공화국 약 174만톤→약 320만톤(83.91% 증가, 4위→2위), 페루 약 230만톤→약 270만톤(17.39% 증가, 2위→3위)입니다. 상위 3개국의 생산 집중도(CR3)는 48.7%로, 전체 생산량의 절반에 가까운 물량이 이 3개국에서 공급됩니다. 상위 5개국까지 합산하면(CR5) 전체의 62.17%를 차지합니다. 매장량 2위인 호주는 생산량 기준 8위(약 73만톤, 3.17%)에 그치고 있어, 매장량 대비 생산량 비율이 낮은 국가로 분류됩니다. 반면 중국은 매장량 8위(5.32%)임에도 생산량은 4위(7.83%)로, 매장량 대비 생산 집중도가 높은 국가입니다.</a:t>
            </a:r>
          </a:p>
          <a:p>
            <a:r>
              <a:rPr sz="9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900" b="0">
                <a:solidFill>
                  <a:srgbClr val="000000"/>
                </a:solidFill>
              </a:rPr>
              <a:t>조회기간 중 생산량이 가장 크게 증가한 국가는 콩고민주공화국으로, 2021년 약 174만톤에서 2025년 약 320만톤으로 약 146만톤 (83.91%) 증가했습니다. </a:t>
            </a:r>
            <a:r>
              <a:rPr sz="900" b="0">
                <a:solidFill>
                  <a:srgbClr val="FF0000"/>
                </a:solidFill>
              </a:rPr>
              <a:t>연도별로는 2021년 약 174만톤에서 2022년 약 235만톤(세계 비중 10.73%)으로 늘어난 구간의 변화 폭이 가장 컸습니다. 다음으로 페루는 2021년 약 230만톤에서 2025년 약 270만톤으로 약 40만톤 (17.39%) 증가했습니다. 연도별로는 2022년 약 245만톤에서 2023년 약 276만톤(세계 비중 12.21%)으로 늘어난 구간의 변화 폭이 가장 컸습니다. </a:t>
            </a:r>
            <a:r>
              <a:rPr sz="900" b="0"/>
              <a:t>가장 크게 감소한 국가는 칠레로, 2021년 약 562만톤에서 2025년 약 530만톤으로 약 32만톤 (5.69%) 감소했습니다.</a:t>
            </a:r>
            <a:r>
              <a:rPr sz="900" b="0">
                <a:solidFill>
                  <a:srgbClr val="FF0000"/>
                </a:solidFill>
              </a:rPr>
              <a:t> 연도별로는 2021년 약 562만톤에서 2022년 약 533만톤(세계 비중 24.34%)으로 줄어든 구간의 변화 폭이 가장 컸습니다. 다음으로 미국은 2021년 약 123만톤에서 2025년 약 100만톤으로 약 23만톤 (18.7%) 감소했습니다. 연도별로는 2021~2022년 약 123만톤에서 2023년 약 113만톤(세계 비중 5%)으로 줄어든 구간의 변화 폭이 가장 컸습니다. 러시아는 2021년 약 94만톤에서 2023년 약 89만톤으로 감소했다가 2025년 약 130만톤으로 증가하는 등 조회기간 생산량 변동폭이 가장 큰 국가(최대값 대비 최소값 차이 31.54%)입니다. 기타 국가 합산은 2025년 약 300만톤(13.04%)으로, 단일 국가 기준 1위인 칠레(약 530만톤, 23.04%)에 미치지 못해 1위 국가 한 곳의 생산량이 나머지 국가 합산을 웃도는 구조입니다.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생산량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2,300만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62.17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생산량,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