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66" r:id="rId6"/>
    <p:sldId id="267" r:id="rId7"/>
    <p:sldId id="263" r:id="rId8"/>
    <p:sldId id="259" r:id="rId9"/>
    <p:sldId id="264" r:id="rId10"/>
    <p:sldId id="260" r:id="rId11"/>
    <p:sldId id="261" r:id="rId12"/>
    <p:sldId id="262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45" userDrawn="1">
          <p15:clr>
            <a:srgbClr val="A4A3A4"/>
          </p15:clr>
        </p15:guide>
        <p15:guide id="2" pos="801" userDrawn="1">
          <p15:clr>
            <a:srgbClr val="A4A3A4"/>
          </p15:clr>
        </p15:guide>
        <p15:guide id="3" pos="4430" userDrawn="1">
          <p15:clr>
            <a:srgbClr val="A4A3A4"/>
          </p15:clr>
        </p15:guide>
        <p15:guide id="4" pos="7469" userDrawn="1">
          <p15:clr>
            <a:srgbClr val="A4A3A4"/>
          </p15:clr>
        </p15:guide>
        <p15:guide id="5" orient="horz" pos="4247" userDrawn="1">
          <p15:clr>
            <a:srgbClr val="A4A3A4"/>
          </p15:clr>
        </p15:guide>
        <p15:guide id="6" pos="257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33" autoAdjust="0"/>
    <p:restoredTop sz="94522"/>
  </p:normalViewPr>
  <p:slideViewPr>
    <p:cSldViewPr>
      <p:cViewPr varScale="1">
        <p:scale>
          <a:sx n="111" d="100"/>
          <a:sy n="111" d="100"/>
        </p:scale>
        <p:origin x="216" y="600"/>
      </p:cViewPr>
      <p:guideLst>
        <p:guide orient="horz" pos="845"/>
        <p:guide pos="801"/>
        <p:guide pos="4430"/>
        <p:guide pos="7469"/>
        <p:guide orient="horz" pos="4247"/>
        <p:guide pos="25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BCCDD5-3524-D278-B5F9-30BDF493C6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CF15810-9223-B983-F33E-24A763ED11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E6D721-609E-657F-095D-CC1E25963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00FFF4-CD42-640C-DBC6-C4E5062AD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36598E-248A-188D-8F08-910121C07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9228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B7BA5A-5CE5-1824-1390-7ED761BC5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DEA9A0-79C4-3246-81C9-541EDF684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135AA7-1356-8D91-5BCF-97400E0C7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0F6F33-2237-A921-C7AE-6FC22CB32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1F5938-07E8-E3F6-3514-2204B4979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421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188483-02D1-3C62-0869-007C80995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3E838A-BC1C-B4CF-02D9-849A5B7181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F4A0C2-27D1-7AD4-8405-5EF4C4CA3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E036E-2F3B-3EC6-A7A2-23289E692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0B91C0-D4A5-3600-D38E-3154FB33D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7845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2DAEC6-1A1F-1CD5-3354-E93D50130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3FC2B7-EBCE-3EE8-A2BF-3496A06F28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7FCF34-C0C6-22A7-3949-AC51CAD65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131BDAD-21C0-4E1C-B7C2-524F9F2DE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BA5B848-D5AA-5DEE-F45C-13A89D211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14C1252-453E-E204-48AB-D06595E5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6471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9E77BD-A677-B873-E24D-EC54E75A5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18945C-C8F8-C54F-D38A-106CA3D6F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0FD547F-C918-53B6-0C46-5D8000C0B3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2AC8B59-68FE-29EC-724B-3ECB74994F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57A09CE-C21F-C0F2-9218-0F74228D66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D400A53-B96D-D50B-756B-143A56385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0C45E3-29D4-412E-783C-CDCD619AC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18CC8E3-D593-F476-0F1C-2A254A10D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0033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1856A6-9883-3AB3-A539-D81783FA0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88F9403-866C-F957-08FE-FEF6A9183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4FFFA49-03BB-A8F4-8A96-35B7E3F15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9861B59-91F3-85E3-D3C0-E121CFB93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946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18288CC-5F30-E876-0441-4D9C29693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2CF6CCF-0CEE-5AD6-BE86-0254E7D0F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453525-5D66-C606-ECE2-3D5B996BC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5986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009890-51AF-AD8E-6DD8-65129D58D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82B45F-BEC7-A1C8-959E-171AFF781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818404-5CA4-F9DD-8880-B2F3934F20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F5BA15-DA9D-C5BF-0465-C06CDF613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49B5EF-870D-F80B-65BF-1D4209B38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5BA3B8-AA22-4449-954B-98E38C49B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973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DE18E3-8F16-3745-E27A-780D347B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88B57B0-6A98-0484-62EC-8AA23FC42B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B7FEFF3-0BA4-7015-584D-FD817A1AF4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C14673-0A20-76F7-48A8-BE9C9F9B0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5E6CC4-0B03-9968-359D-380333620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6A73846-A822-D9C4-0388-7D7D5AF4E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1410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FC6EEF-F664-3D1A-B179-F586ECBC7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0F90185-47F4-2435-131F-C9D620ECC1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D0D121-E064-9002-BD64-BB1D96791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E98049-19D8-C552-1BA8-DDEFF1453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12D8BC-3C38-4423-01EC-FA5A7C3EC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9354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A2F9DE6-AFB5-3B3F-454A-8CB882C68F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ADF6699-92BC-B12A-3B7B-83FB89F223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D5737C-C091-1C5B-3591-FF721125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C32482-22A4-06B4-2E0F-ACBB78F0E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E798BA-F932-5530-445E-B15F3F9FC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9763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5DA064F-371D-5B76-CF3E-BB2AAE4B8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CFA80E-CB66-2F75-2FD3-64F2A7F5E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EBBB38-AF84-2EB6-D933-D5B7D48BB3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E23576-DA6B-0F43-2799-2DFEC3FF7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D3927E-296D-9A10-D8ED-7C240878C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3219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409D9B-0C4E-0F34-4E3D-ABA89A9025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분석 요약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FE3E4EC-CD0E-6B4B-F53B-519C471978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7372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183593-B430-17D5-0F6D-6DF475AF2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분석요약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15652D-D272-AB7D-2A3A-CEE3107A1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ko-KR" altLang="en-US" dirty="0"/>
              <a:t>적용 메뉴</a:t>
            </a:r>
            <a:endParaRPr lang="en-US" altLang="ko-KR" dirty="0"/>
          </a:p>
          <a:p>
            <a:pPr lvl="1"/>
            <a:r>
              <a:rPr lang="ko-KR" altLang="en-US" dirty="0"/>
              <a:t>광물자원가격</a:t>
            </a:r>
            <a:endParaRPr lang="en-US" altLang="ko-KR" dirty="0"/>
          </a:p>
          <a:p>
            <a:pPr lvl="2"/>
            <a:r>
              <a:rPr lang="ko-KR" altLang="en-US" dirty="0"/>
              <a:t>비철금속</a:t>
            </a:r>
            <a:endParaRPr lang="en-US" altLang="ko-KR" dirty="0"/>
          </a:p>
          <a:p>
            <a:pPr lvl="2"/>
            <a:r>
              <a:rPr lang="ko-KR" altLang="en-US" dirty="0" err="1"/>
              <a:t>희소금석</a:t>
            </a:r>
            <a:endParaRPr lang="en-US" altLang="ko-KR" dirty="0"/>
          </a:p>
          <a:p>
            <a:pPr lvl="2"/>
            <a:r>
              <a:rPr lang="ko-KR" altLang="en-US" dirty="0" err="1"/>
              <a:t>철광석및에너지</a:t>
            </a:r>
            <a:endParaRPr lang="en-US" altLang="ko-KR" dirty="0"/>
          </a:p>
          <a:p>
            <a:pPr lvl="2"/>
            <a:r>
              <a:rPr lang="ko-KR" altLang="en-US" dirty="0"/>
              <a:t>기타</a:t>
            </a:r>
            <a:endParaRPr lang="en-US" altLang="ko-KR" dirty="0"/>
          </a:p>
          <a:p>
            <a:pPr lvl="1"/>
            <a:r>
              <a:rPr lang="ko-KR" altLang="en-US" dirty="0"/>
              <a:t>광물전망지표</a:t>
            </a:r>
            <a:endParaRPr lang="en-US" altLang="ko-KR" dirty="0"/>
          </a:p>
          <a:p>
            <a:pPr lvl="2"/>
            <a:r>
              <a:rPr lang="ko-KR" altLang="en-US" dirty="0"/>
              <a:t>광물종합지수</a:t>
            </a:r>
            <a:endParaRPr lang="en-US" altLang="ko-KR" dirty="0"/>
          </a:p>
          <a:p>
            <a:pPr lvl="2"/>
            <a:r>
              <a:rPr lang="ko-KR" altLang="en-US" dirty="0"/>
              <a:t>시장동향지표</a:t>
            </a:r>
            <a:endParaRPr lang="en-US" altLang="ko-KR" dirty="0"/>
          </a:p>
          <a:p>
            <a:pPr lvl="2"/>
            <a:r>
              <a:rPr lang="ko-KR" altLang="en-US" dirty="0"/>
              <a:t>수급동향지표</a:t>
            </a:r>
            <a:endParaRPr lang="en-US" altLang="ko-KR" dirty="0"/>
          </a:p>
          <a:p>
            <a:pPr marL="914400" lvl="2" indent="0">
              <a:buNone/>
            </a:pPr>
            <a:r>
              <a:rPr lang="ko-KR" altLang="en-US" dirty="0"/>
              <a:t>단 상기 메뉴는 로그인이 필요해서 데모에서 직접 데이터 인출은 안됨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핵심광물지도</a:t>
            </a:r>
            <a:endParaRPr lang="en-US" altLang="ko-KR" dirty="0"/>
          </a:p>
          <a:p>
            <a:pPr lvl="2"/>
            <a:r>
              <a:rPr lang="ko-KR" altLang="en-US" dirty="0"/>
              <a:t>수급지도 </a:t>
            </a:r>
            <a:endParaRPr lang="en-US" altLang="ko-KR" dirty="0"/>
          </a:p>
          <a:p>
            <a:pPr lvl="3"/>
            <a:r>
              <a:rPr lang="ko-KR" altLang="en-US" dirty="0"/>
              <a:t>대한민국</a:t>
            </a:r>
            <a:endParaRPr lang="en-US" altLang="ko-KR" dirty="0"/>
          </a:p>
          <a:p>
            <a:pPr lvl="3"/>
            <a:r>
              <a:rPr lang="ko-KR" altLang="en-US" dirty="0"/>
              <a:t>글로벌</a:t>
            </a:r>
            <a:endParaRPr lang="en-US" altLang="ko-KR" dirty="0"/>
          </a:p>
          <a:p>
            <a:pPr lvl="2"/>
            <a:r>
              <a:rPr lang="ko-KR" altLang="en-US" dirty="0"/>
              <a:t>광물지도</a:t>
            </a:r>
            <a:endParaRPr lang="en-US" altLang="ko-KR" dirty="0"/>
          </a:p>
          <a:p>
            <a:pPr lvl="2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3962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10A39F-9A11-0628-81FF-436E33223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비철금속 </a:t>
            </a:r>
            <a:r>
              <a:rPr lang="en-US" altLang="ko-KR" dirty="0"/>
              <a:t>- </a:t>
            </a:r>
            <a:r>
              <a:rPr lang="ko-KR" altLang="en-US" dirty="0"/>
              <a:t>광물가격지표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A229C5-553E-B2BD-1B0B-34738A4553CA}"/>
              </a:ext>
            </a:extLst>
          </p:cNvPr>
          <p:cNvSpPr txBox="1"/>
          <p:nvPr/>
        </p:nvSpPr>
        <p:spPr>
          <a:xfrm>
            <a:off x="1237139" y="2319637"/>
            <a:ext cx="468052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100" b="1" dirty="0"/>
              <a:t>가격 요약</a:t>
            </a:r>
          </a:p>
          <a:p>
            <a:r>
              <a:rPr lang="ko-KR" altLang="ko-KR" sz="1100" dirty="0"/>
              <a:t>2026년 9월 9일 기준 동 </a:t>
            </a:r>
            <a:r>
              <a:rPr lang="ko-KR" altLang="ko-KR" sz="1100" dirty="0" err="1"/>
              <a:t>실거래가는</a:t>
            </a:r>
            <a:r>
              <a:rPr lang="ko-KR" altLang="ko-KR" sz="1100" dirty="0"/>
              <a:t> 14,672달러입니다. 전일(2026년 9월 8일) 대비 -0.44% 변동했습니다. 전주평균(14,370.13) 대비 +2.10% 수준입니다. 전월평균(14,353.40) 대비 +2.22% 수준입니다. 전년평균(9,944.94) 대비 +47.53% 수준입니다.</a:t>
            </a:r>
          </a:p>
          <a:p>
            <a:endParaRPr lang="en-US" altLang="ko-KR" sz="1100" b="1" dirty="0"/>
          </a:p>
          <a:p>
            <a:r>
              <a:rPr lang="ko-KR" altLang="ko-KR" sz="1100" b="1" dirty="0"/>
              <a:t>최근 변화</a:t>
            </a:r>
          </a:p>
          <a:p>
            <a:r>
              <a:rPr lang="ko-KR" altLang="ko-KR" sz="1100" dirty="0"/>
              <a:t>조회기간 시작(2025년 1월 2일, 8,685.50) 대비 +68.93% 변동했습니다. 최근 가격 흐름은 </a:t>
            </a:r>
            <a:r>
              <a:rPr lang="ko-KR" altLang="ko-KR" sz="1100" dirty="0" err="1"/>
              <a:t>단기·중기</a:t>
            </a:r>
            <a:r>
              <a:rPr lang="ko-KR" altLang="ko-KR" sz="1100" dirty="0"/>
              <a:t> 평균 모두 상승 방향입니다.</a:t>
            </a:r>
          </a:p>
          <a:p>
            <a:endParaRPr lang="en-US" altLang="ko-KR" sz="1100" b="1" dirty="0"/>
          </a:p>
          <a:p>
            <a:r>
              <a:rPr lang="ko-KR" altLang="ko-KR" sz="1100" b="1" dirty="0"/>
              <a:t>변동 구간</a:t>
            </a:r>
          </a:p>
          <a:p>
            <a:pPr lvl="0"/>
            <a:r>
              <a:rPr lang="ko-KR" altLang="ko-KR" sz="1100" dirty="0"/>
              <a:t>조회기간 관측치(실거래가) 기준 최고 14,850(2026년 8월 17일), 최저 8,539(2025년 4월 9일)였습니다.</a:t>
            </a:r>
          </a:p>
          <a:p>
            <a:pPr lvl="0"/>
            <a:r>
              <a:rPr lang="ko-KR" altLang="ko-KR" sz="1100" dirty="0"/>
              <a:t>조회기간 저점(2025년 4월 9일, 8,539) 대비 현재가는 71.82% 회복한 수준입니다.</a:t>
            </a:r>
          </a:p>
          <a:p>
            <a:pPr lvl="0"/>
            <a:r>
              <a:rPr lang="ko-KR" altLang="ko-KR" sz="1100" dirty="0"/>
              <a:t>2026년 9월 9일 기준 재고량은 235,825톤으로, 전일(2026년 9월 8일) 대비 0.80% 감소했습니다.</a:t>
            </a:r>
          </a:p>
          <a:p>
            <a:pPr lvl="0"/>
            <a:r>
              <a:rPr lang="ko-KR" altLang="ko-KR" sz="1100" dirty="0"/>
              <a:t>최근 1개월 18.41%·3개월 17.26%·1년 21.19% 수준의 가격 변동폭을 보였습니다.</a:t>
            </a:r>
          </a:p>
          <a:p>
            <a:pPr lvl="0"/>
            <a:r>
              <a:rPr lang="ko-KR" altLang="ko-KR" sz="1100" dirty="0"/>
              <a:t>최근 14일간 상승 9일·하락 5일로 단기 매매 압력은 특별히 어느 한쪽으로 치우치지 않은 상태입니다.</a:t>
            </a:r>
          </a:p>
          <a:p>
            <a:pPr lvl="0"/>
            <a:r>
              <a:rPr lang="ko-KR" altLang="ko-KR" sz="1100" dirty="0"/>
              <a:t>현재가는 조회기간 중 최고가(2026년 8월 17일, 14,850) 대비 1.20% 낮습니다. 조회기간 전체 가격 대비로는 99.53% 위치로 고가권에 속합니다. 조회기간 중 가장 큰 하락은 2026년 1월 29일부터 2026년 3월 19일까지 이어졌으며, 이 기간 14.58% 하락했습니다.</a:t>
            </a:r>
          </a:p>
          <a:p>
            <a:pPr lvl="0"/>
            <a:r>
              <a:rPr lang="ko-KR" altLang="ko-KR" sz="1100" dirty="0"/>
              <a:t>현재 재고량은 조회기간 중 중간 수준입니다.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99DE8E0-895D-8021-09CD-201AE4BA19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035461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14,672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2.10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47.53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14,850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8,539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1.20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18.41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30C4258-AB77-90B8-CCC6-F548EBC36CAB}"/>
              </a:ext>
            </a:extLst>
          </p:cNvPr>
          <p:cNvSpPr txBox="1"/>
          <p:nvPr/>
        </p:nvSpPr>
        <p:spPr>
          <a:xfrm>
            <a:off x="860018" y="1478937"/>
            <a:ext cx="5450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검색 옵션 </a:t>
            </a:r>
            <a:r>
              <a:rPr lang="en-US" altLang="ko-KR" dirty="0"/>
              <a:t>: </a:t>
            </a:r>
            <a:r>
              <a:rPr lang="ko-KR" altLang="en-US" dirty="0"/>
              <a:t>비철금속</a:t>
            </a:r>
            <a:r>
              <a:rPr lang="en-US" altLang="ko-KR" dirty="0"/>
              <a:t>, </a:t>
            </a:r>
            <a:r>
              <a:rPr lang="ko-KR" altLang="en-US" dirty="0"/>
              <a:t>동</a:t>
            </a:r>
            <a:r>
              <a:rPr lang="en-US" altLang="ko-KR" dirty="0"/>
              <a:t>, 2025~2026, </a:t>
            </a:r>
            <a:r>
              <a:rPr lang="ko-KR" altLang="en-US" dirty="0"/>
              <a:t>일 평균 조회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52FE66-F46D-8450-9F72-FD50D3A6206E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주요지표</a:t>
            </a:r>
            <a:endParaRPr lang="ko-KR" altLang="ko-KR" sz="11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B5F055-7A83-57C0-68F9-4A9B6DBB29E5}"/>
              </a:ext>
            </a:extLst>
          </p:cNvPr>
          <p:cNvSpPr txBox="1"/>
          <p:nvPr/>
        </p:nvSpPr>
        <p:spPr>
          <a:xfrm>
            <a:off x="6065998" y="5517232"/>
            <a:ext cx="533190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sz="1100" dirty="0"/>
              <a:t>최근 14일 중 상승 9일·하락 5일로 뚜렷한 방향성 없이 등락을 반복하고 있습니다.</a:t>
            </a:r>
          </a:p>
          <a:p>
            <a:endParaRPr lang="ko-KR" altLang="en-US" sz="1100" dirty="0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DC7E6511-5228-15C6-E46F-A935C4D6B056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5663952" y="5674813"/>
            <a:ext cx="402046" cy="578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8181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4416B-5883-8156-F06E-006E1C4BC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1B4B36-0274-2502-27E0-EEEF15CBC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희소금속 </a:t>
            </a:r>
            <a:r>
              <a:rPr lang="en-US" altLang="ko-KR" dirty="0"/>
              <a:t>- </a:t>
            </a:r>
            <a:r>
              <a:rPr lang="ko-KR" altLang="en-US" dirty="0"/>
              <a:t>광물가격지표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8645FB-ADD6-13C5-FEAE-97068607D00C}"/>
              </a:ext>
            </a:extLst>
          </p:cNvPr>
          <p:cNvSpPr txBox="1"/>
          <p:nvPr/>
        </p:nvSpPr>
        <p:spPr>
          <a:xfrm>
            <a:off x="1237139" y="2319637"/>
            <a:ext cx="46805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200" b="1" dirty="0"/>
              <a:t>가격 요약</a:t>
            </a:r>
          </a:p>
          <a:p>
            <a:r>
              <a:rPr lang="ko-KR" altLang="ko-KR" sz="1200" dirty="0">
                <a:solidFill>
                  <a:srgbClr val="FF0000"/>
                </a:solidFill>
              </a:rPr>
              <a:t>2026년 9월 9일 기준 코발트 </a:t>
            </a:r>
            <a:r>
              <a:rPr lang="ko-KR" altLang="ko-KR" sz="1200" dirty="0" err="1">
                <a:solidFill>
                  <a:srgbClr val="FF0000"/>
                </a:solidFill>
              </a:rPr>
              <a:t>실거래가는</a:t>
            </a:r>
            <a:r>
              <a:rPr lang="ko-KR" altLang="ko-KR" sz="1200" dirty="0">
                <a:solidFill>
                  <a:srgbClr val="FF0000"/>
                </a:solidFill>
              </a:rPr>
              <a:t> 43,250달러로, 전일 대비 2.81% 하락했습니다. 전주평균 대비 17.62% 낮으며, 전월평균 대비 22.57% 낮지만, 전년평균 대비 24.21% 높은 수준입니다.</a:t>
            </a:r>
            <a:r>
              <a:rPr lang="ko-KR" altLang="ko-KR" sz="1200" dirty="0"/>
              <a:t>.</a:t>
            </a:r>
          </a:p>
          <a:p>
            <a:endParaRPr lang="en-US" altLang="ko-KR" sz="1200" b="1" dirty="0"/>
          </a:p>
          <a:p>
            <a:r>
              <a:rPr lang="ko-KR" altLang="ko-KR" sz="1200" b="1" dirty="0"/>
              <a:t>최근 변화</a:t>
            </a:r>
          </a:p>
          <a:p>
            <a:r>
              <a:rPr lang="ko-KR" altLang="ko-KR" sz="1200" dirty="0">
                <a:solidFill>
                  <a:srgbClr val="FF0000"/>
                </a:solidFill>
              </a:rPr>
              <a:t>조회기간 시작인 2024년 1월 2일 대비 50.75% 변동했습니다. 최근에는 5일 연속 하락세를 보이고 있으며, 단기와 중기 가격 흐름이 엇갈리고 있습니다.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endParaRPr lang="en-US" altLang="ko-KR" sz="1200" b="1" dirty="0"/>
          </a:p>
          <a:p>
            <a:r>
              <a:rPr lang="ko-KR" altLang="ko-KR" sz="1200" b="1" dirty="0"/>
              <a:t>변동 구간</a:t>
            </a:r>
          </a:p>
          <a:p>
            <a:pPr lvl="0"/>
            <a:r>
              <a:rPr lang="ko-KR" altLang="ko-KR" sz="1200" dirty="0">
                <a:solidFill>
                  <a:srgbClr val="FF0000"/>
                </a:solidFill>
              </a:rPr>
              <a:t>조회기간 관측치 기준 최고가는 2026년 7월 10일 55,885달러, 최저가는 2025년 2월 25일 21,365달러였습니다.</a:t>
            </a:r>
          </a:p>
          <a:p>
            <a:pPr lvl="0"/>
            <a:r>
              <a:rPr lang="ko-KR" altLang="ko-KR" sz="1200" dirty="0">
                <a:solidFill>
                  <a:srgbClr val="FF0000"/>
                </a:solidFill>
              </a:rPr>
              <a:t>조회기간 저점인 2025년 2월 25일 대비 현재가는 102.43% 회복한 수준입니다.</a:t>
            </a:r>
          </a:p>
          <a:p>
            <a:pPr lvl="0"/>
            <a:r>
              <a:rPr lang="ko-KR" altLang="ko-KR" sz="1200" dirty="0">
                <a:solidFill>
                  <a:srgbClr val="FF0000"/>
                </a:solidFill>
              </a:rPr>
              <a:t>현재가는 최고가인 2026년 7월 10일 대비 22.61% 낮으며 고가권에 속합니다. 조회기간 중 가장 큰 하락은 2024년 1월 11일부터 2025년 2월 25일까지 이어졌으며, 이 기간 25.57% 하락했습니다.</a:t>
            </a:r>
          </a:p>
          <a:p>
            <a:pPr lvl="0"/>
            <a:r>
              <a:rPr lang="ko-KR" altLang="ko-KR" sz="1200" dirty="0">
                <a:solidFill>
                  <a:srgbClr val="FF0000"/>
                </a:solidFill>
              </a:rPr>
              <a:t>최근 1개월 39.31%, 3개월 24.26%, 1년 18.59% 수준의 가격 변동폭을 보였습니다.</a:t>
            </a:r>
          </a:p>
          <a:p>
            <a:pPr lvl="0"/>
            <a:r>
              <a:rPr lang="ko-KR" altLang="ko-KR" sz="1200" dirty="0">
                <a:solidFill>
                  <a:srgbClr val="FF0000"/>
                </a:solidFill>
              </a:rPr>
              <a:t>최근 14일 중 상승 4일, 하락 8일, 보합 2일로 단기적으로 가격 하락 압력이 크게 반영된 상태입니다.</a:t>
            </a:r>
          </a:p>
          <a:p>
            <a:pPr lvl="0"/>
            <a:endParaRPr lang="ko-KR" altLang="ko-KR" sz="1200" dirty="0"/>
          </a:p>
          <a:p>
            <a:pPr lvl="0"/>
            <a:endParaRPr lang="ko-KR" altLang="ko-KR" sz="1200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53E150D-9B42-924A-5CB7-966B68904B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059973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43,250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-17.62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-22.57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24.21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55,885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21,365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22.61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AD0AB54-E901-F3DD-A124-240257BBB4B7}"/>
              </a:ext>
            </a:extLst>
          </p:cNvPr>
          <p:cNvSpPr txBox="1"/>
          <p:nvPr/>
        </p:nvSpPr>
        <p:spPr>
          <a:xfrm>
            <a:off x="860018" y="1478937"/>
            <a:ext cx="5912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검색 옵션 </a:t>
            </a:r>
            <a:r>
              <a:rPr lang="en-US" altLang="ko-KR" dirty="0"/>
              <a:t>: </a:t>
            </a:r>
            <a:r>
              <a:rPr lang="ko-KR" altLang="en-US" dirty="0"/>
              <a:t>희소금속</a:t>
            </a:r>
            <a:r>
              <a:rPr lang="en-US" altLang="ko-KR" dirty="0"/>
              <a:t>, </a:t>
            </a:r>
            <a:r>
              <a:rPr lang="ko-KR" altLang="en-US" dirty="0"/>
              <a:t>코발트</a:t>
            </a:r>
            <a:r>
              <a:rPr lang="en-US" altLang="ko-KR" dirty="0"/>
              <a:t>, 2025~2026, </a:t>
            </a:r>
            <a:r>
              <a:rPr lang="ko-KR" altLang="en-US" dirty="0"/>
              <a:t>일 평균 조회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AD9C83-8BF7-A063-6334-E1360BA7E76A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주요지표</a:t>
            </a:r>
            <a:endParaRPr lang="ko-KR" altLang="ko-KR" sz="1100" b="1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B5178EE-1C07-820F-E0C2-0749C5D2D2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0853997"/>
              </p:ext>
            </p:extLst>
          </p:nvPr>
        </p:nvGraphicFramePr>
        <p:xfrm>
          <a:off x="7000611" y="2581247"/>
          <a:ext cx="3889647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96549">
                  <a:extLst>
                    <a:ext uri="{9D8B030D-6E8A-4147-A177-3AD203B41FA5}">
                      <a16:colId xmlns:a16="http://schemas.microsoft.com/office/drawing/2014/main" val="2640993773"/>
                    </a:ext>
                  </a:extLst>
                </a:gridCol>
                <a:gridCol w="1296549">
                  <a:extLst>
                    <a:ext uri="{9D8B030D-6E8A-4147-A177-3AD203B41FA5}">
                      <a16:colId xmlns:a16="http://schemas.microsoft.com/office/drawing/2014/main" val="1388247131"/>
                    </a:ext>
                  </a:extLst>
                </a:gridCol>
                <a:gridCol w="1296549">
                  <a:extLst>
                    <a:ext uri="{9D8B030D-6E8A-4147-A177-3AD203B41FA5}">
                      <a16:colId xmlns:a16="http://schemas.microsoft.com/office/drawing/2014/main" val="3137997928"/>
                    </a:ext>
                  </a:extLst>
                </a:gridCol>
              </a:tblGrid>
              <a:tr h="25995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지표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35257"/>
                  </a:ext>
                </a:extLst>
              </a:tr>
              <a:tr h="25995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현재가격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43,250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달러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5673927"/>
                  </a:ext>
                </a:extLst>
              </a:tr>
              <a:tr h="25995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전주 대비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-17.62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%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1192436"/>
                  </a:ext>
                </a:extLst>
              </a:tr>
              <a:tr h="25995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전월 대비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-22.57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%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3845526"/>
                  </a:ext>
                </a:extLst>
              </a:tr>
              <a:tr h="25995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전년 대비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24.21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%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4847985"/>
                  </a:ext>
                </a:extLst>
              </a:tr>
              <a:tr h="25995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연속 추세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5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일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60562"/>
                  </a:ext>
                </a:extLst>
              </a:tr>
              <a:tr h="25995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최고가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55,885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달러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1516629"/>
                  </a:ext>
                </a:extLst>
              </a:tr>
              <a:tr h="25995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최저가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21,365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달러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1037692"/>
                  </a:ext>
                </a:extLst>
              </a:tr>
              <a:tr h="25995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낙폭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22.61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%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0769974"/>
                  </a:ext>
                </a:extLst>
              </a:tr>
              <a:tr h="25995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dirty="0">
                          <a:solidFill>
                            <a:srgbClr val="FF0000"/>
                          </a:solidFill>
                          <a:effectLst/>
                        </a:rPr>
                        <a:t>변동성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solidFill>
                            <a:srgbClr val="FF0000"/>
                          </a:solidFill>
                          <a:effectLst/>
                        </a:rPr>
                        <a:t>39.31</a:t>
                      </a:r>
                      <a:endParaRPr lang="ko-KR" sz="1200" b="0" i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dirty="0">
                          <a:solidFill>
                            <a:srgbClr val="FF0000"/>
                          </a:solidFill>
                          <a:effectLst/>
                        </a:rPr>
                        <a:t>%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71526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2843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E4A49-22ED-84D6-ED32-7351BCBDD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CA3FB0-8520-8EA9-9DED-341198774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철에너지 </a:t>
            </a:r>
            <a:r>
              <a:rPr lang="en-US" altLang="ko-KR" dirty="0"/>
              <a:t>- </a:t>
            </a:r>
            <a:r>
              <a:rPr lang="ko-KR" altLang="en-US" dirty="0"/>
              <a:t>광물가격지표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A1989B-D1CC-7222-D39A-1161DFCCB1E1}"/>
              </a:ext>
            </a:extLst>
          </p:cNvPr>
          <p:cNvSpPr txBox="1"/>
          <p:nvPr/>
        </p:nvSpPr>
        <p:spPr>
          <a:xfrm>
            <a:off x="1237139" y="2319637"/>
            <a:ext cx="468052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100" b="1" dirty="0"/>
              <a:t>가격 요약</a:t>
            </a:r>
          </a:p>
          <a:p>
            <a:r>
              <a:rPr lang="ko-KR" altLang="ko-KR" sz="1200" dirty="0">
                <a:solidFill>
                  <a:srgbClr val="FF0000"/>
                </a:solidFill>
              </a:rPr>
              <a:t>2026년 8월 31일 기준 우라늄 </a:t>
            </a:r>
            <a:r>
              <a:rPr lang="ko-KR" altLang="ko-KR" sz="1200" dirty="0" err="1">
                <a:solidFill>
                  <a:srgbClr val="FF0000"/>
                </a:solidFill>
              </a:rPr>
              <a:t>실거래가는</a:t>
            </a:r>
            <a:r>
              <a:rPr lang="ko-KR" altLang="ko-KR" sz="1200" dirty="0">
                <a:solidFill>
                  <a:srgbClr val="FF0000"/>
                </a:solidFill>
              </a:rPr>
              <a:t> 89.53달러로, 직전 관측치(2026년 8월 24일) 대비 0.51% 하락했습니다. 전주평균 대비 0.51% 낮으며, 전월평균 대비 4.10% 높고, 전년평균 대비 22.43% 높은 수준입니다.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endParaRPr lang="en-US" altLang="ko-KR" sz="1100" b="1" dirty="0"/>
          </a:p>
          <a:p>
            <a:r>
              <a:rPr lang="ko-KR" altLang="ko-KR" sz="1100" b="1" dirty="0"/>
              <a:t>최근 변화</a:t>
            </a:r>
          </a:p>
          <a:p>
            <a:r>
              <a:rPr lang="ko-KR" altLang="ko-KR" sz="1100" dirty="0"/>
              <a:t>조회기간 시작(2025년 1월 6일, 73.43) 대비 </a:t>
            </a:r>
            <a:r>
              <a:rPr lang="ko-KR" altLang="ko-KR" sz="1100" dirty="0">
                <a:solidFill>
                  <a:srgbClr val="FF0000"/>
                </a:solidFill>
              </a:rPr>
              <a:t>21.93% 변동했습니다</a:t>
            </a:r>
            <a:r>
              <a:rPr lang="ko-KR" altLang="ko-KR" sz="1100" dirty="0"/>
              <a:t>. 최근 가격 흐름은 </a:t>
            </a:r>
            <a:r>
              <a:rPr lang="ko-KR" altLang="ko-KR" sz="1100" dirty="0" err="1"/>
              <a:t>단기·중기</a:t>
            </a:r>
            <a:r>
              <a:rPr lang="ko-KR" altLang="ko-KR" sz="1100" dirty="0"/>
              <a:t> 평균 모두 상승 방향입니다.</a:t>
            </a:r>
          </a:p>
          <a:p>
            <a:endParaRPr lang="en-US" altLang="ko-KR" sz="1100" b="1" dirty="0"/>
          </a:p>
          <a:p>
            <a:pPr lvl="0"/>
            <a:r>
              <a:rPr lang="ko-KR" altLang="ko-KR" sz="1100" b="1" dirty="0"/>
              <a:t>변동 구간</a:t>
            </a:r>
            <a:endParaRPr lang="en-US" altLang="ko-KR" sz="1100" b="1" dirty="0"/>
          </a:p>
          <a:p>
            <a:pPr lvl="0"/>
            <a:r>
              <a:rPr lang="ko-KR" altLang="ko-KR" sz="1200" dirty="0">
                <a:solidFill>
                  <a:srgbClr val="FF0000"/>
                </a:solidFill>
              </a:rPr>
              <a:t>조회기간 관측치 기준 최고는 95.95(2026년 1월 26일), 최저는 63.87(2025년 3월 10일)이었습니다.</a:t>
            </a:r>
          </a:p>
          <a:p>
            <a:pPr lvl="0"/>
            <a:r>
              <a:rPr lang="ko-KR" altLang="ko-KR" sz="1200" dirty="0">
                <a:solidFill>
                  <a:srgbClr val="FF0000"/>
                </a:solidFill>
              </a:rPr>
              <a:t>조회기간 저점(2025년 3월 10일, 63.87) 대비 현재가는 40.18% 회복한 수준입니다.</a:t>
            </a:r>
          </a:p>
          <a:p>
            <a:pPr lvl="0"/>
            <a:r>
              <a:rPr lang="ko-KR" altLang="ko-KR" sz="1200" dirty="0">
                <a:solidFill>
                  <a:srgbClr val="FF0000"/>
                </a:solidFill>
              </a:rPr>
              <a:t>현재가는 조회기간 중 최고가(2026년 1월 26일, 95.95) 대비 6.69% 낮으며 전체 가격 대비 고가권에 속합니다. 조회기간 중 가장 큰 하락은 2025년 1월 13일부터 2025년 3월 10일까지 이어졌으며, 이 기간 13.47% 하락했습니다.</a:t>
            </a:r>
          </a:p>
          <a:p>
            <a:pPr lvl="0"/>
            <a:r>
              <a:rPr lang="ko-KR" altLang="ko-KR" sz="1200" dirty="0">
                <a:solidFill>
                  <a:srgbClr val="FF0000"/>
                </a:solidFill>
              </a:rPr>
              <a:t>최근 14주 중 상승 8주·하락 6주로 뚜렷한 방향성 없이 등락을 반복하고 있습니다.</a:t>
            </a:r>
          </a:p>
          <a:p>
            <a:pPr lvl="0"/>
            <a:r>
              <a:rPr lang="ko-KR" altLang="ko-KR" sz="1200" dirty="0">
                <a:solidFill>
                  <a:srgbClr val="FF0000"/>
                </a:solidFill>
              </a:rPr>
              <a:t>최근 1개월 7.24%·3개월 5.55%·1년 17.85% 수준의 가격 변동폭을 보였습니다.</a:t>
            </a:r>
          </a:p>
          <a:p>
            <a:endParaRPr lang="ko-KR" altLang="ko-KR" sz="1100" b="1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54F14BB-A4C5-3F60-6BC6-099DF94AC9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896845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89.53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-0.51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4.10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22.43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95.95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63.87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6.69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7.24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A4C67B8-81E1-CA6D-E01F-DE9A66B1CEF8}"/>
              </a:ext>
            </a:extLst>
          </p:cNvPr>
          <p:cNvSpPr txBox="1"/>
          <p:nvPr/>
        </p:nvSpPr>
        <p:spPr>
          <a:xfrm>
            <a:off x="860018" y="1478937"/>
            <a:ext cx="5912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검색 옵션 </a:t>
            </a:r>
            <a:r>
              <a:rPr lang="en-US" altLang="ko-KR" dirty="0"/>
              <a:t>: </a:t>
            </a:r>
            <a:r>
              <a:rPr lang="ko-KR" altLang="en-US" dirty="0"/>
              <a:t>철에너지</a:t>
            </a:r>
            <a:r>
              <a:rPr lang="en-US" altLang="ko-KR" dirty="0"/>
              <a:t>, </a:t>
            </a:r>
            <a:r>
              <a:rPr lang="ko-KR" altLang="en-US" dirty="0"/>
              <a:t>우라늄</a:t>
            </a:r>
            <a:r>
              <a:rPr lang="en-US" altLang="ko-KR" dirty="0"/>
              <a:t>, 2025~2026, </a:t>
            </a:r>
            <a:r>
              <a:rPr lang="ko-KR" altLang="en-US" dirty="0"/>
              <a:t>일 평균 조회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CFDA91-1592-B22F-32A4-BE82A5F8B238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주요지표</a:t>
            </a:r>
            <a:endParaRPr lang="ko-KR" altLang="ko-KR" sz="1100" b="1" dirty="0"/>
          </a:p>
        </p:txBody>
      </p:sp>
    </p:spTree>
    <p:extLst>
      <p:ext uri="{BB962C8B-B14F-4D97-AF65-F5344CB8AC3E}">
        <p14:creationId xmlns:p14="http://schemas.microsoft.com/office/powerpoint/2010/main" val="510539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6CA62-6FF4-62BF-9109-669E452E7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6DFFAC-BB3F-16A3-A45E-F0E12080A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기타 </a:t>
            </a:r>
            <a:r>
              <a:rPr lang="en-US" altLang="ko-KR" dirty="0"/>
              <a:t>- </a:t>
            </a:r>
            <a:r>
              <a:rPr lang="ko-KR" altLang="en-US" dirty="0"/>
              <a:t>광물가격지표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C628B8-D605-E463-8FAA-BFC24C0E9CE1}"/>
              </a:ext>
            </a:extLst>
          </p:cNvPr>
          <p:cNvSpPr txBox="1"/>
          <p:nvPr/>
        </p:nvSpPr>
        <p:spPr>
          <a:xfrm>
            <a:off x="1237139" y="2319637"/>
            <a:ext cx="4680520" cy="3924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200" b="1" dirty="0"/>
              <a:t>가격 요약</a:t>
            </a:r>
          </a:p>
          <a:p>
            <a:r>
              <a:rPr lang="ko-KR" altLang="ko-KR" sz="1200" dirty="0">
                <a:solidFill>
                  <a:srgbClr val="FF0000"/>
                </a:solidFill>
              </a:rPr>
              <a:t>2026년 9월 9일 기준 흑연 </a:t>
            </a:r>
            <a:r>
              <a:rPr lang="ko-KR" altLang="ko-KR" sz="1200" dirty="0" err="1">
                <a:solidFill>
                  <a:srgbClr val="FF0000"/>
                </a:solidFill>
              </a:rPr>
              <a:t>실거래가는</a:t>
            </a:r>
            <a:r>
              <a:rPr lang="ko-KR" altLang="ko-KR" sz="1200" dirty="0">
                <a:solidFill>
                  <a:srgbClr val="FF0000"/>
                </a:solidFill>
              </a:rPr>
              <a:t> 390달러로, 전일 대비 0.00% 변동했으며 전주평균 대비 같은 수준입니다. 전월평균 대비 0.01% 높고, 전년평균 대비 6.12% 낮습니다.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endParaRPr lang="en-US" altLang="ko-KR" sz="1200" b="1" dirty="0"/>
          </a:p>
          <a:p>
            <a:r>
              <a:rPr lang="ko-KR" altLang="ko-KR" sz="1200" b="1" dirty="0"/>
              <a:t>최근 변화</a:t>
            </a:r>
          </a:p>
          <a:p>
            <a:r>
              <a:rPr lang="ko-KR" altLang="ko-KR" sz="1200" dirty="0">
                <a:solidFill>
                  <a:srgbClr val="FF0000"/>
                </a:solidFill>
              </a:rPr>
              <a:t>조회기간 시작인 2024년 1월 2일 대비 -36.58% 변동했습니다. 22일 연속 보합세를 보이고 있으며, 최근에는 단기와 중기 가격 흐름이 엇갈리고 있습니다.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endParaRPr lang="en-US" altLang="ko-KR" sz="1200" b="1" dirty="0"/>
          </a:p>
          <a:p>
            <a:r>
              <a:rPr lang="ko-KR" altLang="ko-KR" sz="1200" b="1" dirty="0"/>
              <a:t>변동 구간</a:t>
            </a:r>
          </a:p>
          <a:p>
            <a:pPr lvl="0"/>
            <a:r>
              <a:rPr lang="ko-KR" altLang="ko-KR" sz="1200" dirty="0">
                <a:solidFill>
                  <a:srgbClr val="FF0000"/>
                </a:solidFill>
              </a:rPr>
              <a:t>조회기간 관측치 기준 최고 614.93(2024년 1월 2일), 최저 387.31(2026년 7월 29일)이었으며, 저점 대비 현재가는 0.69% 회복한 수준입니다.</a:t>
            </a:r>
          </a:p>
          <a:p>
            <a:pPr lvl="0"/>
            <a:r>
              <a:rPr lang="ko-KR" altLang="ko-KR" sz="1200" dirty="0">
                <a:solidFill>
                  <a:srgbClr val="FF0000"/>
                </a:solidFill>
              </a:rPr>
              <a:t>현재가는 조회기간 중 최고가 대비 36.58% 낮으며 전체 가격 대비 저가권에 속합니다.</a:t>
            </a:r>
          </a:p>
          <a:p>
            <a:pPr lvl="0"/>
            <a:r>
              <a:rPr lang="ko-KR" altLang="ko-KR" sz="1200" dirty="0">
                <a:solidFill>
                  <a:srgbClr val="FF0000"/>
                </a:solidFill>
              </a:rPr>
              <a:t>최근 14일 중 상승 0일·하락 0일·보합 14일로 뚜렷한 방향성 없이 등락을 반복하고 있습니다.</a:t>
            </a:r>
          </a:p>
          <a:p>
            <a:pPr lvl="0"/>
            <a:r>
              <a:rPr lang="ko-KR" altLang="ko-KR" sz="1200" dirty="0">
                <a:solidFill>
                  <a:srgbClr val="FF0000"/>
                </a:solidFill>
              </a:rPr>
              <a:t>최근 1개월 1.12%·3개월 8.56%·1년 9.54% 수준의 가격 변동폭을 보였습니다.</a:t>
            </a:r>
          </a:p>
          <a:p>
            <a:endParaRPr lang="ko-KR" altLang="ko-KR" sz="900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B593545-70CE-22A0-7035-DBD0A12C6A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030552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-6.12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614.93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387.31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36.58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E0E0D12-D45A-53F0-489A-A0F2627C3EFE}"/>
              </a:ext>
            </a:extLst>
          </p:cNvPr>
          <p:cNvSpPr txBox="1"/>
          <p:nvPr/>
        </p:nvSpPr>
        <p:spPr>
          <a:xfrm>
            <a:off x="860018" y="1478937"/>
            <a:ext cx="5219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검색 옵션 </a:t>
            </a:r>
            <a:r>
              <a:rPr lang="en-US" altLang="ko-KR" dirty="0"/>
              <a:t>: </a:t>
            </a:r>
            <a:r>
              <a:rPr lang="ko-KR" altLang="en-US" dirty="0"/>
              <a:t>기타</a:t>
            </a:r>
            <a:r>
              <a:rPr lang="en-US" altLang="ko-KR" dirty="0"/>
              <a:t>, </a:t>
            </a:r>
            <a:r>
              <a:rPr lang="ko-KR" altLang="en-US" dirty="0"/>
              <a:t>흑연</a:t>
            </a:r>
            <a:r>
              <a:rPr lang="en-US" altLang="ko-KR" dirty="0"/>
              <a:t>, 2025~2026, </a:t>
            </a:r>
            <a:r>
              <a:rPr lang="ko-KR" altLang="en-US" dirty="0"/>
              <a:t>일 평균 조회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033E75-853E-659F-CC6D-8F96D6B1E3ED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주요지표</a:t>
            </a:r>
            <a:endParaRPr lang="ko-KR" altLang="ko-KR" sz="1100" b="1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A1F620A-D70E-2F74-3B04-DE54FF8950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9027140"/>
              </p:ext>
            </p:extLst>
          </p:nvPr>
        </p:nvGraphicFramePr>
        <p:xfrm>
          <a:off x="6528049" y="5027167"/>
          <a:ext cx="3241674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1726089585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56519709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3523546684"/>
                    </a:ext>
                  </a:extLst>
                </a:gridCol>
              </a:tblGrid>
              <a:tr h="26161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solidFill>
                            <a:srgbClr val="FF0000"/>
                          </a:solidFill>
                          <a:effectLst/>
                        </a:rPr>
                        <a:t>변동성</a:t>
                      </a:r>
                      <a:endParaRPr lang="ko-KR" sz="1200" b="0" i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solidFill>
                            <a:srgbClr val="FF0000"/>
                          </a:solidFill>
                          <a:effectLst/>
                        </a:rPr>
                        <a:t>1.12</a:t>
                      </a:r>
                      <a:endParaRPr lang="ko-KR" sz="1200" b="0" i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dirty="0">
                          <a:solidFill>
                            <a:srgbClr val="FF0000"/>
                          </a:solidFill>
                          <a:effectLst/>
                        </a:rPr>
                        <a:t>%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43281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7747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CDE3C-D806-E5E6-282E-9CA567B2E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339294-CB3F-9316-9936-681346986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광물종합지수 </a:t>
            </a:r>
            <a:r>
              <a:rPr lang="en-US" altLang="ko-KR" dirty="0"/>
              <a:t>- </a:t>
            </a:r>
            <a:r>
              <a:rPr lang="ko-KR" altLang="en-US" dirty="0"/>
              <a:t>광물전망지표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50106A-F3FD-5168-3CE7-0FFEB6A90F5A}"/>
              </a:ext>
            </a:extLst>
          </p:cNvPr>
          <p:cNvSpPr txBox="1"/>
          <p:nvPr/>
        </p:nvSpPr>
        <p:spPr>
          <a:xfrm>
            <a:off x="1237139" y="2319637"/>
            <a:ext cx="468052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600" b="1" dirty="0"/>
              <a:t>지수 요약</a:t>
            </a:r>
          </a:p>
          <a:p>
            <a:r>
              <a:rPr lang="ko-KR" altLang="ko-KR" sz="1200" dirty="0">
                <a:solidFill>
                  <a:srgbClr val="FF0000"/>
                </a:solidFill>
              </a:rPr>
              <a:t>2026년 8월 27일 광물종합지수는 3,558.81포인트로, 전주 3,496.56포인트 대비 1.78% 상승했습니다.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endParaRPr lang="en-US" altLang="ko-KR" sz="1600" b="1" dirty="0"/>
          </a:p>
          <a:p>
            <a:r>
              <a:rPr lang="ko-KR" altLang="ko-KR" sz="1200" b="1" dirty="0">
                <a:solidFill>
                  <a:srgbClr val="FF0000"/>
                </a:solidFill>
              </a:rPr>
              <a:t>지수별 변화</a:t>
            </a:r>
          </a:p>
          <a:p>
            <a:r>
              <a:rPr lang="ko-KR" altLang="ko-KR" sz="1200" dirty="0">
                <a:solidFill>
                  <a:srgbClr val="FF0000"/>
                </a:solidFill>
              </a:rPr>
              <a:t>광물종합지수는 3,558.81포인트로, 전주 대비 1.78% 상승했습니다. 구성 광종은 유연탄(25.6%)·동(16.6%)·알루미늄(15.7%) 등입니다. 메이저금속지수는 2,999.54포인트로, 전주 대비 1.95% 상승했습니다. 구성 광종은 동(28.2%)·알루미늄(26.6%) 등입니다. 희소금속지수는 2,911.80포인트로, 전주 대비 0.19% 상승했습니다. 구성 광종은 리튬(71.0%)·몰리브덴(11.7%) 등입니다.</a:t>
            </a:r>
          </a:p>
          <a:p>
            <a:endParaRPr lang="en-US" altLang="ko-KR" sz="1600" b="1" dirty="0"/>
          </a:p>
          <a:p>
            <a:r>
              <a:rPr lang="ko-KR" altLang="ko-KR" sz="1600" b="1" dirty="0"/>
              <a:t>지수 위치</a:t>
            </a:r>
          </a:p>
          <a:p>
            <a:r>
              <a:rPr lang="ko-KR" altLang="ko-KR" sz="1200" dirty="0">
                <a:solidFill>
                  <a:srgbClr val="FF0000"/>
                </a:solidFill>
              </a:rPr>
              <a:t>현재 광물종합지수는 조회기간 최고치인 3,558.81포인트와 같으며, 최저치인 3,454.93포인트보다 3.01% 높습니다.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C5DDCED7-4771-F8EC-C137-82B06CAF03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444714"/>
              </p:ext>
            </p:extLst>
          </p:nvPr>
        </p:nvGraphicFramePr>
        <p:xfrm>
          <a:off x="6528048" y="2564904"/>
          <a:ext cx="3241674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광물종합지수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3,558.81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포인트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메이저금속지수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2,999.54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포인트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희소금속지수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2,911.80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포인트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1.78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42093E84-B8F9-B58A-8B7E-4E21F69AE2AC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주요지표</a:t>
            </a:r>
            <a:endParaRPr lang="ko-KR" altLang="ko-KR" sz="1100" b="1" dirty="0"/>
          </a:p>
        </p:txBody>
      </p:sp>
    </p:spTree>
    <p:extLst>
      <p:ext uri="{BB962C8B-B14F-4D97-AF65-F5344CB8AC3E}">
        <p14:creationId xmlns:p14="http://schemas.microsoft.com/office/powerpoint/2010/main" val="547284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8D2B6-6136-91E0-2422-A79109838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098296-7762-4FAF-DE6F-D7A1C40A1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시장동향지표 </a:t>
            </a:r>
            <a:r>
              <a:rPr lang="en-US" altLang="ko-KR" dirty="0"/>
              <a:t>- </a:t>
            </a:r>
            <a:r>
              <a:rPr lang="ko-KR" altLang="en-US" dirty="0"/>
              <a:t>광물전망지표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F7B8FA-33FC-D36F-DF3F-A595F3CA0FB6}"/>
              </a:ext>
            </a:extLst>
          </p:cNvPr>
          <p:cNvSpPr txBox="1"/>
          <p:nvPr/>
        </p:nvSpPr>
        <p:spPr>
          <a:xfrm>
            <a:off x="1237139" y="2319637"/>
            <a:ext cx="468052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600" b="1" dirty="0"/>
              <a:t>현재 단계</a:t>
            </a:r>
          </a:p>
          <a:p>
            <a:r>
              <a:rPr lang="ko-KR" altLang="ko-KR" sz="1200" dirty="0">
                <a:solidFill>
                  <a:srgbClr val="FF0000"/>
                </a:solidFill>
              </a:rPr>
              <a:t>2026년 7월 기준 동의 시장동향지표는 30.38점으로, 현재 주의 단계에 해당하며 최근 한 달에는 전월 34.04점 대비 3.66점 하락했습니다. 이 지표는 점수가 낮을수록 위험이 커지는 구조로, 중장기 가격위험이 높아지는 방향으로 움직였습니다.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endParaRPr lang="en-US" altLang="ko-KR" sz="1600" b="1" dirty="0"/>
          </a:p>
          <a:p>
            <a:r>
              <a:rPr lang="ko-KR" altLang="ko-KR" sz="1600" b="1" dirty="0"/>
              <a:t>단계 변화</a:t>
            </a:r>
          </a:p>
          <a:p>
            <a:r>
              <a:rPr lang="ko-KR" altLang="ko-KR" sz="1200" dirty="0"/>
              <a:t>가장 최근에는 2025년 1월에 신중에서 주의 단계로 전환되었으며, 2025년 1월부터 주의 단계를 19개월째 유지 중입니다. 조회기간 중 월간 점수 변화 폭이 가장 컸던 때는 2025년 1월로, 직전월보다 8.83점 올랐습니다.</a:t>
            </a:r>
            <a:endParaRPr lang="en-US" altLang="ko-KR" sz="1200" b="1" dirty="0"/>
          </a:p>
          <a:p>
            <a:endParaRPr lang="en-US" altLang="ko-KR" sz="1600" b="1" dirty="0"/>
          </a:p>
          <a:p>
            <a:r>
              <a:rPr lang="ko-KR" altLang="ko-KR" sz="1600" b="1" dirty="0"/>
              <a:t>주요 변동 특징</a:t>
            </a:r>
          </a:p>
          <a:p>
            <a:r>
              <a:rPr lang="ko-KR" altLang="ko-KR" sz="1600" dirty="0">
                <a:solidFill>
                  <a:srgbClr val="FF0000"/>
                </a:solidFill>
              </a:rPr>
              <a:t>최근 한 달 동안 가격은 4.42% 올랐습니다.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AC4691FF-0445-DE84-E885-F86050472A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458447"/>
              </p:ext>
            </p:extLst>
          </p:nvPr>
        </p:nvGraphicFramePr>
        <p:xfrm>
          <a:off x="7176120" y="2679321"/>
          <a:ext cx="3241674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단위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30.38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단계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주의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최근 점수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-3.66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단계 연속기간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개월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단계 전환 횟수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최대 월간 점수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최근 가격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4.42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조회기간 평균 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22.64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8B0CE893-DF4D-5B28-959E-86BB3DC2DA1D}"/>
              </a:ext>
            </a:extLst>
          </p:cNvPr>
          <p:cNvSpPr txBox="1"/>
          <p:nvPr/>
        </p:nvSpPr>
        <p:spPr>
          <a:xfrm>
            <a:off x="1271588" y="1484784"/>
            <a:ext cx="1635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검색 옵션 </a:t>
            </a:r>
            <a:r>
              <a:rPr lang="en-US" altLang="ko-KR" dirty="0"/>
              <a:t>: </a:t>
            </a:r>
            <a:r>
              <a:rPr lang="ko-KR" altLang="en-US" dirty="0"/>
              <a:t>동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4DFA7F-673E-8372-3E86-0D1590D82839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/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</p:spTree>
    <p:extLst>
      <p:ext uri="{BB962C8B-B14F-4D97-AF65-F5344CB8AC3E}">
        <p14:creationId xmlns:p14="http://schemas.microsoft.com/office/powerpoint/2010/main" val="2310310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B4EBF-03CE-E05A-9893-4490770FC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4ECF67-CF28-70F1-1375-EF7BF2704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수급동향지표 </a:t>
            </a:r>
            <a:r>
              <a:rPr lang="en-US" altLang="ko-KR" dirty="0"/>
              <a:t>- </a:t>
            </a:r>
            <a:r>
              <a:rPr lang="ko-KR" altLang="en-US" dirty="0"/>
              <a:t>광물전망지표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60EA27-6F87-8F22-E278-8EC3CCF7528E}"/>
              </a:ext>
            </a:extLst>
          </p:cNvPr>
          <p:cNvSpPr txBox="1"/>
          <p:nvPr/>
        </p:nvSpPr>
        <p:spPr>
          <a:xfrm>
            <a:off x="1246653" y="1854116"/>
            <a:ext cx="5785972" cy="533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100" b="1" dirty="0"/>
              <a:t>현재 단계</a:t>
            </a:r>
            <a:r>
              <a:rPr lang="ko-KR" altLang="ko-KR" sz="1100" dirty="0"/>
              <a:t>: 긴장 (1.73점)</a:t>
            </a:r>
            <a:endParaRPr lang="en-US" altLang="ko-KR" sz="1100" dirty="0"/>
          </a:p>
          <a:p>
            <a:endParaRPr lang="en-US" altLang="ko-KR" sz="1100" b="1" dirty="0"/>
          </a:p>
          <a:p>
            <a:r>
              <a:rPr lang="ko-KR" altLang="ko-KR" sz="1100" b="1" dirty="0"/>
              <a:t>현재 수급 단계</a:t>
            </a:r>
          </a:p>
          <a:p>
            <a:r>
              <a:rPr lang="ko-KR" altLang="ko-KR" sz="1100" dirty="0">
                <a:solidFill>
                  <a:schemeClr val="accent2"/>
                </a:solidFill>
              </a:rPr>
              <a:t>2026년 7월 기준 동의 수급동향지표는 1.73점으로, 현재 긴장 단계에 해당합니다. 최근 한 달에는 전월 1.72점 대비 0.01점 상승했습니다. 수급 안정성이 강화되는 방향으로 움직였습니다.</a:t>
            </a:r>
            <a:endParaRPr lang="en-US" altLang="ko-KR" sz="1100" b="1" dirty="0">
              <a:solidFill>
                <a:schemeClr val="accent2"/>
              </a:solidFill>
            </a:endParaRPr>
          </a:p>
          <a:p>
            <a:endParaRPr lang="en-US" altLang="ko-KR" sz="1100" b="1" dirty="0"/>
          </a:p>
          <a:p>
            <a:r>
              <a:rPr lang="ko-KR" altLang="ko-KR" sz="1100" b="1" dirty="0"/>
              <a:t>단계 변화</a:t>
            </a:r>
          </a:p>
          <a:p>
            <a:r>
              <a:rPr lang="ko-KR" altLang="ko-KR" sz="1100" dirty="0">
                <a:solidFill>
                  <a:schemeClr val="accent2"/>
                </a:solidFill>
              </a:rPr>
              <a:t>2025년 5월부터 긴장 단계를 15개월째 유지 중입니다. 가장 최근 단계 전환은 2025년 5월로, 주의에서 긴장 단계로 바뀌었습니다. 조회기간 중 월간 점수 변화 폭이 가장 컸던 때는 2025년 4월로, 직전월보다 10.17점 올랐습니다.</a:t>
            </a:r>
          </a:p>
          <a:p>
            <a:endParaRPr lang="en-US" altLang="ko-KR" sz="1100" b="1" dirty="0">
              <a:solidFill>
                <a:srgbClr val="FF0000"/>
              </a:solidFill>
            </a:endParaRPr>
          </a:p>
          <a:p>
            <a:endParaRPr lang="en-US" altLang="ko-KR" sz="1100" b="1" dirty="0"/>
          </a:p>
          <a:p>
            <a:r>
              <a:rPr lang="ko-KR" altLang="ko-KR" sz="1100" b="1" dirty="0"/>
              <a:t>구성요소 변화</a:t>
            </a:r>
            <a:endParaRPr lang="en-US" altLang="ko-KR" sz="1100" b="1" dirty="0"/>
          </a:p>
          <a:p>
            <a:pPr lvl="0"/>
            <a:r>
              <a:rPr lang="ko-KR" altLang="ko-KR" sz="1100" dirty="0">
                <a:solidFill>
                  <a:srgbClr val="FF0000"/>
                </a:solidFill>
              </a:rPr>
              <a:t>2026년 7월 기준 최근 한 달 동안 가격은 0.36% 내렸습니다. 최근 12개월 15.64% 수준의 가격 변동폭을 보였습니다.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lvl="0"/>
            <a:endParaRPr lang="ko-KR" altLang="ko-KR" sz="1100" dirty="0">
              <a:solidFill>
                <a:srgbClr val="FF0000"/>
              </a:solidFill>
            </a:endParaRPr>
          </a:p>
          <a:p>
            <a:pPr lvl="0"/>
            <a:r>
              <a:rPr lang="ko-KR" altLang="ko-KR" sz="1100" dirty="0">
                <a:solidFill>
                  <a:srgbClr val="FF0000"/>
                </a:solidFill>
              </a:rPr>
              <a:t>2026년 세계 수요는 28,567천톤, 공급은 28,247천톤으로, 공급 부족 320천톤 수준입니다. 세계 수급비율(공급/수요)은 98.88%입니다.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lvl="0"/>
            <a:endParaRPr lang="ko-KR" altLang="ko-KR" sz="1100" dirty="0">
              <a:solidFill>
                <a:srgbClr val="FF0000"/>
              </a:solidFill>
            </a:endParaRPr>
          </a:p>
          <a:p>
            <a:pPr lvl="0"/>
            <a:r>
              <a:rPr lang="ko-KR" altLang="ko-KR" sz="1100" dirty="0">
                <a:solidFill>
                  <a:srgbClr val="FF0000"/>
                </a:solidFill>
              </a:rPr>
              <a:t>국내 수입량은 2024년 대비 2025년 0.92% 증가했습니다. 최근 한 달간 수급동향지표는 전월 대비 0.01점 올랐습니다.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lvl="0"/>
            <a:endParaRPr lang="ko-KR" altLang="ko-KR" sz="1100" dirty="0">
              <a:solidFill>
                <a:srgbClr val="FF0000"/>
              </a:solidFill>
            </a:endParaRPr>
          </a:p>
          <a:p>
            <a:pPr lvl="0"/>
            <a:r>
              <a:rPr lang="ko-KR" altLang="ko-KR" sz="1100" dirty="0">
                <a:solidFill>
                  <a:srgbClr val="FF0000"/>
                </a:solidFill>
              </a:rPr>
              <a:t>상위 3개국(</a:t>
            </a:r>
            <a:r>
              <a:rPr lang="ko-KR" altLang="ko-KR" sz="1100" dirty="0" err="1">
                <a:solidFill>
                  <a:srgbClr val="FF0000"/>
                </a:solidFill>
              </a:rPr>
              <a:t>칠레·호주·콩고민주공화국</a:t>
            </a:r>
            <a:r>
              <a:rPr lang="ko-KR" altLang="ko-KR" sz="1100" dirty="0">
                <a:solidFill>
                  <a:srgbClr val="FF0000"/>
                </a:solidFill>
              </a:rPr>
              <a:t>) 수입의존도는 74.90%로 집중된 구조입니다.</a:t>
            </a:r>
          </a:p>
          <a:p>
            <a:pPr lvl="0"/>
            <a:endParaRPr lang="en-US" altLang="ko-KR" sz="1100" dirty="0">
              <a:solidFill>
                <a:srgbClr val="FF0000"/>
              </a:solidFill>
            </a:endParaRPr>
          </a:p>
          <a:p>
            <a:pPr lvl="0"/>
            <a:r>
              <a:rPr lang="ko-KR" altLang="ko-KR" sz="1100" dirty="0">
                <a:solidFill>
                  <a:srgbClr val="FF0000"/>
                </a:solidFill>
              </a:rPr>
              <a:t>2025년 국가별 생산량 자료에서 1위는 칠레이며, 자료에 포함된 국가 생산량 합계의 37.06%를 차지합니다. 국가별 공급망 편중도는 0.247로, 완만한 편중 경향을 보이고 있습니다. 아직 위험 수준은 아니나, 상위 공급국 현황에 대한 지속적인 모니터링이 요구됩니다.</a:t>
            </a:r>
          </a:p>
          <a:p>
            <a:br>
              <a:rPr lang="ko-KR" altLang="ko-KR" sz="1100" dirty="0">
                <a:solidFill>
                  <a:srgbClr val="FF0000"/>
                </a:solidFill>
              </a:rPr>
            </a:br>
            <a:endParaRPr lang="ko-KR" altLang="ko-KR" sz="1100" b="1" dirty="0">
              <a:solidFill>
                <a:srgbClr val="FF0000"/>
              </a:solidFill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47823974-986D-3DFA-FD16-AD2CCAAFBF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3551141"/>
              </p:ext>
            </p:extLst>
          </p:nvPr>
        </p:nvGraphicFramePr>
        <p:xfrm>
          <a:off x="7176120" y="2679321"/>
          <a:ext cx="3241674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단위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현재 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1.73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현재 단계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긴장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C0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최근 점수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현재 단계 연속기간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개월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단계 전환 횟수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최대 월간 점수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10.17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최근 가격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-0.36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조회기간 평균 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11.49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5093304-3304-EDCE-3182-BEB4FA0F0C52}"/>
              </a:ext>
            </a:extLst>
          </p:cNvPr>
          <p:cNvSpPr txBox="1"/>
          <p:nvPr/>
        </p:nvSpPr>
        <p:spPr>
          <a:xfrm>
            <a:off x="1271588" y="1484784"/>
            <a:ext cx="1866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검색 옵션 </a:t>
            </a:r>
            <a:r>
              <a:rPr lang="en-US" altLang="ko-KR" dirty="0"/>
              <a:t>: </a:t>
            </a:r>
            <a:r>
              <a:rPr lang="ko-KR" altLang="en-US" dirty="0" err="1"/>
              <a:t>갈륨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6EEF30-15E4-3782-F965-9BEACA070EF5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/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</p:spTree>
    <p:extLst>
      <p:ext uri="{BB962C8B-B14F-4D97-AF65-F5344CB8AC3E}">
        <p14:creationId xmlns:p14="http://schemas.microsoft.com/office/powerpoint/2010/main" val="380070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EABC34-8862-BF59-F637-23601BDE9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국내수급지도 </a:t>
            </a:r>
            <a:r>
              <a:rPr lang="en-US" altLang="ko-KR" dirty="0"/>
              <a:t>- </a:t>
            </a:r>
            <a:r>
              <a:rPr lang="ko-KR" altLang="en-US" dirty="0"/>
              <a:t>핵심광물지도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102BEB-F744-5F63-D59C-5077D8C226D9}"/>
              </a:ext>
            </a:extLst>
          </p:cNvPr>
          <p:cNvSpPr txBox="1"/>
          <p:nvPr/>
        </p:nvSpPr>
        <p:spPr>
          <a:xfrm>
            <a:off x="1237139" y="2319637"/>
            <a:ext cx="4680520" cy="5309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600" b="1" dirty="0"/>
              <a:t>수입 현황</a:t>
            </a:r>
          </a:p>
          <a:p>
            <a:r>
              <a:rPr lang="ko-KR" altLang="ko-KR" dirty="0"/>
              <a:t>2026년 기준 한국의 동 수입액은 총 약 109억 달러이며, 1위 수입국은 칠레 약 25억 달러(23.27%), 2위 수입국은 미국 약 12억 달러(10.97%), 3위 수입국은 호주 약 11억 달러(10.07%)입니다.</a:t>
            </a:r>
            <a:endParaRPr lang="en-US" altLang="ko-KR" sz="1600" b="1" dirty="0"/>
          </a:p>
          <a:p>
            <a:r>
              <a:rPr lang="ko-KR" altLang="ko-KR" sz="1600" b="1" dirty="0"/>
              <a:t>수입 집중도</a:t>
            </a:r>
          </a:p>
          <a:p>
            <a:r>
              <a:rPr lang="ko-KR" altLang="ko-KR" dirty="0"/>
              <a:t>상위 3개국 수입 비중은 전체의 44.32%이며, 상위 5개국까지 합산하면 전체의 59.59%를 차지합니다.</a:t>
            </a:r>
          </a:p>
          <a:p>
            <a:br>
              <a:rPr lang="ko-KR" altLang="ko-KR" sz="1600" dirty="0"/>
            </a:br>
            <a:endParaRPr lang="en-US" altLang="ko-KR" sz="1600" b="1" dirty="0"/>
          </a:p>
          <a:p>
            <a:r>
              <a:rPr lang="ko-KR" altLang="ko-KR" sz="1600" b="1" dirty="0"/>
              <a:t>수출 현황</a:t>
            </a:r>
          </a:p>
          <a:p>
            <a:r>
              <a:rPr lang="ko-KR" altLang="ko-KR" dirty="0"/>
              <a:t>2026년 기준 한국의 동 수출액은 총 약 51억 달러로, 주요 수출 대상국은 1위 중국 약 20억 달러(39.06%), 2위 미국 약 9억 달러(17.26%), 3위 대만 약 4억 달러(7.79%) 순이며, 수출액은 수입액의 약 47% 수준으로 수입액이 수출액보다 많습니다.</a:t>
            </a:r>
            <a:r>
              <a:rPr lang="ko-KR" altLang="ko-KR" sz="1200" dirty="0">
                <a:solidFill>
                  <a:srgbClr val="FF0000"/>
                </a:solidFill>
              </a:rPr>
              <a:t>.</a:t>
            </a:r>
            <a:br>
              <a:rPr lang="ko-KR" altLang="ko-KR" sz="700" dirty="0"/>
            </a:br>
            <a:endParaRPr lang="ko-KR" altLang="ko-KR" sz="700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ACA958D-7DCC-E889-AD43-90C02C6BB3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028351"/>
              </p:ext>
            </p:extLst>
          </p:nvPr>
        </p:nvGraphicFramePr>
        <p:xfrm>
          <a:off x="7176120" y="2679321"/>
          <a:ext cx="3241674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251억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20.63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10.95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9.19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40.77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55.76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수출총액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119억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 대비 수출 비율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47.36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1위 수출국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42.67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602952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13A97F6-0C84-48F3-D2A9-53C7EEF495F0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/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271BF8-E7BD-9BB0-9E26-6B4F9B511A75}"/>
              </a:ext>
            </a:extLst>
          </p:cNvPr>
          <p:cNvSpPr txBox="1"/>
          <p:nvPr/>
        </p:nvSpPr>
        <p:spPr>
          <a:xfrm>
            <a:off x="860018" y="1478937"/>
            <a:ext cx="3464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검색 옵션 </a:t>
            </a:r>
            <a:r>
              <a:rPr lang="en-US" altLang="ko-KR" dirty="0"/>
              <a:t>:</a:t>
            </a:r>
            <a:r>
              <a:rPr lang="ko-KR" altLang="en-US" dirty="0"/>
              <a:t>광종 </a:t>
            </a:r>
            <a:r>
              <a:rPr lang="en-US" altLang="ko-KR" dirty="0"/>
              <a:t>: </a:t>
            </a:r>
            <a:r>
              <a:rPr lang="ko-KR" altLang="en-US" dirty="0"/>
              <a:t>동</a:t>
            </a:r>
            <a:r>
              <a:rPr lang="en-US" altLang="ko-KR" dirty="0"/>
              <a:t>, </a:t>
            </a:r>
            <a:r>
              <a:rPr lang="ko-KR" altLang="en-US" dirty="0"/>
              <a:t>수입</a:t>
            </a:r>
            <a:r>
              <a:rPr lang="en-US" altLang="ko-KR" dirty="0"/>
              <a:t>, 2026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93167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19931-87DE-689B-C34A-F69FB9310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2B228E-D614-03BC-DC53-D04CC25A2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글로벌수급지도 </a:t>
            </a:r>
            <a:r>
              <a:rPr lang="en-US" altLang="ko-KR" dirty="0"/>
              <a:t>- </a:t>
            </a:r>
            <a:r>
              <a:rPr lang="ko-KR" altLang="en-US" dirty="0"/>
              <a:t>핵심광물지도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834196-A6D9-97BC-2319-88BD2C2F782B}"/>
              </a:ext>
            </a:extLst>
          </p:cNvPr>
          <p:cNvSpPr txBox="1"/>
          <p:nvPr/>
        </p:nvSpPr>
        <p:spPr>
          <a:xfrm>
            <a:off x="1237139" y="2319637"/>
            <a:ext cx="46805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200" b="1" dirty="0"/>
              <a:t>글로벌 교역 현황</a:t>
            </a:r>
          </a:p>
          <a:p>
            <a:r>
              <a:rPr lang="en-US" altLang="ko-KR" sz="1200" dirty="0">
                <a:solidFill>
                  <a:srgbClr val="FF0000"/>
                </a:solidFill>
              </a:rPr>
              <a:t>2026</a:t>
            </a:r>
            <a:r>
              <a:rPr lang="ko-KR" altLang="en-US" sz="1200" dirty="0">
                <a:solidFill>
                  <a:srgbClr val="FF0000"/>
                </a:solidFill>
              </a:rPr>
              <a:t>년 기준 리튬 세계 교역 총액은 약 </a:t>
            </a:r>
            <a:r>
              <a:rPr lang="en-US" altLang="ko-KR" sz="1200" dirty="0">
                <a:solidFill>
                  <a:srgbClr val="FF0000"/>
                </a:solidFill>
              </a:rPr>
              <a:t>2</a:t>
            </a:r>
            <a:r>
              <a:rPr lang="ko-KR" altLang="en-US" sz="1200" dirty="0">
                <a:solidFill>
                  <a:srgbClr val="FF0000"/>
                </a:solidFill>
              </a:rPr>
              <a:t>억 달러입니다</a:t>
            </a:r>
            <a:r>
              <a:rPr lang="en-US" altLang="ko-KR" sz="1200" dirty="0">
                <a:solidFill>
                  <a:srgbClr val="FF0000"/>
                </a:solidFill>
              </a:rPr>
              <a:t>.</a:t>
            </a:r>
            <a:endParaRPr lang="en-US" altLang="ko-KR" sz="1200" b="1" dirty="0"/>
          </a:p>
          <a:p>
            <a:endParaRPr lang="en-US" altLang="ko-KR" sz="1200" b="1" dirty="0"/>
          </a:p>
          <a:p>
            <a:r>
              <a:rPr lang="ko-KR" altLang="ko-KR" sz="1200" b="1" dirty="0"/>
              <a:t>주요 교역 루트</a:t>
            </a:r>
          </a:p>
          <a:p>
            <a:r>
              <a:rPr lang="ko-KR" altLang="en-US" sz="1200" dirty="0">
                <a:solidFill>
                  <a:srgbClr val="FF0000"/>
                </a:solidFill>
              </a:rPr>
              <a:t>글로벌 교역 규모 </a:t>
            </a:r>
            <a:r>
              <a:rPr lang="en-US" altLang="ko-KR" sz="1200" dirty="0">
                <a:solidFill>
                  <a:srgbClr val="FF0000"/>
                </a:solidFill>
              </a:rPr>
              <a:t>1</a:t>
            </a:r>
            <a:r>
              <a:rPr lang="ko-KR" altLang="en-US" sz="1200" dirty="0">
                <a:solidFill>
                  <a:srgbClr val="FF0000"/>
                </a:solidFill>
              </a:rPr>
              <a:t>위는 </a:t>
            </a:r>
            <a:r>
              <a:rPr lang="ko-KR" altLang="en-US" sz="1200" dirty="0" err="1">
                <a:solidFill>
                  <a:srgbClr val="FF0000"/>
                </a:solidFill>
              </a:rPr>
              <a:t>호주→인도네시아</a:t>
            </a:r>
            <a:r>
              <a:rPr lang="ko-KR" altLang="en-US" sz="1200" dirty="0">
                <a:solidFill>
                  <a:srgbClr val="FF0000"/>
                </a:solidFill>
              </a:rPr>
              <a:t> 루트로 약 </a:t>
            </a:r>
            <a:r>
              <a:rPr lang="en-US" altLang="ko-KR" sz="1200" dirty="0">
                <a:solidFill>
                  <a:srgbClr val="FF0000"/>
                </a:solidFill>
              </a:rPr>
              <a:t>1,229</a:t>
            </a:r>
            <a:r>
              <a:rPr lang="ko-KR" altLang="en-US" sz="1200" dirty="0">
                <a:solidFill>
                  <a:srgbClr val="FF0000"/>
                </a:solidFill>
              </a:rPr>
              <a:t>만 달러</a:t>
            </a:r>
            <a:r>
              <a:rPr lang="en-US" altLang="ko-KR" sz="1200" dirty="0">
                <a:solidFill>
                  <a:srgbClr val="FF0000"/>
                </a:solidFill>
              </a:rPr>
              <a:t>(7.11%)</a:t>
            </a:r>
            <a:r>
              <a:rPr lang="ko-KR" altLang="en-US" sz="1200" dirty="0">
                <a:solidFill>
                  <a:srgbClr val="FF0000"/>
                </a:solidFill>
              </a:rPr>
              <a:t>이며</a:t>
            </a:r>
            <a:r>
              <a:rPr lang="en-US" altLang="ko-KR" sz="1200" dirty="0">
                <a:solidFill>
                  <a:srgbClr val="FF0000"/>
                </a:solidFill>
              </a:rPr>
              <a:t>, 2</a:t>
            </a:r>
            <a:r>
              <a:rPr lang="ko-KR" altLang="en-US" sz="1200" dirty="0">
                <a:solidFill>
                  <a:srgbClr val="FF0000"/>
                </a:solidFill>
              </a:rPr>
              <a:t>위는 </a:t>
            </a:r>
            <a:r>
              <a:rPr lang="ko-KR" altLang="en-US" sz="1200" dirty="0" err="1">
                <a:solidFill>
                  <a:srgbClr val="FF0000"/>
                </a:solidFill>
              </a:rPr>
              <a:t>칠레→독일</a:t>
            </a:r>
            <a:r>
              <a:rPr lang="ko-KR" altLang="en-US" sz="1200" dirty="0">
                <a:solidFill>
                  <a:srgbClr val="FF0000"/>
                </a:solidFill>
              </a:rPr>
              <a:t> 루트로 약 </a:t>
            </a:r>
            <a:r>
              <a:rPr lang="en-US" altLang="ko-KR" sz="1200" dirty="0">
                <a:solidFill>
                  <a:srgbClr val="FF0000"/>
                </a:solidFill>
              </a:rPr>
              <a:t>768</a:t>
            </a:r>
            <a:r>
              <a:rPr lang="ko-KR" altLang="en-US" sz="1200" dirty="0">
                <a:solidFill>
                  <a:srgbClr val="FF0000"/>
                </a:solidFill>
              </a:rPr>
              <a:t>만 달러</a:t>
            </a:r>
            <a:r>
              <a:rPr lang="en-US" altLang="ko-KR" sz="1200" dirty="0">
                <a:solidFill>
                  <a:srgbClr val="FF0000"/>
                </a:solidFill>
              </a:rPr>
              <a:t>(4.44%), 3</a:t>
            </a:r>
            <a:r>
              <a:rPr lang="ko-KR" altLang="en-US" sz="1200" dirty="0">
                <a:solidFill>
                  <a:srgbClr val="FF0000"/>
                </a:solidFill>
              </a:rPr>
              <a:t>위는 </a:t>
            </a:r>
            <a:r>
              <a:rPr lang="ko-KR" altLang="en-US" sz="1200" dirty="0" err="1">
                <a:solidFill>
                  <a:srgbClr val="FF0000"/>
                </a:solidFill>
              </a:rPr>
              <a:t>칠레→영국</a:t>
            </a:r>
            <a:r>
              <a:rPr lang="ko-KR" altLang="en-US" sz="1200" dirty="0">
                <a:solidFill>
                  <a:srgbClr val="FF0000"/>
                </a:solidFill>
              </a:rPr>
              <a:t> 루트로 약 </a:t>
            </a:r>
            <a:r>
              <a:rPr lang="en-US" altLang="ko-KR" sz="1200" dirty="0">
                <a:solidFill>
                  <a:srgbClr val="FF0000"/>
                </a:solidFill>
              </a:rPr>
              <a:t>756</a:t>
            </a:r>
            <a:r>
              <a:rPr lang="ko-KR" altLang="en-US" sz="1200" dirty="0">
                <a:solidFill>
                  <a:srgbClr val="FF0000"/>
                </a:solidFill>
              </a:rPr>
              <a:t>만 달러</a:t>
            </a:r>
            <a:r>
              <a:rPr lang="en-US" altLang="ko-KR" sz="1200" dirty="0">
                <a:solidFill>
                  <a:srgbClr val="FF0000"/>
                </a:solidFill>
              </a:rPr>
              <a:t>(4.37%)</a:t>
            </a:r>
            <a:r>
              <a:rPr lang="ko-KR" altLang="en-US" sz="1200" dirty="0" err="1">
                <a:solidFill>
                  <a:srgbClr val="FF0000"/>
                </a:solidFill>
              </a:rPr>
              <a:t>를</a:t>
            </a:r>
            <a:r>
              <a:rPr lang="ko-KR" altLang="en-US" sz="1200" dirty="0">
                <a:solidFill>
                  <a:srgbClr val="FF0000"/>
                </a:solidFill>
              </a:rPr>
              <a:t> 기록했습니다</a:t>
            </a:r>
            <a:r>
              <a:rPr lang="en-US" altLang="ko-KR" sz="1200" dirty="0">
                <a:solidFill>
                  <a:srgbClr val="FF0000"/>
                </a:solidFill>
              </a:rPr>
              <a:t>. </a:t>
            </a:r>
            <a:r>
              <a:rPr lang="ko-KR" altLang="en-US" sz="1200" dirty="0">
                <a:solidFill>
                  <a:srgbClr val="FF0000"/>
                </a:solidFill>
              </a:rPr>
              <a:t>상위 </a:t>
            </a:r>
            <a:r>
              <a:rPr lang="en-US" altLang="ko-KR" sz="1200" dirty="0">
                <a:solidFill>
                  <a:srgbClr val="FF0000"/>
                </a:solidFill>
              </a:rPr>
              <a:t>3</a:t>
            </a:r>
            <a:r>
              <a:rPr lang="ko-KR" altLang="en-US" sz="1200" dirty="0">
                <a:solidFill>
                  <a:srgbClr val="FF0000"/>
                </a:solidFill>
              </a:rPr>
              <a:t>개 루트의 합산 점유율은 </a:t>
            </a:r>
            <a:r>
              <a:rPr lang="en-US" altLang="ko-KR" sz="1200" dirty="0">
                <a:solidFill>
                  <a:srgbClr val="FF0000"/>
                </a:solidFill>
              </a:rPr>
              <a:t>15.93%</a:t>
            </a:r>
            <a:r>
              <a:rPr lang="ko-KR" altLang="en-US" sz="1200" dirty="0">
                <a:solidFill>
                  <a:srgbClr val="FF0000"/>
                </a:solidFill>
              </a:rPr>
              <a:t>이며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상위 </a:t>
            </a:r>
            <a:r>
              <a:rPr lang="en-US" altLang="ko-KR" sz="1200" dirty="0">
                <a:solidFill>
                  <a:srgbClr val="FF0000"/>
                </a:solidFill>
              </a:rPr>
              <a:t>5</a:t>
            </a:r>
            <a:r>
              <a:rPr lang="ko-KR" altLang="en-US" sz="1200" dirty="0">
                <a:solidFill>
                  <a:srgbClr val="FF0000"/>
                </a:solidFill>
              </a:rPr>
              <a:t>개 루트의 합산 점유율은 </a:t>
            </a:r>
            <a:r>
              <a:rPr lang="en-US" altLang="ko-KR" sz="1200" dirty="0">
                <a:solidFill>
                  <a:srgbClr val="FF0000"/>
                </a:solidFill>
              </a:rPr>
              <a:t>24.23%</a:t>
            </a:r>
            <a:r>
              <a:rPr lang="ko-KR" altLang="en-US" sz="1200" dirty="0">
                <a:solidFill>
                  <a:srgbClr val="FF0000"/>
                </a:solidFill>
              </a:rPr>
              <a:t>입니다</a:t>
            </a:r>
            <a:r>
              <a:rPr lang="en-US" altLang="ko-KR" sz="1200" dirty="0">
                <a:solidFill>
                  <a:srgbClr val="FF0000"/>
                </a:solidFill>
              </a:rPr>
              <a:t>.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endParaRPr lang="en-US" altLang="ko-KR" sz="1200" b="1" dirty="0"/>
          </a:p>
          <a:p>
            <a:r>
              <a:rPr lang="ko-KR" altLang="ko-KR" sz="1200" b="1" dirty="0"/>
              <a:t>한국 관련 루트</a:t>
            </a:r>
          </a:p>
          <a:p>
            <a:r>
              <a:rPr lang="ko-KR" altLang="ko-KR" sz="1200" dirty="0"/>
              <a:t>대한민국이 포함된 교역 루트는 5위 </a:t>
            </a:r>
            <a:r>
              <a:rPr lang="ko-KR" altLang="ko-KR" sz="1200" dirty="0" err="1"/>
              <a:t>대한민국→인도네시아</a:t>
            </a:r>
            <a:r>
              <a:rPr lang="ko-KR" altLang="ko-KR" sz="1200" dirty="0"/>
              <a:t> 루트의 </a:t>
            </a:r>
            <a:r>
              <a:rPr lang="ko-KR" altLang="ko-KR" sz="1200" dirty="0" err="1"/>
              <a:t>교역액</a:t>
            </a:r>
            <a:r>
              <a:rPr lang="ko-KR" altLang="ko-KR" sz="1200" dirty="0"/>
              <a:t> 약 687만 달러(3.98%)로 확인됩니다.</a:t>
            </a:r>
          </a:p>
          <a:p>
            <a:br>
              <a:rPr lang="ko-KR" altLang="ko-KR" sz="1200" dirty="0"/>
            </a:b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ko-KR" altLang="en-US" sz="1200" dirty="0">
                <a:solidFill>
                  <a:srgbClr val="FF0000"/>
                </a:solidFill>
              </a:rPr>
              <a:t>참고</a:t>
            </a:r>
            <a:r>
              <a:rPr lang="en-US" altLang="ko-KR" sz="1200" dirty="0">
                <a:solidFill>
                  <a:srgbClr val="FF0000"/>
                </a:solidFill>
              </a:rPr>
              <a:t>: </a:t>
            </a:r>
            <a:r>
              <a:rPr lang="ko-KR" altLang="en-US" sz="1200" dirty="0">
                <a:solidFill>
                  <a:srgbClr val="FF0000"/>
                </a:solidFill>
              </a:rPr>
              <a:t>연도별 </a:t>
            </a:r>
            <a:r>
              <a:rPr lang="ko-KR" altLang="en-US" sz="1200" dirty="0" err="1">
                <a:solidFill>
                  <a:srgbClr val="FF0000"/>
                </a:solidFill>
              </a:rPr>
              <a:t>교역액</a:t>
            </a:r>
            <a:r>
              <a:rPr lang="ko-KR" altLang="en-US" sz="1200" dirty="0">
                <a:solidFill>
                  <a:srgbClr val="FF0000"/>
                </a:solidFill>
              </a:rPr>
              <a:t> 변화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ko-KR" altLang="en-US" sz="1200" dirty="0">
                <a:solidFill>
                  <a:srgbClr val="FF0000"/>
                </a:solidFill>
              </a:rPr>
              <a:t> </a:t>
            </a:r>
            <a:r>
              <a:rPr lang="en-US" altLang="ko-KR" sz="1200" dirty="0">
                <a:solidFill>
                  <a:srgbClr val="FF0000"/>
                </a:solidFill>
              </a:rPr>
              <a:t>KOMIS </a:t>
            </a:r>
            <a:r>
              <a:rPr lang="ko-KR" altLang="en-US" sz="1200" dirty="0">
                <a:solidFill>
                  <a:srgbClr val="FF0000"/>
                </a:solidFill>
              </a:rPr>
              <a:t>차트 기준 호주의 교역액은 </a:t>
            </a:r>
            <a:r>
              <a:rPr lang="en-US" altLang="ko-KR" sz="1200" dirty="0">
                <a:solidFill>
                  <a:srgbClr val="FF0000"/>
                </a:solidFill>
              </a:rPr>
              <a:t>2024</a:t>
            </a:r>
            <a:r>
              <a:rPr lang="ko-KR" altLang="en-US" sz="1200" dirty="0">
                <a:solidFill>
                  <a:srgbClr val="FF0000"/>
                </a:solidFill>
              </a:rPr>
              <a:t>년 약 </a:t>
            </a:r>
            <a:r>
              <a:rPr lang="en-US" altLang="ko-KR" sz="1200" dirty="0">
                <a:solidFill>
                  <a:srgbClr val="FF0000"/>
                </a:solidFill>
              </a:rPr>
              <a:t>68</a:t>
            </a:r>
            <a:r>
              <a:rPr lang="ko-KR" altLang="en-US" sz="1200" dirty="0">
                <a:solidFill>
                  <a:srgbClr val="FF0000"/>
                </a:solidFill>
              </a:rPr>
              <a:t>억 달러에서 </a:t>
            </a:r>
            <a:r>
              <a:rPr lang="en-US" altLang="ko-KR" sz="1200" dirty="0">
                <a:solidFill>
                  <a:srgbClr val="FF0000"/>
                </a:solidFill>
              </a:rPr>
              <a:t>2025</a:t>
            </a:r>
            <a:r>
              <a:rPr lang="ko-KR" altLang="en-US" sz="1200" dirty="0">
                <a:solidFill>
                  <a:srgbClr val="FF0000"/>
                </a:solidFill>
              </a:rPr>
              <a:t>년 약 </a:t>
            </a:r>
            <a:r>
              <a:rPr lang="en-US" altLang="ko-KR" sz="1200" dirty="0">
                <a:solidFill>
                  <a:srgbClr val="FF0000"/>
                </a:solidFill>
              </a:rPr>
              <a:t>24</a:t>
            </a:r>
            <a:r>
              <a:rPr lang="ko-KR" altLang="en-US" sz="1200" dirty="0">
                <a:solidFill>
                  <a:srgbClr val="FF0000"/>
                </a:solidFill>
              </a:rPr>
              <a:t>억 달러로 </a:t>
            </a:r>
            <a:r>
              <a:rPr lang="en-US" altLang="ko-KR" sz="1200" dirty="0">
                <a:solidFill>
                  <a:srgbClr val="FF0000"/>
                </a:solidFill>
              </a:rPr>
              <a:t>-64.61% </a:t>
            </a:r>
            <a:r>
              <a:rPr lang="ko-KR" altLang="en-US" sz="1200" dirty="0">
                <a:solidFill>
                  <a:srgbClr val="FF0000"/>
                </a:solidFill>
              </a:rPr>
              <a:t>변동했습니다</a:t>
            </a:r>
            <a:r>
              <a:rPr lang="en-US" altLang="ko-KR" sz="1200" dirty="0">
                <a:solidFill>
                  <a:srgbClr val="FF0000"/>
                </a:solidFill>
              </a:rPr>
              <a:t>.</a:t>
            </a:r>
            <a:endParaRPr lang="ko-KR" altLang="ko-KR" sz="1200" dirty="0">
              <a:solidFill>
                <a:srgbClr val="FF0000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461FC2D-F702-E3AA-3336-AA50EDE47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585986"/>
              </p:ext>
            </p:extLst>
          </p:nvPr>
        </p:nvGraphicFramePr>
        <p:xfrm>
          <a:off x="7176120" y="2679321"/>
          <a:ext cx="3241674" cy="2611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179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508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세계 교역 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</a:t>
                      </a:r>
                      <a:r>
                        <a:rPr lang="en-US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7.11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15.93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24.23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호주 연도별 교역액 변동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-64.61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90EC5A4-F504-F7DA-6132-682A15511216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/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B11F39-8EC2-8085-7788-A867369777A2}"/>
              </a:ext>
            </a:extLst>
          </p:cNvPr>
          <p:cNvSpPr txBox="1"/>
          <p:nvPr/>
        </p:nvSpPr>
        <p:spPr>
          <a:xfrm>
            <a:off x="860018" y="1478937"/>
            <a:ext cx="5577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검색 옵션 </a:t>
            </a:r>
            <a:r>
              <a:rPr lang="en-US" altLang="ko-KR" dirty="0"/>
              <a:t>:</a:t>
            </a:r>
            <a:r>
              <a:rPr lang="ko-KR" altLang="en-US" dirty="0"/>
              <a:t>광종 </a:t>
            </a:r>
            <a:r>
              <a:rPr lang="en-US" altLang="ko-KR" dirty="0"/>
              <a:t>: </a:t>
            </a:r>
            <a:r>
              <a:rPr lang="ko-KR" altLang="en-US" dirty="0"/>
              <a:t>리튬</a:t>
            </a:r>
            <a:r>
              <a:rPr lang="en-US" altLang="ko-KR" dirty="0"/>
              <a:t>, </a:t>
            </a:r>
            <a:r>
              <a:rPr lang="ko-KR" altLang="en-US" dirty="0"/>
              <a:t>수입</a:t>
            </a:r>
            <a:r>
              <a:rPr lang="en-US" altLang="ko-KR" dirty="0"/>
              <a:t>, 2026, </a:t>
            </a:r>
            <a:r>
              <a:rPr lang="ko-KR" altLang="en-US" dirty="0"/>
              <a:t>수출입국가</a:t>
            </a:r>
            <a:r>
              <a:rPr lang="en-US" altLang="ko-KR" dirty="0"/>
              <a:t>: </a:t>
            </a:r>
            <a:r>
              <a:rPr lang="ko-KR" altLang="en-US" dirty="0"/>
              <a:t>전체</a:t>
            </a:r>
          </a:p>
        </p:txBody>
      </p:sp>
    </p:spTree>
    <p:extLst>
      <p:ext uri="{BB962C8B-B14F-4D97-AF65-F5344CB8AC3E}">
        <p14:creationId xmlns:p14="http://schemas.microsoft.com/office/powerpoint/2010/main" val="46254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E68C6-1E7D-4039-C3FD-99DFDBF31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8F080E-E516-683C-098F-0E25F86FF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광물지도 </a:t>
            </a:r>
            <a:r>
              <a:rPr lang="en-US" altLang="ko-KR" dirty="0"/>
              <a:t>- </a:t>
            </a:r>
            <a:r>
              <a:rPr lang="ko-KR" altLang="en-US" dirty="0"/>
              <a:t>핵심광물지도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4BE2AF-981E-8CED-888B-04F1F81AD35E}"/>
              </a:ext>
            </a:extLst>
          </p:cNvPr>
          <p:cNvSpPr txBox="1"/>
          <p:nvPr/>
        </p:nvSpPr>
        <p:spPr>
          <a:xfrm>
            <a:off x="860018" y="1922351"/>
            <a:ext cx="46805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200" b="1" dirty="0"/>
              <a:t>세계 매장량 현황</a:t>
            </a:r>
          </a:p>
          <a:p>
            <a:r>
              <a:rPr lang="ko-KR" altLang="ko-KR" sz="1200" dirty="0">
                <a:solidFill>
                  <a:srgbClr val="FF0000"/>
                </a:solidFill>
              </a:rPr>
              <a:t>2025년 세계 동 매장량은 약 7,702억톤입니다. 2024년보다 약 273억톤 줄어 1년간 3.42% 감소했습니다.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endParaRPr lang="en-US" altLang="ko-KR" sz="1200" b="1" dirty="0"/>
          </a:p>
          <a:p>
            <a:r>
              <a:rPr lang="ko-KR" altLang="ko-KR" sz="1200" b="1" dirty="0"/>
              <a:t>국가별 순위 및 변화</a:t>
            </a:r>
          </a:p>
          <a:p>
            <a:r>
              <a:rPr lang="ko-KR" altLang="ko-KR" sz="1200" dirty="0">
                <a:solidFill>
                  <a:srgbClr val="FF0000"/>
                </a:solidFill>
              </a:rPr>
              <a:t>2025년 기준 칠레는 약 1,800억톤으로 세계 전체의 23.37%를 차지해 1위입니다. 호주는 약 1,000억톤, 12.98%로 2위이며 두 국가의 비중 차이는 10.39%포인트입니다. 페루는 약 850억톤, 11.04%로 3위입니다. 매장량 2위인 호주는 생산량 기준 8위(약 73만톤, 3.65%)에 그치고 있어, 매장량 대비 생산량 비율이 낮은 국가로 분류됩니다.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endParaRPr lang="en-US" altLang="ko-KR" sz="1200" b="1" dirty="0"/>
          </a:p>
          <a:p>
            <a:r>
              <a:rPr lang="ko-KR" altLang="ko-KR" sz="1200" b="1" dirty="0"/>
              <a:t>주요 변화</a:t>
            </a:r>
          </a:p>
          <a:p>
            <a:r>
              <a:rPr lang="ko-KR" altLang="ko-KR" sz="1200" dirty="0"/>
              <a:t>조회기간 중 매장량이 가장 크게 감소한 국가는 페루입니다.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362E5F1-2258-DF0C-F07C-88614F8068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766840"/>
              </p:ext>
            </p:extLst>
          </p:nvPr>
        </p:nvGraphicFramePr>
        <p:xfrm>
          <a:off x="7176120" y="2679321"/>
          <a:ext cx="3960441" cy="38854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5611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320147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38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단위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세계 매장량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7,702억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천톤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5561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조회기간 세계합계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-3.42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7581782"/>
                  </a:ext>
                </a:extLst>
              </a:tr>
              <a:tr h="238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국가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23.37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 3개국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47.39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 5개국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68.16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1·2위 비중 차이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10.39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최대 감소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페루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-3.42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F98F77A-638E-3753-E7B1-25A9B83666CA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/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5D00AA-C641-8C10-90E1-912BBCC37F93}"/>
              </a:ext>
            </a:extLst>
          </p:cNvPr>
          <p:cNvSpPr txBox="1"/>
          <p:nvPr/>
        </p:nvSpPr>
        <p:spPr>
          <a:xfrm>
            <a:off x="860018" y="1478937"/>
            <a:ext cx="4363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검색 옵션 </a:t>
            </a:r>
            <a:r>
              <a:rPr lang="en-US" altLang="ko-KR" dirty="0"/>
              <a:t>:</a:t>
            </a:r>
            <a:r>
              <a:rPr lang="ko-KR" altLang="en-US" dirty="0"/>
              <a:t>광종 </a:t>
            </a:r>
            <a:r>
              <a:rPr lang="en-US" altLang="ko-KR" dirty="0"/>
              <a:t>: </a:t>
            </a:r>
            <a:r>
              <a:rPr lang="ko-KR" altLang="en-US" dirty="0"/>
              <a:t>동</a:t>
            </a:r>
            <a:r>
              <a:rPr lang="en-US" altLang="ko-KR" dirty="0"/>
              <a:t>, </a:t>
            </a:r>
            <a:r>
              <a:rPr lang="ko-KR" altLang="en-US" dirty="0"/>
              <a:t>매장량</a:t>
            </a:r>
            <a:r>
              <a:rPr lang="en-US" altLang="ko-KR" dirty="0"/>
              <a:t>, 2024~2025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4162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1379</TotalTime>
  <Words>2214</Words>
  <Application>Microsoft Macintosh PowerPoint</Application>
  <PresentationFormat>와이드스크린</PresentationFormat>
  <Paragraphs>453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Source Sans</vt:lpstr>
      <vt:lpstr>Arial</vt:lpstr>
      <vt:lpstr>Office 테마</vt:lpstr>
      <vt:lpstr>분석 요약</vt:lpstr>
      <vt:lpstr>분석요약</vt:lpstr>
      <vt:lpstr>비철금속 - 광물가격지표</vt:lpstr>
      <vt:lpstr>희소금속 - 광물가격지표</vt:lpstr>
      <vt:lpstr>철에너지 - 광물가격지표</vt:lpstr>
      <vt:lpstr>기타 - 광물가격지표</vt:lpstr>
      <vt:lpstr>광물종합지수 - 광물전망지표</vt:lpstr>
      <vt:lpstr>시장동향지표 - 광물전망지표</vt:lpstr>
      <vt:lpstr>수급동향지표 - 광물전망지표</vt:lpstr>
      <vt:lpstr>국내수급지도 - 핵심광물지도</vt:lpstr>
      <vt:lpstr>글로벌수급지도 - 핵심광물지도</vt:lpstr>
      <vt:lpstr>광물지도 - 핵심광물지도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jaeho kang</dc:creator>
  <cp:lastModifiedBy>재호 강</cp:lastModifiedBy>
  <cp:revision>13</cp:revision>
  <dcterms:created xsi:type="dcterms:W3CDTF">2026-09-03T04:50:09Z</dcterms:created>
  <dcterms:modified xsi:type="dcterms:W3CDTF">2026-09-11T12:07:33Z</dcterms:modified>
</cp:coreProperties>
</file>