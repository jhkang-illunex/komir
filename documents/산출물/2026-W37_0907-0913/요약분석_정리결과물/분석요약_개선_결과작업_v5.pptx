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3" r:id="rId8"/>
    <p:sldId id="259" r:id="rId9"/>
    <p:sldId id="264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5" autoAdjust="0"/>
    <p:restoredTop sz="94570"/>
  </p:normalViewPr>
  <p:slideViewPr>
    <p:cSldViewPr>
      <p:cViewPr varScale="1">
        <p:scale>
          <a:sx n="91" d="100"/>
          <a:sy n="91" d="100"/>
        </p:scale>
        <p:origin x="200" y="728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적용 메뉴</a:t>
            </a:r>
            <a:endParaRPr lang="en-US" altLang="ko-KR" dirty="0"/>
          </a:p>
          <a:p>
            <a:pPr lvl="1"/>
            <a:r>
              <a:rPr lang="ko-KR" altLang="en-US" dirty="0"/>
              <a:t>광물자원가격</a:t>
            </a:r>
            <a:endParaRPr lang="en-US" altLang="ko-KR" dirty="0"/>
          </a:p>
          <a:p>
            <a:pPr lvl="2"/>
            <a:r>
              <a:rPr lang="ko-KR" altLang="en-US" dirty="0"/>
              <a:t>비철금속</a:t>
            </a:r>
            <a:endParaRPr lang="en-US" altLang="ko-KR" dirty="0"/>
          </a:p>
          <a:p>
            <a:pPr lvl="2"/>
            <a:r>
              <a:rPr lang="ko-KR" altLang="en-US" dirty="0" err="1"/>
              <a:t>희소금석</a:t>
            </a:r>
            <a:endParaRPr lang="en-US" altLang="ko-KR" dirty="0"/>
          </a:p>
          <a:p>
            <a:pPr lvl="2"/>
            <a:r>
              <a:rPr lang="ko-KR" altLang="en-US" dirty="0" err="1"/>
              <a:t>철광석및에너지</a:t>
            </a:r>
            <a:endParaRPr lang="en-US" altLang="ko-KR" dirty="0"/>
          </a:p>
          <a:p>
            <a:pPr lvl="2"/>
            <a:r>
              <a:rPr lang="ko-KR" altLang="en-US" dirty="0"/>
              <a:t>기타</a:t>
            </a:r>
            <a:endParaRPr lang="en-US" altLang="ko-KR" dirty="0"/>
          </a:p>
          <a:p>
            <a:pPr lvl="1"/>
            <a:r>
              <a:rPr lang="ko-KR" altLang="en-US" dirty="0"/>
              <a:t>광물전망지표</a:t>
            </a:r>
            <a:endParaRPr lang="en-US" altLang="ko-KR" dirty="0"/>
          </a:p>
          <a:p>
            <a:pPr lvl="2"/>
            <a:r>
              <a:rPr lang="ko-KR" altLang="en-US" dirty="0"/>
              <a:t>광물종합지수</a:t>
            </a:r>
            <a:endParaRPr lang="en-US" altLang="ko-KR" dirty="0"/>
          </a:p>
          <a:p>
            <a:pPr lvl="2"/>
            <a:r>
              <a:rPr lang="ko-KR" altLang="en-US" dirty="0"/>
              <a:t>시장동향지표</a:t>
            </a:r>
            <a:endParaRPr lang="en-US" altLang="ko-KR" dirty="0"/>
          </a:p>
          <a:p>
            <a:pPr lvl="2"/>
            <a:r>
              <a:rPr lang="ko-KR" altLang="en-US" dirty="0"/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/>
              <a:t>단 상기 메뉴는 로그인이 필요해서 데모에서 직접 데이터 인출은 안됨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핵심광물지도</a:t>
            </a:r>
            <a:endParaRPr lang="en-US" altLang="ko-KR" dirty="0"/>
          </a:p>
          <a:p>
            <a:pPr lvl="2"/>
            <a:r>
              <a:rPr lang="ko-KR" altLang="en-US" dirty="0"/>
              <a:t>수급지도 </a:t>
            </a:r>
            <a:endParaRPr lang="en-US" altLang="ko-KR" dirty="0"/>
          </a:p>
          <a:p>
            <a:pPr lvl="3"/>
            <a:r>
              <a:rPr lang="ko-KR" altLang="en-US" dirty="0"/>
              <a:t>대한민국</a:t>
            </a:r>
            <a:endParaRPr lang="en-US" altLang="ko-KR" dirty="0"/>
          </a:p>
          <a:p>
            <a:pPr lvl="3"/>
            <a:r>
              <a:rPr lang="ko-KR" altLang="en-US" dirty="0"/>
              <a:t>글로벌</a:t>
            </a:r>
            <a:endParaRPr lang="en-US" altLang="ko-KR" dirty="0"/>
          </a:p>
          <a:p>
            <a:pPr lvl="2"/>
            <a:r>
              <a:rPr lang="ko-KR" altLang="en-US" dirty="0"/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비철금속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b="1" dirty="0"/>
              <a:t>가격 요약</a:t>
            </a:r>
          </a:p>
          <a:p>
            <a:r>
              <a:rPr lang="ko-KR" altLang="ko-KR" sz="1100" dirty="0"/>
              <a:t>2026년 9월 9일 기준 동 </a:t>
            </a:r>
            <a:r>
              <a:rPr lang="ko-KR" altLang="ko-KR" sz="1100" dirty="0" err="1"/>
              <a:t>실거래가는</a:t>
            </a:r>
            <a:r>
              <a:rPr lang="ko-KR" altLang="ko-KR" sz="1100" dirty="0"/>
              <a:t> 14,672달러입니다. 전일(2026년 9월 8일) 대비 -0.44% 변동했습니다. 전주평균(14,370.13) 대비 +2.10% 수준입니다. 전월평균(14,353.40) 대비 +2.22% 수준입니다. 전년평균(9,944.94) 대비 +47.53% 수준입니다.</a:t>
            </a:r>
          </a:p>
          <a:p>
            <a:endParaRPr lang="en-US" altLang="ko-KR" sz="1100" b="1" dirty="0"/>
          </a:p>
          <a:p>
            <a:r>
              <a:rPr lang="ko-KR" altLang="ko-KR" sz="1100" b="1" dirty="0"/>
              <a:t>최근 변화</a:t>
            </a:r>
          </a:p>
          <a:p>
            <a:r>
              <a:rPr lang="ko-KR" altLang="ko-KR" sz="1100" dirty="0"/>
              <a:t>조회기간 시작(2025년 1월 2일, 8,685.50) 대비 +68.93% 변동했습니다. 최근 가격 흐름은 </a:t>
            </a:r>
            <a:r>
              <a:rPr lang="ko-KR" altLang="ko-KR" sz="1100" dirty="0" err="1"/>
              <a:t>단기·중기</a:t>
            </a:r>
            <a:r>
              <a:rPr lang="ko-KR" altLang="ko-KR" sz="1100" dirty="0"/>
              <a:t> 평균 모두 상승 방향입니다.</a:t>
            </a:r>
          </a:p>
          <a:p>
            <a:endParaRPr lang="en-US" altLang="ko-KR" sz="1100" b="1" dirty="0"/>
          </a:p>
          <a:p>
            <a:r>
              <a:rPr lang="ko-KR" altLang="ko-KR" sz="1100" b="1" dirty="0"/>
              <a:t>변동 구간</a:t>
            </a:r>
          </a:p>
          <a:p>
            <a:pPr lvl="0"/>
            <a:r>
              <a:rPr lang="ko-KR" altLang="ko-KR" sz="1100" dirty="0"/>
              <a:t>조회기간 관측치(실거래가) 기준 최고 14,850(2026년 8월 17일), 최저 8,539(2025년 4월 9일)였습니다.</a:t>
            </a:r>
          </a:p>
          <a:p>
            <a:pPr lvl="0"/>
            <a:r>
              <a:rPr lang="ko-KR" altLang="ko-KR" sz="1100" dirty="0"/>
              <a:t>조회기간 저점(2025년 4월 9일, 8,539) 대비 현재가는 71.82% 회복한 수준입니다.</a:t>
            </a:r>
          </a:p>
          <a:p>
            <a:pPr lvl="0"/>
            <a:r>
              <a:rPr lang="ko-KR" altLang="ko-KR" sz="1100" dirty="0"/>
              <a:t>2026년 9월 9일 기준 재고량은 235,825톤으로, 전일(2026년 9월 8일) 대비 0.80% 감소했습니다.</a:t>
            </a:r>
          </a:p>
          <a:p>
            <a:pPr lvl="0"/>
            <a:r>
              <a:rPr lang="ko-KR" altLang="ko-KR" sz="1100" dirty="0"/>
              <a:t>최근 1개월 18.41%·3개월 17.26%·1년 21.19% 수준의 가격 변동폭을 보였습니다.</a:t>
            </a:r>
          </a:p>
          <a:p>
            <a:pPr lvl="0"/>
            <a:r>
              <a:rPr lang="ko-KR" altLang="ko-KR" sz="1100" dirty="0"/>
              <a:t>최근 14일간 상승 9일·하락 5일로 단기 매매 압력은 특별히 어느 한쪽으로 치우치지 않은 상태입니다.</a:t>
            </a:r>
          </a:p>
          <a:p>
            <a:pPr lvl="0"/>
            <a:r>
              <a:rPr lang="ko-KR" altLang="ko-KR" sz="1100" dirty="0"/>
              <a:t>현재가는 조회기간 중 최고가(2026년 8월 17일, 14,850) 대비 1.20% 낮습니다. 조회기간 전체 가격 대비로는 99.53% 위치로 고가권에 속합니다. 조회기간 중 가장 큰 하락은 2026년 1월 29일부터 2026년 3월 19일까지 이어졌으며, 이 기간 14.58% 하락했습니다.</a:t>
            </a:r>
          </a:p>
          <a:p>
            <a:pPr lvl="0"/>
            <a:r>
              <a:rPr lang="ko-KR" altLang="ko-KR" sz="1100" dirty="0"/>
              <a:t>현재 재고량은 조회기간 중 중간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비철금속</a:t>
            </a:r>
            <a:r>
              <a:rPr lang="en-US" altLang="ko-KR" dirty="0"/>
              <a:t>, </a:t>
            </a:r>
            <a:r>
              <a:rPr lang="ko-KR" altLang="en-US" dirty="0"/>
              <a:t>동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100" dirty="0"/>
              <a:t>최근 14일 중 상승 9일·하락 5일로 뚜렷한 방향성 없이 등락을 반복하고 있습니다.</a:t>
            </a:r>
          </a:p>
          <a:p>
            <a:endParaRPr lang="ko-KR" altLang="en-US" sz="11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C7E6511-5228-15C6-E46F-A935C4D6B05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663952" y="5674813"/>
            <a:ext cx="402046" cy="5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희소금속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가격 요약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9월 9일 기준 코발트 </a:t>
            </a:r>
            <a:r>
              <a:rPr lang="ko-KR" altLang="ko-KR" sz="1200" dirty="0" err="1">
                <a:solidFill>
                  <a:srgbClr val="FF0000"/>
                </a:solidFill>
              </a:rPr>
              <a:t>실거래가는</a:t>
            </a:r>
            <a:r>
              <a:rPr lang="ko-KR" altLang="ko-KR" sz="1200" dirty="0">
                <a:solidFill>
                  <a:srgbClr val="FF0000"/>
                </a:solidFill>
              </a:rPr>
              <a:t> 43,250달러로, 전일 대비 2.81% 하락했습니다. 전주평균 대비 17.62% 낮으며, 전월평균 대비 22.57% 낮지만, 전년평균 대비 24.21% 높은 수준입니다.</a:t>
            </a:r>
            <a:r>
              <a:rPr lang="ko-KR" altLang="ko-KR" sz="1200" dirty="0"/>
              <a:t>.</a:t>
            </a:r>
          </a:p>
          <a:p>
            <a:endParaRPr lang="en-US" altLang="ko-KR" sz="1200" b="1" dirty="0"/>
          </a:p>
          <a:p>
            <a:r>
              <a:rPr lang="ko-KR" altLang="ko-KR" sz="1200" b="1" dirty="0"/>
              <a:t>최근 변화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조회기간 시작인 2024년 1월 2일 대비 50.75% 변동했습니다. 최근에는 5일 연속 하락세를 보이고 있으며, 단기와 중기 가격 흐름이 엇갈리고 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변동 구간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관측치 기준 최고가는 2026년 7월 10일 55,885달러, 최저가는 2025년 2월 25일 21,365달러였습니다.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저점인 2025년 2월 25일 대비 현재가는 102.43% 회복한 수준입니다.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현재가는 최고가인 2026년 7월 10일 대비 22.61% 낮으며 고가권에 속합니다. 조회기간 중 가장 큰 하락은 2024년 1월 11일부터 2025년 2월 25일까지 이어졌으며, 이 기간 25.57% 하락했습니다.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1개월 39.31%, 3개월 24.26%, 1년 18.59% 수준의 가격 변동폭을 보였습니다.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14일 중 상승 4일, 하락 8일, 보합 2일로 단기적으로 가격 하락 압력이 크게 반영된 상태입니다.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43,250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-17.62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-22.57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24.21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55,885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희소금속</a:t>
            </a:r>
            <a:r>
              <a:rPr lang="en-US" altLang="ko-KR" dirty="0"/>
              <a:t>, </a:t>
            </a:r>
            <a:r>
              <a:rPr lang="ko-KR" altLang="en-US" dirty="0"/>
              <a:t>코발트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B5178EE-1C07-820F-E0C2-0749C5D2D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853997"/>
              </p:ext>
            </p:extLst>
          </p:nvPr>
        </p:nvGraphicFramePr>
        <p:xfrm>
          <a:off x="7000611" y="2581247"/>
          <a:ext cx="3889647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6549">
                  <a:extLst>
                    <a:ext uri="{9D8B030D-6E8A-4147-A177-3AD203B41FA5}">
                      <a16:colId xmlns:a16="http://schemas.microsoft.com/office/drawing/2014/main" val="2640993773"/>
                    </a:ext>
                  </a:extLst>
                </a:gridCol>
                <a:gridCol w="1296549">
                  <a:extLst>
                    <a:ext uri="{9D8B030D-6E8A-4147-A177-3AD203B41FA5}">
                      <a16:colId xmlns:a16="http://schemas.microsoft.com/office/drawing/2014/main" val="1388247131"/>
                    </a:ext>
                  </a:extLst>
                </a:gridCol>
                <a:gridCol w="1296549">
                  <a:extLst>
                    <a:ext uri="{9D8B030D-6E8A-4147-A177-3AD203B41FA5}">
                      <a16:colId xmlns:a16="http://schemas.microsoft.com/office/drawing/2014/main" val="3137997928"/>
                    </a:ext>
                  </a:extLst>
                </a:gridCol>
              </a:tblGrid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지표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35257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현재가격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43,250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달러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673927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전주 대비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-17.62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%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192436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전월 대비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-22.57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%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845526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전년 대비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24.21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%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847985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연속 추세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5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일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60562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최고가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55,885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달러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516629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최저가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21,365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달러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037692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낙폭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22.61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%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69974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dirty="0">
                          <a:solidFill>
                            <a:srgbClr val="FF0000"/>
                          </a:solidFill>
                          <a:effectLst/>
                        </a:rPr>
                        <a:t>변동성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solidFill>
                            <a:srgbClr val="FF0000"/>
                          </a:solidFill>
                          <a:effectLst/>
                        </a:rPr>
                        <a:t>39.31</a:t>
                      </a:r>
                      <a:endParaRPr lang="ko-KR" sz="1200" b="0" i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dirty="0">
                          <a:solidFill>
                            <a:srgbClr val="FF0000"/>
                          </a:solidFill>
                          <a:effectLst/>
                        </a:rPr>
                        <a:t>%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152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철에너지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b="1" dirty="0"/>
              <a:t>가격 요약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8월 31일 기준 우라늄 </a:t>
            </a:r>
            <a:r>
              <a:rPr lang="ko-KR" altLang="ko-KR" sz="1200" dirty="0" err="1">
                <a:solidFill>
                  <a:srgbClr val="FF0000"/>
                </a:solidFill>
              </a:rPr>
              <a:t>실거래가는</a:t>
            </a:r>
            <a:r>
              <a:rPr lang="ko-KR" altLang="ko-KR" sz="1200" dirty="0">
                <a:solidFill>
                  <a:srgbClr val="FF0000"/>
                </a:solidFill>
              </a:rPr>
              <a:t> 89.53달러로, 직전 관측치(2026년 8월 24일) 대비 0.51% 하락했습니다. 전주평균 대비 0.51% 낮으며, 전월평균 대비 4.10% 높고, 전년평균 대비 22.43% 높은 수준입니다.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/>
              <a:t>최근 변화</a:t>
            </a:r>
          </a:p>
          <a:p>
            <a:r>
              <a:rPr lang="ko-KR" altLang="ko-KR" sz="1100" dirty="0"/>
              <a:t>조회기간 시작(2025년 1월 6일, 73.43) 대비 </a:t>
            </a:r>
            <a:r>
              <a:rPr lang="ko-KR" altLang="ko-KR" sz="1100" dirty="0">
                <a:solidFill>
                  <a:srgbClr val="FF0000"/>
                </a:solidFill>
              </a:rPr>
              <a:t>21.93% 변동했습니다</a:t>
            </a:r>
            <a:r>
              <a:rPr lang="ko-KR" altLang="ko-KR" sz="1100" dirty="0"/>
              <a:t>. 최근 가격 흐름은 </a:t>
            </a:r>
            <a:r>
              <a:rPr lang="ko-KR" altLang="ko-KR" sz="1100" dirty="0" err="1"/>
              <a:t>단기·중기</a:t>
            </a:r>
            <a:r>
              <a:rPr lang="ko-KR" altLang="ko-KR" sz="1100" dirty="0"/>
              <a:t> 평균 모두 상승 방향입니다.</a:t>
            </a:r>
          </a:p>
          <a:p>
            <a:endParaRPr lang="en-US" altLang="ko-KR" sz="1100" b="1" dirty="0"/>
          </a:p>
          <a:p>
            <a:pPr lvl="0"/>
            <a:r>
              <a:rPr lang="ko-KR" altLang="ko-KR" sz="1100" b="1" dirty="0"/>
              <a:t>변동 구간</a:t>
            </a:r>
            <a:endParaRPr lang="en-US" altLang="ko-KR" sz="1100" b="1" dirty="0"/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관측치 기준 최고는 95.95(2026년 1월 26일), 최저는 63.87(2025년 3월 10일)이었습니다.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저점(2025년 3월 10일, 63.87) 대비 현재가는 40.18% 회복한 수준입니다.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현재가는 조회기간 중 최고가(2026년 1월 26일, 95.95) 대비 6.69% 낮으며 전체 가격 대비 고가권에 속합니다. 조회기간 중 가장 큰 하락은 2025년 1월 13일부터 2025년 3월 10일까지 이어졌으며, 이 기간 13.47% 하락했습니다.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1개월 7.24%·3개월 5.55%·1년 17.85% 수준의 가격 변동폭을 보였습니다.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철에너지</a:t>
            </a:r>
            <a:r>
              <a:rPr lang="en-US" altLang="ko-KR" dirty="0"/>
              <a:t>, </a:t>
            </a:r>
            <a:r>
              <a:rPr lang="ko-KR" altLang="en-US" dirty="0"/>
              <a:t>우라늄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가격 요약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9월 9일 기준 흑연 </a:t>
            </a:r>
            <a:r>
              <a:rPr lang="ko-KR" altLang="ko-KR" sz="1200" dirty="0" err="1">
                <a:solidFill>
                  <a:srgbClr val="FF0000"/>
                </a:solidFill>
              </a:rPr>
              <a:t>실거래가는</a:t>
            </a:r>
            <a:r>
              <a:rPr lang="ko-KR" altLang="ko-KR" sz="1200" dirty="0">
                <a:solidFill>
                  <a:srgbClr val="FF0000"/>
                </a:solidFill>
              </a:rPr>
              <a:t> 390달러로, 전일 대비 0.00% 변동했으며 전주평균 대비 같은 수준입니다. 전월평균 대비 0.01% 높고, 전년평균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최근 변화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조회기간 시작인 2024년 1월 2일 대비 -36.58% 변동했습니다. 22일 연속 보합세를 보이고 있으며, 최근에는 단기와 중기 가격 흐름이 엇갈리고 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변동 구간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관측치 기준 최고 614.93(2024년 1월 2일), 최저 387.31(2026년 7월 29일)이었으며, 저점 대비 현재가는 0.69% 회복한 수준입니다.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현재가는 조회기간 중 최고가 대비 36.58% 낮으며 전체 가격 대비 저가권에 속합니다.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1개월 1.12%·3개월 8.56%·1년 9.54% 수준의 가격 변동폭을 보였습니다.</a:t>
            </a:r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기타</a:t>
            </a:r>
            <a:r>
              <a:rPr lang="en-US" altLang="ko-KR" dirty="0"/>
              <a:t>, </a:t>
            </a:r>
            <a:r>
              <a:rPr lang="ko-KR" altLang="en-US" dirty="0"/>
              <a:t>흑연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A1F620A-D70E-2F74-3B04-DE54FF895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027140"/>
              </p:ext>
            </p:extLst>
          </p:nvPr>
        </p:nvGraphicFramePr>
        <p:xfrm>
          <a:off x="6528049" y="5027167"/>
          <a:ext cx="3241674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1726089585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56519709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3523546684"/>
                    </a:ext>
                  </a:extLst>
                </a:gridCol>
              </a:tblGrid>
              <a:tr h="2616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solidFill>
                            <a:srgbClr val="FF0000"/>
                          </a:solidFill>
                          <a:effectLst/>
                        </a:rPr>
                        <a:t>변동성</a:t>
                      </a:r>
                      <a:endParaRPr lang="ko-KR" sz="1200" b="0" i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solidFill>
                            <a:srgbClr val="FF0000"/>
                          </a:solidFill>
                          <a:effectLst/>
                        </a:rPr>
                        <a:t>1.12</a:t>
                      </a:r>
                      <a:endParaRPr lang="ko-KR" sz="1200" b="0" i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dirty="0">
                          <a:solidFill>
                            <a:srgbClr val="FF0000"/>
                          </a:solidFill>
                          <a:effectLst/>
                        </a:rPr>
                        <a:t>%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328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광물종합지수 </a:t>
            </a:r>
            <a:r>
              <a:rPr lang="en-US" altLang="ko-KR" dirty="0"/>
              <a:t>- </a:t>
            </a:r>
            <a:r>
              <a:rPr lang="ko-KR" altLang="en-US" dirty="0"/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b="1" dirty="0"/>
              <a:t>지수 요약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8월 27일 광물종합지수는 3,558.81포인트로, 전주 3,496.56포인트 대비 1.78%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600" b="1" dirty="0"/>
          </a:p>
          <a:p>
            <a:r>
              <a:rPr lang="ko-KR" altLang="ko-KR" sz="1200" b="1" dirty="0">
                <a:solidFill>
                  <a:srgbClr val="FF0000"/>
                </a:solidFill>
              </a:rPr>
              <a:t>지수별 변화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광물종합지수는 3,558.81포인트로, 전주 대비 1.78% 상승했습니다. 구성 광종은 유연탄(25.6%)·동(16.6%)·알루미늄(15.7%) 등입니다. 메이저금속지수는 2,999.54포인트로, 전주 대비 1.95% 상승했습니다. 구성 광종은 동(28.2%)·알루미늄(26.6%) 등입니다. 희소금속지수는 2,911.80포인트로, 전주 대비 0.19% 상승했습니다. 구성 광종은 리튬(71.0%)·몰리브덴(11.7%) 등입니다.</a:t>
            </a:r>
          </a:p>
          <a:p>
            <a:endParaRPr lang="en-US" altLang="ko-KR" sz="1600" b="1" dirty="0"/>
          </a:p>
          <a:p>
            <a:r>
              <a:rPr lang="ko-KR" altLang="ko-KR" sz="1600" b="1" dirty="0"/>
              <a:t>지수 위치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현재 광물종합지수는 조회기간 최고치인 3,558.81포인트와 같으며, 최저치인 3,454.93포인트보다 3.01% 높습니다.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3,558.81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2,999.54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시장동향지표 </a:t>
            </a:r>
            <a:r>
              <a:rPr lang="en-US" altLang="ko-KR" dirty="0"/>
              <a:t>- </a:t>
            </a:r>
            <a:r>
              <a:rPr lang="ko-KR" altLang="en-US" dirty="0"/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b="1" dirty="0"/>
              <a:t>현재 단계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7월 기준 동의 시장동향지표는 30.38점으로, 현재 주의 단계에 해당하며 최근 한 달에는 전월 34.04점 대비 3.66점 하락했습니다. 이 지표는 점수가 낮을수록 위험이 커지는 구조로, 중장기 가격위험이 높아지는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600" b="1" dirty="0"/>
          </a:p>
          <a:p>
            <a:r>
              <a:rPr lang="ko-KR" altLang="ko-KR" sz="1600" b="1" dirty="0"/>
              <a:t>단계 변화</a:t>
            </a:r>
          </a:p>
          <a:p>
            <a:r>
              <a:rPr lang="ko-KR" altLang="ko-KR" sz="1200" dirty="0"/>
              <a:t>가장 최근에는 2025년 1월에 신중에서 주의 단계로 전환되었으며, 2025년 1월부터 주의 단계를 19개월째 유지 중입니다. 조회기간 중 월간 점수 변화 폭이 가장 컸던 때는 2025년 1월로, 직전월보다 8.83점 올랐습니다.</a:t>
            </a:r>
            <a:endParaRPr lang="en-US" altLang="ko-KR" sz="1200" b="1" dirty="0"/>
          </a:p>
          <a:p>
            <a:endParaRPr lang="en-US" altLang="ko-KR" sz="1600" b="1" dirty="0"/>
          </a:p>
          <a:p>
            <a:r>
              <a:rPr lang="ko-KR" altLang="ko-KR" sz="1600" b="1" dirty="0"/>
              <a:t>주요 변동 특징</a:t>
            </a:r>
          </a:p>
          <a:p>
            <a:r>
              <a:rPr lang="ko-KR" altLang="ko-KR" sz="1600" dirty="0">
                <a:solidFill>
                  <a:srgbClr val="FF0000"/>
                </a:solidFill>
              </a:rPr>
              <a:t>최근 한 달 동안 가격은 4.42% 올랐습니다.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수급동향지표 </a:t>
            </a:r>
            <a:r>
              <a:rPr lang="en-US" altLang="ko-KR" dirty="0"/>
              <a:t>- </a:t>
            </a:r>
            <a:r>
              <a:rPr lang="ko-KR" altLang="en-US" dirty="0"/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b="1" dirty="0"/>
              <a:t>현재 단계</a:t>
            </a:r>
            <a:r>
              <a:rPr lang="ko-KR" altLang="ko-KR" sz="1100" dirty="0"/>
              <a:t>: 긴장 (1.73점)</a:t>
            </a:r>
            <a:endParaRPr lang="en-US" altLang="ko-KR" sz="1100" dirty="0"/>
          </a:p>
          <a:p>
            <a:endParaRPr lang="en-US" altLang="ko-KR" sz="1100" b="1" dirty="0"/>
          </a:p>
          <a:p>
            <a:r>
              <a:rPr lang="ko-KR" altLang="ko-KR" sz="1100" b="1" dirty="0"/>
              <a:t>현재 수급 단계</a:t>
            </a:r>
          </a:p>
          <a:p>
            <a:r>
              <a:rPr lang="ko-KR" altLang="ko-KR" sz="1100" dirty="0">
                <a:solidFill>
                  <a:schemeClr val="accent2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/>
              <a:t>단계 변화</a:t>
            </a:r>
          </a:p>
          <a:p>
            <a:r>
              <a:rPr lang="ko-KR" altLang="ko-KR" sz="1100" dirty="0">
                <a:solidFill>
                  <a:schemeClr val="accent2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2025년 4월로, 직전월보다 10.17점 올랐습니다.</a:t>
            </a:r>
          </a:p>
          <a:p>
            <a:endParaRPr lang="en-US" altLang="ko-KR" sz="1100" b="1" dirty="0">
              <a:solidFill>
                <a:srgbClr val="FF0000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/>
              <a:t>구성요소 변화</a:t>
            </a:r>
            <a:endParaRPr lang="en-US" altLang="ko-KR" sz="1100" b="1" dirty="0"/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상위 3개국(</a:t>
            </a:r>
            <a:r>
              <a:rPr lang="ko-KR" altLang="ko-KR" sz="1100" dirty="0" err="1">
                <a:solidFill>
                  <a:srgbClr val="FF0000"/>
                </a:solidFill>
              </a:rPr>
              <a:t>칠레·호주·콩고민주공화국</a:t>
            </a:r>
            <a:r>
              <a:rPr lang="ko-KR" altLang="ko-KR" sz="1100" dirty="0">
                <a:solidFill>
                  <a:srgbClr val="FF0000"/>
                </a:solidFill>
              </a:rPr>
              <a:t>) 수입의존도는 74.90%로 집중된 구조입니다.</a:t>
            </a:r>
          </a:p>
          <a:p>
            <a:pPr lvl="0"/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11.49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 err="1"/>
              <a:t>갈륨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국내수급지도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b="1" dirty="0"/>
              <a:t>수입 현황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12월 31일 기준 한국의 동 수입액은 총 약 251억 달러이며, 1위 수입국은 칠레 약 52억 달러(20.63%), 2위 수입국은 호주 약 28억 달러(10.95%), 3위 수입국은 콩고민주공화국 약 23억 달러(9.19%)입니다.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600" b="1" dirty="0"/>
          </a:p>
          <a:p>
            <a:r>
              <a:rPr lang="ko-KR" altLang="ko-KR" sz="1600" b="1" dirty="0"/>
              <a:t>수입 집중도</a:t>
            </a:r>
          </a:p>
          <a:p>
            <a:r>
              <a:rPr lang="ko-KR" altLang="ko-KR" sz="1600" dirty="0"/>
              <a:t>상위 3개국 수입 비중은 전체의 40.77%이며, 상위 5개국까지 합산하면 전체의 55.76%를 차지합니다.</a:t>
            </a:r>
          </a:p>
          <a:p>
            <a:endParaRPr lang="en-US" altLang="ko-KR" sz="1600" b="1" dirty="0"/>
          </a:p>
          <a:p>
            <a:r>
              <a:rPr lang="ko-KR" altLang="ko-KR" sz="1600" b="1" dirty="0"/>
              <a:t>수출 현황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12월 31일 기준 한국의 동 수출액은 총 약 119억 달러로, 주요 수출 대상국은 1위 중국 약 51억 달러(42.67%), 2위 미국 약 19억 달러(16.20%), 3위 베트남 약 8억 달러(6.70%) 순이며, 수출액은 수입액의 약 47% 수준으로 수입액이 수출액보다 많습니다.</a:t>
            </a:r>
            <a:br>
              <a:rPr lang="ko-KR" altLang="ko-KR" sz="700" dirty="0"/>
            </a:br>
            <a:endParaRPr lang="ko-KR" altLang="ko-KR" sz="7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251억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42.67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  <a:r>
              <a:rPr lang="en-US" altLang="ko-KR" dirty="0"/>
              <a:t>, </a:t>
            </a:r>
            <a:r>
              <a:rPr lang="ko-KR" altLang="en-US" dirty="0"/>
              <a:t>수입</a:t>
            </a:r>
            <a:r>
              <a:rPr lang="en-US" altLang="ko-KR" dirty="0"/>
              <a:t>, 2026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글로벌수급지도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글로벌 교역 현황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기준 리튬 세계 교역 총액은 약 18억 달러입니다..</a:t>
            </a:r>
          </a:p>
          <a:p>
            <a:endParaRPr lang="en-US" altLang="ko-KR" sz="1200" b="1" dirty="0"/>
          </a:p>
          <a:p>
            <a:r>
              <a:rPr lang="ko-KR" altLang="ko-KR" sz="1200" b="1" dirty="0"/>
              <a:t>주요 교역 루트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글로벌 교역 규모 1위는 </a:t>
            </a:r>
            <a:r>
              <a:rPr lang="ko-KR" altLang="ko-KR" sz="1200" dirty="0" err="1">
                <a:solidFill>
                  <a:srgbClr val="FF0000"/>
                </a:solidFill>
              </a:rPr>
              <a:t>중국→일본</a:t>
            </a:r>
            <a:r>
              <a:rPr lang="ko-KR" altLang="ko-KR" sz="1200" dirty="0">
                <a:solidFill>
                  <a:srgbClr val="FF0000"/>
                </a:solidFill>
              </a:rPr>
              <a:t> 루트로 약 2억 달러(11.00%)이며, 2위는 </a:t>
            </a:r>
            <a:r>
              <a:rPr lang="ko-KR" altLang="ko-KR" sz="1200" dirty="0" err="1">
                <a:solidFill>
                  <a:srgbClr val="FF0000"/>
                </a:solidFill>
              </a:rPr>
              <a:t>칠레→일본</a:t>
            </a:r>
            <a:r>
              <a:rPr lang="ko-KR" altLang="ko-KR" sz="1200" dirty="0">
                <a:solidFill>
                  <a:srgbClr val="FF0000"/>
                </a:solidFill>
              </a:rPr>
              <a:t> 루트로 약 2억 달러(8.78%), 3위는 </a:t>
            </a:r>
            <a:r>
              <a:rPr lang="ko-KR" altLang="ko-KR" sz="1200" dirty="0" err="1">
                <a:solidFill>
                  <a:srgbClr val="FF0000"/>
                </a:solidFill>
              </a:rPr>
              <a:t>미국→일본</a:t>
            </a:r>
            <a:r>
              <a:rPr lang="ko-KR" altLang="ko-KR" sz="1200" dirty="0">
                <a:solidFill>
                  <a:srgbClr val="FF0000"/>
                </a:solidFill>
              </a:rPr>
              <a:t> 루트로 약 1억 달러(6.55%)</a:t>
            </a:r>
            <a:r>
              <a:rPr lang="ko-KR" altLang="ko-KR" sz="1200" dirty="0" err="1">
                <a:solidFill>
                  <a:srgbClr val="FF0000"/>
                </a:solidFill>
              </a:rPr>
              <a:t>를</a:t>
            </a:r>
            <a:r>
              <a:rPr lang="ko-KR" altLang="ko-KR" sz="1200" dirty="0">
                <a:solidFill>
                  <a:srgbClr val="FF0000"/>
                </a:solidFill>
              </a:rPr>
              <a:t> 기록했습니다. 상위 3개 루트의 합산 점유율은 26.32%이며, 상위 5개 루트의 합산 점유율은 33.80%입니다.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한국 관련 루트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대한민국이 포함된 교역 루트는 14위 </a:t>
            </a:r>
            <a:r>
              <a:rPr lang="ko-KR" altLang="ko-KR" sz="1200" dirty="0" err="1">
                <a:solidFill>
                  <a:srgbClr val="FF0000"/>
                </a:solidFill>
              </a:rPr>
              <a:t>대한민국→인도네시아</a:t>
            </a:r>
            <a:r>
              <a:rPr lang="ko-KR" altLang="ko-KR" sz="1200" dirty="0">
                <a:solidFill>
                  <a:srgbClr val="FF0000"/>
                </a:solidFill>
              </a:rPr>
              <a:t> 루트의 </a:t>
            </a:r>
            <a:r>
              <a:rPr lang="ko-KR" altLang="ko-KR" sz="1200" dirty="0" err="1">
                <a:solidFill>
                  <a:srgbClr val="FF0000"/>
                </a:solidFill>
              </a:rPr>
              <a:t>교역액</a:t>
            </a:r>
            <a:r>
              <a:rPr lang="ko-KR" altLang="ko-KR" sz="1200" dirty="0">
                <a:solidFill>
                  <a:srgbClr val="FF0000"/>
                </a:solidFill>
              </a:rPr>
              <a:t> 약 2,415만 달러(1.33%), 27위 </a:t>
            </a:r>
            <a:r>
              <a:rPr lang="ko-KR" altLang="ko-KR" sz="1200" dirty="0" err="1">
                <a:solidFill>
                  <a:srgbClr val="FF0000"/>
                </a:solidFill>
              </a:rPr>
              <a:t>대한민국→일본</a:t>
            </a:r>
            <a:r>
              <a:rPr lang="ko-KR" altLang="ko-KR" sz="1200" dirty="0">
                <a:solidFill>
                  <a:srgbClr val="FF0000"/>
                </a:solidFill>
              </a:rPr>
              <a:t> 루트의 </a:t>
            </a:r>
            <a:r>
              <a:rPr lang="ko-KR" altLang="ko-KR" sz="1200" dirty="0" err="1">
                <a:solidFill>
                  <a:srgbClr val="FF0000"/>
                </a:solidFill>
              </a:rPr>
              <a:t>교역액</a:t>
            </a:r>
            <a:r>
              <a:rPr lang="ko-KR" altLang="ko-KR" sz="1200" dirty="0">
                <a:solidFill>
                  <a:srgbClr val="FF0000"/>
                </a:solidFill>
              </a:rPr>
              <a:t> 약 1,217만 달러(0.67%)로 확인됩니다.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참고</a:t>
            </a:r>
            <a:r>
              <a:rPr lang="en-US" altLang="ko-KR" sz="1200" dirty="0">
                <a:solidFill>
                  <a:srgbClr val="FF0000"/>
                </a:solidFill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</a:rPr>
              <a:t>연도별 </a:t>
            </a:r>
            <a:r>
              <a:rPr lang="ko-KR" altLang="en-US" sz="1200" dirty="0" err="1">
                <a:solidFill>
                  <a:srgbClr val="FF0000"/>
                </a:solidFill>
              </a:rPr>
              <a:t>교역액</a:t>
            </a:r>
            <a:r>
              <a:rPr lang="ko-KR" altLang="en-US" sz="1200" dirty="0">
                <a:solidFill>
                  <a:srgbClr val="FF0000"/>
                </a:solidFill>
              </a:rPr>
              <a:t> 변화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KOMIS </a:t>
            </a:r>
            <a:r>
              <a:rPr lang="ko-KR" altLang="en-US" sz="1200" dirty="0">
                <a:solidFill>
                  <a:srgbClr val="FF0000"/>
                </a:solidFill>
              </a:rPr>
              <a:t>차트 기준 호주의 교역액은 </a:t>
            </a:r>
            <a:r>
              <a:rPr lang="en-US" altLang="ko-KR" sz="1200" dirty="0">
                <a:solidFill>
                  <a:srgbClr val="FF0000"/>
                </a:solidFill>
              </a:rPr>
              <a:t>2024</a:t>
            </a:r>
            <a:r>
              <a:rPr lang="ko-KR" altLang="en-US" sz="1200" dirty="0">
                <a:solidFill>
                  <a:srgbClr val="FF0000"/>
                </a:solidFill>
              </a:rPr>
              <a:t>년 약 </a:t>
            </a:r>
            <a:r>
              <a:rPr lang="en-US" altLang="ko-KR" sz="1200" dirty="0">
                <a:solidFill>
                  <a:srgbClr val="FF0000"/>
                </a:solidFill>
              </a:rPr>
              <a:t>68</a:t>
            </a:r>
            <a:r>
              <a:rPr lang="ko-KR" altLang="en-US" sz="1200" dirty="0">
                <a:solidFill>
                  <a:srgbClr val="FF0000"/>
                </a:solidFill>
              </a:rPr>
              <a:t>억 달러에서 </a:t>
            </a:r>
            <a:r>
              <a:rPr lang="en-US" altLang="ko-KR" sz="1200" dirty="0">
                <a:solidFill>
                  <a:srgbClr val="FF0000"/>
                </a:solidFill>
              </a:rPr>
              <a:t>2025</a:t>
            </a:r>
            <a:r>
              <a:rPr lang="ko-KR" altLang="en-US" sz="1200" dirty="0">
                <a:solidFill>
                  <a:srgbClr val="FF0000"/>
                </a:solidFill>
              </a:rPr>
              <a:t>년 약 </a:t>
            </a:r>
            <a:r>
              <a:rPr lang="en-US" altLang="ko-KR" sz="1200" dirty="0">
                <a:solidFill>
                  <a:srgbClr val="FF0000"/>
                </a:solidFill>
              </a:rPr>
              <a:t>24</a:t>
            </a:r>
            <a:r>
              <a:rPr lang="ko-KR" altLang="en-US" sz="1200" dirty="0">
                <a:solidFill>
                  <a:srgbClr val="FF0000"/>
                </a:solidFill>
              </a:rPr>
              <a:t>억 달러로 </a:t>
            </a:r>
            <a:r>
              <a:rPr lang="en-US" altLang="ko-KR" sz="1200" dirty="0">
                <a:solidFill>
                  <a:srgbClr val="FF0000"/>
                </a:solidFill>
              </a:rPr>
              <a:t>-64.61% </a:t>
            </a:r>
            <a:r>
              <a:rPr lang="ko-KR" altLang="en-US" sz="1200" dirty="0">
                <a:solidFill>
                  <a:srgbClr val="FF0000"/>
                </a:solidFill>
              </a:rPr>
              <a:t>변동했습니다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10155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26.32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-64.61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6245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리튬</a:t>
            </a:r>
            <a:r>
              <a:rPr lang="en-US" altLang="ko-KR" dirty="0"/>
              <a:t>, </a:t>
            </a:r>
            <a:r>
              <a:rPr lang="ko-KR" altLang="en-US" dirty="0"/>
              <a:t>수입</a:t>
            </a:r>
            <a:r>
              <a:rPr lang="en-US" altLang="ko-KR" dirty="0"/>
              <a:t>, 2025~2026, </a:t>
            </a:r>
            <a:r>
              <a:rPr lang="ko-KR" altLang="en-US" dirty="0"/>
              <a:t>수출입국가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광물지도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세계 매장량 현황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2025년 세계 동 매장량은 약 7,702억톤입니다. 2024년보다 약 273억톤 줄어 1년간 3.42% 감소했습니다.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국가별 순위 및 변화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2025년 기준 칠레는 약 1,800억톤으로 세계 전체의 23.37%를 차지해 1위입니다. 호주는 약 1,000억톤, 12.98%로 2위이며 두 국가의 비중 차이는 10.39%포인트입니다. 페루는 약 850억톤, 11.04%로 3위입니다. 매장량 2위인 호주는 생산량 기준 8위(약 73만톤, 3.65%)에 그치고 있어, 매장량 대비 생산량 비율이 낮은 국가로 분류됩니다.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주요 변화</a:t>
            </a:r>
          </a:p>
          <a:p>
            <a:r>
              <a:rPr lang="ko-KR" altLang="ko-KR" sz="1200" dirty="0"/>
              <a:t>조회기간 중 매장량이 가장 크게 감소한 국가는 페루입니다.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7,702억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천톤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페루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  <a:r>
              <a:rPr lang="en-US" altLang="ko-KR" dirty="0"/>
              <a:t>, </a:t>
            </a:r>
            <a:r>
              <a:rPr lang="ko-KR" altLang="en-US" dirty="0"/>
              <a:t>매장량</a:t>
            </a:r>
            <a:r>
              <a:rPr lang="en-US" altLang="ko-KR" dirty="0"/>
              <a:t>, 2024~2025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2234</Words>
  <Application>Microsoft Macintosh PowerPoint</Application>
  <PresentationFormat>와이드스크린</PresentationFormat>
  <Paragraphs>454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12</cp:revision>
  <dcterms:created xsi:type="dcterms:W3CDTF">2026-09-03T04:50:09Z</dcterms:created>
  <dcterms:modified xsi:type="dcterms:W3CDTF">2026-09-10T17:19:56Z</dcterms:modified>
</cp:coreProperties>
</file>