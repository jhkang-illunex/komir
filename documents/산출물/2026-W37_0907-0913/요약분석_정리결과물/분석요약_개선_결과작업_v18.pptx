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니켈 대비 동의 가격비율은 현재 86.53%로, 조회기간 평균(64.38%)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몰리브덴 대비 코발트의 가격비율은 현재 85.1%로, 조회기간 평균(221.53%)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유연탄 대비 우라늄의 가격비율은 현재 70.04%로, 조회기간 평균(73.84%)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000000"/>
                </a:solidFill>
              </a:rPr>
              <a:t>금 대비 흑연의 가격비율은 현재 8.93%로, 조회기간 평균(14.39%)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8월 24일 광물종합지수는 3,539.45포인트입니다. 최근 한 달에는 상승했지만 1년 전보다 34.56% 높은 수준입니다. 전주 3,469.62포인트 대비 2.01% 상승, 전월 3,438.69포인트 대비 2.93% 상승, 전년 동기 2,630.33포인트 대비 34.56%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3,539.45포인트로, 전주 대비 2.01% 상승, 전월 대비 2.93% 상승, 전년 대비 34.56% 상승했습니다. 최근 조회기간 동안 상승 흐름을 이어가고 있습니다. 구성 광종(가중치)은 유연탄(25.6%)·동(16.6%)·알루미늄(15.7%) 등입니다. 메이저금속지수는 2,968.06포인트로, 전주 대비 0.46% 하락, 전월 대비 0.67% 상승, 전년 대비 22.86% 상승했습니다. 뚜렷한 방향성 없이 등락을 반복하고 있습니다. 구성 광종(가중치)은 동(28.2%)·알루미늄(26.6%) 등입니다. 희소금속지수는 2,911.8포인트로, 전주 대비 0.19% 상승, 전월 대비 1.09% 하락, 전년 대비 85.09% 상승했습니다. 뚜렷한 방향성 없이 등락을 반복하고 있습니다. 구성 광종(가중치)은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3,682.58포인트보다 3.89% 낮으며, 최저치인 2,461.6포인트보다 43.79% 높습니다. 최근 한 달과 1년 비교가 모두 상승 방향이며, 현재 지수는 1년 전보다 34.56% 높습니다. 두 하위지수의 1년 변화 폭에도 차이가 있었습니다.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34.56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3,065.18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2025-07-01~2026-08-24(KOMIS 정적 덤프 전체기간을 기간 필터 — 전주·전월·전년 비교 시점 확보용)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동일 조회범위의 수입액은 2025년 약 142.07억 달러에서 2026년 약 109.42억 달러로 전년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3개국의 수입 집중도(CR3)는 44.32%이며, 상위 5개국까지 합산하면(CR5)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동일 조회범위의 수입액은 2025년 약 26.43억 달러에서 2026년 약 25.46억 달러로 전년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32.80억 달러입니다. 1위 수입국은 칠레 약 12.69억 달러(38.69%), 2위 수입국은 콩고민주공화국 약 9.83억 달러(29.97%), 3위 수입국은 멕시코 약 1.96억 달러(5.97%)입니다. 동일 조회범위의 수입액은 2025년 약 34.01억 달러에서 2026년 약 32.80억 달러로 전년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이 범위 내 상위 3개국의 수입 집중도(CR3)는 74.62%이며, 상위 5개국까지 합산하면(CR5)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동일 조회범위의 세계 교역 총액은 2025년 약 16.39억 달러에서 2026년 약 1.73억 달러로 전년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/>
              <a:t>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6035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9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r>
              <a:rPr sz="900" b="0">
                <a:solidFill>
                  <a:srgbClr val="FF0000"/>
                </a:solidFill>
              </a:rPr>
              <a:t> 연도별 세계 매장량 합계는 2021년 약 8.80억톤 → 2022년 약 8.90억톤 → 2023년 약 10억톤 → 2024년 약 9.80억톤 → 2025년 약 9.80억톤입니다.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9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  <a:r>
              <a:rPr sz="900" b="0">
                <a:solidFill>
                  <a:srgbClr val="FF0000"/>
                </a:solidFill>
              </a:rPr>
              <a:t> 조회기간(2021~2025년) 상위 3개국의 매장량 변화는 칠레 약 2억톤→약 1.80억톤(10% 감소), 호주 약 9,300만톤→약 1억톤(7.53% 증가), 페루 약 7,700만톤→약 8,500만톤(10.39% 증가)입니다. 상위 3개국의 매장량 집중도(CR3)는 37.24%이며, 상위 5개국까지 합산하면(CR5) 전체의 53.57%를 차지합니다.</a:t>
            </a:r>
          </a:p>
          <a:p>
            <a:r>
              <a:rPr sz="9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</a:t>
            </a:r>
            <a:r>
              <a:rPr sz="900" b="0">
                <a:solidFill>
                  <a:srgbClr val="FF0000"/>
                </a:solidFill>
              </a:rPr>
              <a:t>특히 2022년 약 3,100만톤에서 2023~2025년 약 8,000만톤(세계 비중 8.16%)으로 급격히 상향돼 변화가 집중됐습니다. 다음으로 러시아는 2021년 약 6,200만톤에서 2025년 약 8,000만톤으로 약 1,800만톤 (29.03%) 증가했습니다. 특히 2021~2022년 약 6,200만톤에서 2023~2025년 약 8,000만톤(세계 비중 8.16%)으로 급격히 상향돼 변화가 집중됐습니다. </a:t>
            </a:r>
            <a:r>
              <a:rPr sz="900" b="0"/>
              <a:t>가장 크게 감소한 국가는 칠레로, 2021년 약 2억톤에서 2025년 약 1.80억톤으로 약 2,000만톤 (10%) 감소했습니다.</a:t>
            </a:r>
            <a:r>
              <a:rPr sz="900" b="0">
                <a:solidFill>
                  <a:srgbClr val="FF0000"/>
                </a:solidFill>
              </a:rPr>
              <a:t> 연도별로는 2022~2024년 약 1.90억톤에서 2025년 약 1.80억톤(세계 비중 18.37%)으로 줄어든 구간의 변화 폭이 가장 컸습니다. 다음으로 인도네시아는 2021년 약 2,400만톤에서 2025년 약 2,100만톤으로 약 300만톤 (12.5%) 감소했습니다. 연도별로는 2021~2023년 약 2,400만톤에서 2024~2025년 약 2,100만톤(세계 비중 2.14%)으로 줄어든 구간의 변화 폭이 가장 컸습니다. 기타 국가 합산은 2025년 약 2.10억톤(21.43%)으로, 단일 국가 기준 1위인 칠레(약 1.80억톤, 18.37%)를 상회하고 있어 복수의 중소 매장국에도 상당한 매장량이 분포돼 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00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6035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9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9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r>
              <a:rPr sz="900" b="0">
                <a:solidFill>
                  <a:srgbClr val="FF0000"/>
                </a:solidFill>
              </a:rPr>
              <a:t> 연도별 세계 생산량 합계는 2021년 약 2,120만톤 → 2022년 약 2,190만톤 → 2023년 약 2,260만톤 → 2024년 약 2,300만톤 → 2025년 약 2,300만톤입니다.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9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  <a:r>
              <a:rPr sz="900" b="0">
                <a:solidFill>
                  <a:srgbClr val="FF0000"/>
                </a:solidFill>
              </a:rPr>
              <a:t> 조회기간(2021~2025년) 상위 3개국의 생산량 변화는 칠레 약 562만톤→약 530만톤(5.69% 감소), 콩고민주공화국 약 174만톤→약 320만톤(83.91% 증가), 페루 약 230만톤→약 270만톤(17.39% 증가)입니다. 상위 3개국의 생산량 집중도(CR3)는 48.7%이며, 상위 5개국까지 합산하면(CR5) 전체의 62.17%를 차지합니다.</a:t>
            </a:r>
          </a:p>
          <a:p>
            <a:r>
              <a:rPr sz="9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9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</a:t>
            </a:r>
            <a:r>
              <a:rPr sz="900" b="0">
                <a:solidFill>
                  <a:srgbClr val="FF0000"/>
                </a:solidFill>
              </a:rPr>
              <a:t>연도별로는 2021년 약 174만톤에서 2022년 약 235만톤(세계 비중 10.73%)으로 늘어난 구간의 변화 폭이 가장 컸습니다. 다음으로 페루는 2021년 약 230만톤에서 2025년 약 270만톤으로 약 40만톤 (17.39%) 증가했습니다. 연도별로는 2022년 약 245만톤에서 2023년 약 276만톤(세계 비중 12.21%)으로 늘어난 구간의 변화 폭이 가장 컸습니다. </a:t>
            </a:r>
            <a:r>
              <a:rPr sz="900" b="0"/>
              <a:t>가장 크게 감소한 국가는 칠레로, 2021년 약 562만톤에서 2025년 약 530만톤으로 약 32만톤 (5.69%) 감소했습니다.</a:t>
            </a:r>
            <a:r>
              <a:rPr sz="900" b="0">
                <a:solidFill>
                  <a:srgbClr val="FF0000"/>
                </a:solidFill>
              </a:rPr>
              <a:t> 연도별로는 2021년 약 562만톤에서 2022년 약 533만톤(세계 비중 24.34%)으로 줄어든 구간의 변화 폭이 가장 컸습니다. 다음으로 미국은 2021년 약 123만톤에서 2025년 약 100만톤으로 약 23만톤 (18.7%) 감소했습니다. 연도별로는 2021~2022년 약 123만톤에서 2023년 약 113만톤(세계 비중 5%)으로 줄어든 구간의 변화 폭이 가장 컸습니다. 기타 국가 합산은 2025년 약 300만톤(13.04%)으로, 단일 국가 기준 1위인 칠레(약 530만톤, 23.04%)에 미치지 못해 1위 국가 한 곳의 생산량이 나머지 국가 합산을 웃도는 구조입니다.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